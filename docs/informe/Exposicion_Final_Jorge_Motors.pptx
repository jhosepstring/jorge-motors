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9"/>
  </p:notesMasterIdLst>
  <p:sldIdLst>
    <p:sldId id="256" r:id="rId6"/>
    <p:sldId id="257" r:id="rId7"/>
    <p:sldId id="309" r:id="rId122"/>
    <p:sldId id="310" r:id="rId123"/>
    <p:sldId id="311" r:id="rId124"/>
    <p:sldId id="312" r:id="rId125"/>
    <p:sldId id="313" r:id="rId126"/>
    <p:sldId id="314" r:id="rId127"/>
    <p:sldId id="315" r:id="rId128"/>
    <p:sldId id="316" r:id="rId129"/>
    <p:sldId id="317" r:id="rId130"/>
    <p:sldId id="318" r:id="rId131"/>
    <p:sldId id="319" r:id="rId132"/>
    <p:sldId id="320" r:id="rId133"/>
    <p:sldId id="321" r:id="rId134"/>
    <p:sldId id="322" r:id="rId135"/>
    <p:sldId id="323" r:id="rId136"/>
    <p:sldId id="324" r:id="rId137"/>
    <p:sldId id="325" r:id="rId138"/>
    <p:sldId id="326" r:id="rId139"/>
    <p:sldId id="327" r:id="rId140"/>
    <p:sldId id="328" r:id="rId141"/>
    <p:sldId id="329" r:id="rId142"/>
    <p:sldId id="330" r:id="rId143"/>
    <p:sldId id="331" r:id="rId144"/>
    <p:sldId id="332" r:id="rId145"/>
    <p:sldId id="333" r:id="rId146"/>
    <p:sldId id="334" r:id="rId147"/>
    <p:sldId id="335" r:id="rId148"/>
    <p:sldId id="336" r:id="rId149"/>
    <p:sldId id="337" r:id="rId150"/>
    <p:sldId id="338" r:id="rId151"/>
    <p:sldId id="339" r:id="rId152"/>
    <p:sldId id="340" r:id="rId153"/>
    <p:sldId id="341" r:id="rId154"/>
    <p:sldId id="342" r:id="rId155"/>
    <p:sldId id="343" r:id="rId156"/>
    <p:sldId id="344" r:id="rId157"/>
    <p:sldId id="345" r:id="rId158"/>
    <p:sldId id="346" r:id="rId159"/>
    <p:sldId id="347" r:id="rId160"/>
  </p:sldIdLst>
  <p:sldSz cx="18288000" cy="10287000"/>
  <p:notesSz cx="6858000" cy="9144000"/>
  <p:embeddedFontLst>
    <p:embeddedFont>
      <p:font typeface="Trebuchet MS Bold" charset="1" panose="020B0703020202020204"/>
      <p:regular r:id="rId62"/>
    </p:embeddedFont>
    <p:embeddedFont>
      <p:font typeface="Trebuchet MS" charset="1" panose="020B0603020202020204"/>
      <p:regular r:id="rId63"/>
    </p:embeddedFont>
    <p:embeddedFont>
      <p:font typeface="Open Sans" charset="1" panose="00000000000000000000"/>
      <p:regular r:id="rId64"/>
    </p:embeddedFont>
    <p:embeddedFont>
      <p:font typeface="Times New Roman Bold" charset="1" panose="02020803070505020304"/>
      <p:regular r:id="rId65"/>
    </p:embeddedFont>
    <p:embeddedFont>
      <p:font typeface="Times New Roman Italics" charset="1" panose="02020503050405090304"/>
      <p:regular r:id="rId66"/>
    </p:embeddedFont>
    <p:embeddedFont>
      <p:font typeface="Times New Roman" charset="1" panose="02020603050405020304"/>
      <p:regular r:id="rId67"/>
    </p:embeddedFont>
    <p:embeddedFont>
      <p:font typeface="Courier New" charset="1" panose="02070309020205020404"/>
      <p:regular r:id="rId79"/>
    </p:embeddedFont>
    <p:embeddedFont>
      <p:font typeface="Courier New Bold" charset="1" panose="02070609020205020404"/>
      <p:regular r:id="rId8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59" Type="http://schemas.openxmlformats.org/officeDocument/2006/relationships/notesMaster" Target="notesMasters/notesMaster1.xml"/><Relationship Id="rId60" Type="http://schemas.openxmlformats.org/officeDocument/2006/relationships/theme" Target="theme/theme2.xml"/><Relationship Id="rId61" Type="http://schemas.openxmlformats.org/officeDocument/2006/relationships/notesSlide" Target="notesSlides/notesSlide1.xml"/><Relationship Id="rId62" Type="http://schemas.openxmlformats.org/officeDocument/2006/relationships/font" Target="fonts/font62.fntdata"/><Relationship Id="rId63" Type="http://schemas.openxmlformats.org/officeDocument/2006/relationships/font" Target="fonts/font63.fntdata"/><Relationship Id="rId64" Type="http://schemas.openxmlformats.org/officeDocument/2006/relationships/font" Target="fonts/font64.fntdata"/><Relationship Id="rId65" Type="http://schemas.openxmlformats.org/officeDocument/2006/relationships/font" Target="fonts/font65.fntdata"/><Relationship Id="rId66" Type="http://schemas.openxmlformats.org/officeDocument/2006/relationships/font" Target="fonts/font66.fntdata"/><Relationship Id="rId67" Type="http://schemas.openxmlformats.org/officeDocument/2006/relationships/font" Target="fonts/font67.fntdata"/><Relationship Id="rId68" Type="http://schemas.openxmlformats.org/officeDocument/2006/relationships/notesSlide" Target="notesSlides/notesSlide2.xml"/><Relationship Id="rId69" Type="http://schemas.openxmlformats.org/officeDocument/2006/relationships/notesSlide" Target="notesSlides/notesSlide3.xml"/><Relationship Id="rId70" Type="http://schemas.openxmlformats.org/officeDocument/2006/relationships/notesSlide" Target="notesSlides/notesSlide4.xml"/><Relationship Id="rId71" Type="http://schemas.openxmlformats.org/officeDocument/2006/relationships/notesSlide" Target="notesSlides/notesSlide5.xml"/><Relationship Id="rId72" Type="http://schemas.openxmlformats.org/officeDocument/2006/relationships/notesSlide" Target="notesSlides/notesSlide6.xml"/><Relationship Id="rId73" Type="http://schemas.openxmlformats.org/officeDocument/2006/relationships/notesSlide" Target="notesSlides/notesSlide7.xml"/><Relationship Id="rId74" Type="http://schemas.openxmlformats.org/officeDocument/2006/relationships/notesSlide" Target="notesSlides/notesSlide8.xml"/><Relationship Id="rId75" Type="http://schemas.openxmlformats.org/officeDocument/2006/relationships/notesSlide" Target="notesSlides/notesSlide9.xml"/><Relationship Id="rId76" Type="http://schemas.openxmlformats.org/officeDocument/2006/relationships/notesSlide" Target="notesSlides/notesSlide10.xml"/><Relationship Id="rId77" Type="http://schemas.openxmlformats.org/officeDocument/2006/relationships/notesSlide" Target="notesSlides/notesSlide11.xml"/><Relationship Id="rId78" Type="http://schemas.openxmlformats.org/officeDocument/2006/relationships/notesSlide" Target="notesSlides/notesSlide12.xml"/><Relationship Id="rId79" Type="http://schemas.openxmlformats.org/officeDocument/2006/relationships/font" Target="fonts/font79.fntdata"/><Relationship Id="rId80" Type="http://schemas.openxmlformats.org/officeDocument/2006/relationships/notesSlide" Target="notesSlides/notesSlide13.xml"/><Relationship Id="rId81" Type="http://schemas.openxmlformats.org/officeDocument/2006/relationships/notesSlide" Target="notesSlides/notesSlide14.xml"/><Relationship Id="rId82" Type="http://schemas.openxmlformats.org/officeDocument/2006/relationships/notesSlide" Target="notesSlides/notesSlide15.xml"/><Relationship Id="rId83" Type="http://schemas.openxmlformats.org/officeDocument/2006/relationships/font" Target="fonts/font83.fntdata"/><Relationship Id="rId84" Type="http://schemas.openxmlformats.org/officeDocument/2006/relationships/notesSlide" Target="notesSlides/notesSlide16.xml"/><Relationship Id="rId85" Type="http://schemas.openxmlformats.org/officeDocument/2006/relationships/notesSlide" Target="notesSlides/notesSlide17.xml"/><Relationship Id="rId86" Type="http://schemas.openxmlformats.org/officeDocument/2006/relationships/notesSlide" Target="notesSlides/notesSlide18.xml"/><Relationship Id="rId87" Type="http://schemas.openxmlformats.org/officeDocument/2006/relationships/notesSlide" Target="notesSlides/notesSlide19.xml"/><Relationship Id="rId88" Type="http://schemas.openxmlformats.org/officeDocument/2006/relationships/notesSlide" Target="notesSlides/notesSlide20.xml"/><Relationship Id="rId89" Type="http://schemas.openxmlformats.org/officeDocument/2006/relationships/notesSlide" Target="notesSlides/notesSlide21.xml"/><Relationship Id="rId90" Type="http://schemas.openxmlformats.org/officeDocument/2006/relationships/notesSlide" Target="notesSlides/notesSlide22.xml"/><Relationship Id="rId91" Type="http://schemas.openxmlformats.org/officeDocument/2006/relationships/notesSlide" Target="notesSlides/notesSlide23.xml"/><Relationship Id="rId92" Type="http://schemas.openxmlformats.org/officeDocument/2006/relationships/notesSlide" Target="notesSlides/notesSlide24.xml"/><Relationship Id="rId93" Type="http://schemas.openxmlformats.org/officeDocument/2006/relationships/notesSlide" Target="notesSlides/notesSlide25.xml"/><Relationship Id="rId94" Type="http://schemas.openxmlformats.org/officeDocument/2006/relationships/notesSlide" Target="notesSlides/notesSlide26.xml"/><Relationship Id="rId95" Type="http://schemas.openxmlformats.org/officeDocument/2006/relationships/notesSlide" Target="notesSlides/notesSlide27.xml"/><Relationship Id="rId96" Type="http://schemas.openxmlformats.org/officeDocument/2006/relationships/notesSlide" Target="notesSlides/notesSlide28.xml"/><Relationship Id="rId97" Type="http://schemas.openxmlformats.org/officeDocument/2006/relationships/notesSlide" Target="notesSlides/notesSlide29.xml"/><Relationship Id="rId98" Type="http://schemas.openxmlformats.org/officeDocument/2006/relationships/notesSlide" Target="notesSlides/notesSlide30.xml"/><Relationship Id="rId99" Type="http://schemas.openxmlformats.org/officeDocument/2006/relationships/notesSlide" Target="notesSlides/notesSlide31.xml"/><Relationship Id="rId100" Type="http://schemas.openxmlformats.org/officeDocument/2006/relationships/notesSlide" Target="notesSlides/notesSlide32.xml"/><Relationship Id="rId101" Type="http://schemas.openxmlformats.org/officeDocument/2006/relationships/notesSlide" Target="notesSlides/notesSlide33.xml"/><Relationship Id="rId102" Type="http://schemas.openxmlformats.org/officeDocument/2006/relationships/notesSlide" Target="notesSlides/notesSlide34.xml"/><Relationship Id="rId103" Type="http://schemas.openxmlformats.org/officeDocument/2006/relationships/notesSlide" Target="notesSlides/notesSlide35.xml"/><Relationship Id="rId104" Type="http://schemas.openxmlformats.org/officeDocument/2006/relationships/notesSlide" Target="notesSlides/notesSlide36.xml"/><Relationship Id="rId105" Type="http://schemas.openxmlformats.org/officeDocument/2006/relationships/notesSlide" Target="notesSlides/notesSlide37.xml"/><Relationship Id="rId106" Type="http://schemas.openxmlformats.org/officeDocument/2006/relationships/notesSlide" Target="notesSlides/notesSlide38.xml"/><Relationship Id="rId107" Type="http://schemas.openxmlformats.org/officeDocument/2006/relationships/notesSlide" Target="notesSlides/notesSlide39.xml"/><Relationship Id="rId108" Type="http://schemas.openxmlformats.org/officeDocument/2006/relationships/notesSlide" Target="notesSlides/notesSlide40.xml"/><Relationship Id="rId109" Type="http://schemas.openxmlformats.org/officeDocument/2006/relationships/notesSlide" Target="notesSlides/notesSlide41.xml"/><Relationship Id="rId110" Type="http://schemas.openxmlformats.org/officeDocument/2006/relationships/notesSlide" Target="notesSlides/notesSlide42.xml"/><Relationship Id="rId111" Type="http://schemas.openxmlformats.org/officeDocument/2006/relationships/notesSlide" Target="notesSlides/notesSlide43.xml"/><Relationship Id="rId112" Type="http://schemas.openxmlformats.org/officeDocument/2006/relationships/notesSlide" Target="notesSlides/notesSlide44.xml"/><Relationship Id="rId113" Type="http://schemas.openxmlformats.org/officeDocument/2006/relationships/notesSlide" Target="notesSlides/notesSlide45.xml"/><Relationship Id="rId114" Type="http://schemas.openxmlformats.org/officeDocument/2006/relationships/notesSlide" Target="notesSlides/notesSlide46.xml"/><Relationship Id="rId115" Type="http://schemas.openxmlformats.org/officeDocument/2006/relationships/notesSlide" Target="notesSlides/notesSlide47.xml"/><Relationship Id="rId116" Type="http://schemas.openxmlformats.org/officeDocument/2006/relationships/notesSlide" Target="notesSlides/notesSlide48.xml"/><Relationship Id="rId117" Type="http://schemas.openxmlformats.org/officeDocument/2006/relationships/notesSlide" Target="notesSlides/notesSlide49.xml"/><Relationship Id="rId118" Type="http://schemas.openxmlformats.org/officeDocument/2006/relationships/notesSlide" Target="notesSlides/notesSlide50.xml"/><Relationship Id="rId119" Type="http://schemas.openxmlformats.org/officeDocument/2006/relationships/notesSlide" Target="notesSlides/notesSlide51.xml"/><Relationship Id="rId120" Type="http://schemas.openxmlformats.org/officeDocument/2006/relationships/notesSlide" Target="notesSlides/notesSlide52.xml"/><Relationship Id="rId121" Type="http://schemas.openxmlformats.org/officeDocument/2006/relationships/notesSlide" Target="notesSlides/notesSlide53.xml"/><Relationship Id="rId122" Type="http://schemas.openxmlformats.org/officeDocument/2006/relationships/slide" Target="slides/slide3.xml"/><Relationship Id="rId123" Type="http://schemas.openxmlformats.org/officeDocument/2006/relationships/slide" Target="slides/slide4.xml"/><Relationship Id="rId124" Type="http://schemas.openxmlformats.org/officeDocument/2006/relationships/slide" Target="slides/slide5.xml"/><Relationship Id="rId125" Type="http://schemas.openxmlformats.org/officeDocument/2006/relationships/slide" Target="slides/slide6.xml"/><Relationship Id="rId126" Type="http://schemas.openxmlformats.org/officeDocument/2006/relationships/slide" Target="slides/slide7.xml"/><Relationship Id="rId127" Type="http://schemas.openxmlformats.org/officeDocument/2006/relationships/slide" Target="slides/slide8.xml"/><Relationship Id="rId128" Type="http://schemas.openxmlformats.org/officeDocument/2006/relationships/slide" Target="slides/slide9.xml"/><Relationship Id="rId129" Type="http://schemas.openxmlformats.org/officeDocument/2006/relationships/slide" Target="slides/slide10.xml"/><Relationship Id="rId130" Type="http://schemas.openxmlformats.org/officeDocument/2006/relationships/slide" Target="slides/slide11.xml"/><Relationship Id="rId131" Type="http://schemas.openxmlformats.org/officeDocument/2006/relationships/slide" Target="slides/slide12.xml"/><Relationship Id="rId132" Type="http://schemas.openxmlformats.org/officeDocument/2006/relationships/slide" Target="slides/slide13.xml"/><Relationship Id="rId133" Type="http://schemas.openxmlformats.org/officeDocument/2006/relationships/slide" Target="slides/slide14.xml"/><Relationship Id="rId134" Type="http://schemas.openxmlformats.org/officeDocument/2006/relationships/slide" Target="slides/slide15.xml"/><Relationship Id="rId135" Type="http://schemas.openxmlformats.org/officeDocument/2006/relationships/slide" Target="slides/slide16.xml"/><Relationship Id="rId136" Type="http://schemas.openxmlformats.org/officeDocument/2006/relationships/slide" Target="slides/slide17.xml"/><Relationship Id="rId137" Type="http://schemas.openxmlformats.org/officeDocument/2006/relationships/slide" Target="slides/slide18.xml"/><Relationship Id="rId138" Type="http://schemas.openxmlformats.org/officeDocument/2006/relationships/slide" Target="slides/slide19.xml"/><Relationship Id="rId139" Type="http://schemas.openxmlformats.org/officeDocument/2006/relationships/slide" Target="slides/slide20.xml"/><Relationship Id="rId140" Type="http://schemas.openxmlformats.org/officeDocument/2006/relationships/slide" Target="slides/slide21.xml"/><Relationship Id="rId141" Type="http://schemas.openxmlformats.org/officeDocument/2006/relationships/slide" Target="slides/slide22.xml"/><Relationship Id="rId142" Type="http://schemas.openxmlformats.org/officeDocument/2006/relationships/slide" Target="slides/slide23.xml"/><Relationship Id="rId143" Type="http://schemas.openxmlformats.org/officeDocument/2006/relationships/slide" Target="slides/slide24.xml"/><Relationship Id="rId144" Type="http://schemas.openxmlformats.org/officeDocument/2006/relationships/slide" Target="slides/slide25.xml"/><Relationship Id="rId145" Type="http://schemas.openxmlformats.org/officeDocument/2006/relationships/slide" Target="slides/slide26.xml"/><Relationship Id="rId146" Type="http://schemas.openxmlformats.org/officeDocument/2006/relationships/slide" Target="slides/slide27.xml"/><Relationship Id="rId147" Type="http://schemas.openxmlformats.org/officeDocument/2006/relationships/slide" Target="slides/slide28.xml"/><Relationship Id="rId148" Type="http://schemas.openxmlformats.org/officeDocument/2006/relationships/slide" Target="slides/slide29.xml"/><Relationship Id="rId149" Type="http://schemas.openxmlformats.org/officeDocument/2006/relationships/slide" Target="slides/slide30.xml"/><Relationship Id="rId150" Type="http://schemas.openxmlformats.org/officeDocument/2006/relationships/slide" Target="slides/slide31.xml"/><Relationship Id="rId151" Type="http://schemas.openxmlformats.org/officeDocument/2006/relationships/slide" Target="slides/slide32.xml"/><Relationship Id="rId152" Type="http://schemas.openxmlformats.org/officeDocument/2006/relationships/slide" Target="slides/slide33.xml"/><Relationship Id="rId153" Type="http://schemas.openxmlformats.org/officeDocument/2006/relationships/slide" Target="slides/slide34.xml"/><Relationship Id="rId154" Type="http://schemas.openxmlformats.org/officeDocument/2006/relationships/slide" Target="slides/slide35.xml"/><Relationship Id="rId155" Type="http://schemas.openxmlformats.org/officeDocument/2006/relationships/slide" Target="slides/slide36.xml"/><Relationship Id="rId156" Type="http://schemas.openxmlformats.org/officeDocument/2006/relationships/slide" Target="slides/slide37.xml"/><Relationship Id="rId157" Type="http://schemas.openxmlformats.org/officeDocument/2006/relationships/slide" Target="slides/slide38.xml"/><Relationship Id="rId158" Type="http://schemas.openxmlformats.org/officeDocument/2006/relationships/slide" Target="slides/slide39.xml"/><Relationship Id="rId159" Type="http://schemas.openxmlformats.org/officeDocument/2006/relationships/slide" Target="slides/slide40.xml"/><Relationship Id="rId160"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Buenos días, somos el grupo integrado por Korayma Castillo, José Hernández, José Neyra y Sebastián Rojas. Presentamos el Sistema de Gestión de Inventario Jorge Motors ya implementado: una aplicación web con arquitectura en capas, seis patrones GoF en el código y el modelo C4, verificada con 232 pruebas automatizadas.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Este es el recorrido: el problema y los objetivos, lo que hace el sistema, la arquitectura y los seis patrones GoF con su código, el modelo C4 y el despliegue, la base de datos, la demostración de las pantallas, los resultados de las pruebas y las conclusiones.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Nuestro objetivo general es diseñar y modelar la arquitectura de una plataforma web segura para el inventario de Jorge Motors. Para lograrlo nos planteamos cinco objetivos específicos, desde el análisis de requerimientos hasta el diseño de datos y prototipos.</a:t>
            </a:r>
          </a:p>
          <a:p>
            <a:r>
              <a:rPr lang="en-US"/>
              <a:t/>
            </a:r>
          </a:p>
          <a:p>
            <a:r>
              <a:rPr lang="en-US"/>
              <a:t>POSIBLES PREGUNTAS DEL JURADO:</a:t>
            </a:r>
          </a:p>
          <a:p>
            <a:r>
              <a:rPr lang="en-US"/>
              <a:t>• ¿Por qué el objetivo dice "diseñar y modelar" y no "implementar"? — Porque esta entrega es el Avance 2: arquitectura, base de datos y prototipos. El backend y el frontend se desarrollan en la Fase 3 (15/10 – 11/11).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sistema centraliza el control del inventario del taller. Lo usan el administrador y el mecánico; el proveedor no entra al sistema, pero recibe automáticamente los avisos de bajo stock. Los clientes del taller se benefician indirectamente porque hay repuestos disponibles.</a:t>
            </a:r>
          </a:p>
          <a:p>
            <a:r>
              <a:rPr lang="en-US"/>
              <a:t/>
            </a:r>
          </a:p>
          <a:p>
            <a:r>
              <a:rPr lang="en-US"/>
              <a:t>POSIBLES PREGUNTAS DEL JURADO:</a:t>
            </a:r>
          </a:p>
          <a:p>
            <a:r>
              <a:rPr lang="en-US"/>
              <a:t>• ¿El proveedor usa el sistema? — No. Es un actor externo: solo recibe los avisos por correo, SMS o WhatsApp.</a:t>
            </a:r>
          </a:p>
          <a:p>
            <a:r>
              <a:rPr lang="en-US"/>
              <a:t>• ¿Por qué solo dos roles? — Son los perfiles reales del taller: quien administra y quien saca repuestos. Más roles agregarían complejidad sin necesidad.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Estos son los módulos principales. Cada uno responde a requerimientos funcionales concretos, del RF-01 al RF-12. También delimitamos el alcance: el sistema no cubre contabilidad, facturación ni órdenes de trabajo.</a:t>
            </a:r>
          </a:p>
          <a:p>
            <a:r>
              <a:rPr lang="en-US"/>
              <a:t/>
            </a:r>
          </a:p>
          <a:p>
            <a:r>
              <a:rPr lang="en-US"/>
              <a:t>POSIBLES PREGUNTAS DEL JURADO:</a:t>
            </a:r>
          </a:p>
          <a:p>
            <a:r>
              <a:rPr lang="en-US"/>
              <a:t>• ¿Por qué no incluye facturación ni órdenes de trabajo? — Están fuera del alcance para enfocar el sistema en el problema del inventario; la arquitectura modular permitiría agregarlos después.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Del contexto del taller derivamos 12 requerimientos funcionales, agrupados por módulo: autenticación y autorización, productos, proveedores, inventario, movimientos, reportes y notificaciones.</a:t>
            </a:r>
          </a:p>
          <a:p>
            <a:r>
              <a:rPr lang="en-US"/>
              <a:t/>
            </a:r>
          </a:p>
          <a:p>
            <a:r>
              <a:rPr lang="en-US"/>
              <a:t>POSIBLES PREGUNTAS DEL JURADO:</a:t>
            </a:r>
          </a:p>
          <a:p>
            <a:r>
              <a:rPr lang="en-US"/>
              <a:t>• ¿De dónde salen los requerimientos? — Del problema del taller: cada uno ataca un fallo del Excel (errores de registro, stock no actualizado, falta de alertas) o una necesidad de control (roles, trazabilidad, reportes).</a:t>
            </a:r>
          </a:p>
          <a:p>
            <a:r>
              <a:rPr lang="en-US"/>
              <a:t>• ¿Por qué JWT? — Es un token firmado que el frontend envía en cada petición; la API verifica la sesión sin guardar estado en el servidor.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Los 14 requerimientos no funcionales fijan las condiciones de calidad: seguridad, integridad, auditoría, mantenibilidad, rendimiento, disponibilidad, fiabilidad, escalabilidad y usabilidad. Cada uno está conectado con una decisión de arquitectura o de base de datos.</a:t>
            </a:r>
          </a:p>
          <a:p>
            <a:r>
              <a:rPr lang="en-US"/>
              <a:t/>
            </a:r>
          </a:p>
          <a:p>
            <a:r>
              <a:rPr lang="en-US"/>
              <a:t>POSIBLES PREGUNTAS DEL JURADO:</a:t>
            </a:r>
          </a:p>
          <a:p>
            <a:r>
              <a:rPr lang="en-US"/>
              <a:t>• ¿Cómo se cumple el RNF-04? — Con una transacción que actualiza stock y movimiento juntos, un descuento condicional y el CHECK cantidad_actual ≥ 0 en la base.</a:t>
            </a:r>
          </a:p>
          <a:p>
            <a:r>
              <a:rPr lang="en-US"/>
              <a:t>• ¿Cómo medirán los 2 s del RNF-09? — Con la búsqueda por SKU o nombre, apoyada en el sku único y en los índices; se verificará en las pruebas funcionales (12/11 – 25/11).</a:t>
            </a:r>
          </a:p>
          <a:p>
            <a:r>
              <a:rPr lang="en-US"/>
              <a:t>• ¿Qué es Zod? — Una librería de validación de esquemas en TypeScript: rechaza datos incompletos o mal formados antes de llegar a la lógica de negocio.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Los 14 requerimientos no funcionales fijan las condiciones de calidad: seguridad, integridad, auditoría, mantenibilidad, rendimiento, disponibilidad, fiabilidad, escalabilidad y usabilidad. Cada uno está conectado con una decisión de arquitectura o de base de datos.</a:t>
            </a:r>
          </a:p>
          <a:p>
            <a:r>
              <a:rPr lang="en-US"/>
              <a:t/>
            </a:r>
          </a:p>
          <a:p>
            <a:r>
              <a:rPr lang="en-US"/>
              <a:t>POSIBLES PREGUNTAS DEL JURADO:</a:t>
            </a:r>
          </a:p>
          <a:p>
            <a:r>
              <a:rPr lang="en-US"/>
              <a:t>• ¿Cómo se cumple el RNF-04? — Con una transacción que actualiza stock y movimiento juntos, un descuento condicional y el CHECK cantidad_actual ≥ 0 en la base.</a:t>
            </a:r>
          </a:p>
          <a:p>
            <a:r>
              <a:rPr lang="en-US"/>
              <a:t>• ¿Cómo medirán los 2 s del RNF-09? — Con la búsqueda por SKU o nombre, apoyada en el sku único y en los índices; se verificará en las pruebas funcionales (12/11 – 25/11).</a:t>
            </a:r>
          </a:p>
          <a:p>
            <a:r>
              <a:rPr lang="en-US"/>
              <a:t>• ¿Qué es Zod? — Una librería de validación de esquemas en TypeScript: rechaza datos incompletos o mal formados antes de llegar a la lógica de negocio.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Aplicamos una arquitectura en capas, organizada como un monolito modular y con comunicación cliente-servidor mediante API REST. La presentación no contiene reglas de negocio ni accede a datos; la API es la única que toca la base. Las capas de presentación y datos ya están construidas y la de negocio se programa en la Fase 3.</a:t>
            </a:r>
          </a:p>
          <a:p>
            <a:r>
              <a:rPr lang="en-US"/>
              <a:t/>
            </a:r>
          </a:p>
          <a:p>
            <a:r>
              <a:rPr lang="en-US"/>
              <a:t>POSIBLES PREGUNTAS DEL JURADO:</a:t>
            </a:r>
          </a:p>
          <a:p>
            <a:r>
              <a:rPr lang="en-US"/>
              <a:t>• ¿Por qué monolito modular y no microservicios? — Para un taller pequeño los microservicios agregan despliegue y comunicación de red sin necesidad. El monolito modular mantiene un solo despliegue, pero con módulos por dominio; Notificaciones ya está desacoplado por eventos y puede separarse si hace falta.</a:t>
            </a:r>
          </a:p>
          <a:p>
            <a:r>
              <a:rPr lang="en-US"/>
              <a:t>• ¿Por qué en capas? — Separación de responsabilidades: un cambio de interfaz no toca la base y viceversa.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Cada capa se despliega como un contenedor. El usuario usa la SPA desde el navegador, la SPA llama a la API con JSON sobre HTTPS y token JWT, y solo la API accede a la base mediante Prisma. Así la validación, la seguridad y la concurrencia del stock se centralizan en un solo lugar.</a:t>
            </a:r>
          </a:p>
          <a:p>
            <a:r>
              <a:rPr lang="en-US"/>
              <a:t/>
            </a:r>
          </a:p>
          <a:p>
            <a:r>
              <a:rPr lang="en-US"/>
              <a:t>POSIBLES PREGUNTAS DEL JURADO:</a:t>
            </a:r>
          </a:p>
          <a:p>
            <a:r>
              <a:rPr lang="en-US"/>
              <a:t>• ¿Por qué SQLite en desarrollo y PostgreSQL en producción? — SQLite no requiere servidor y facilita el desarrollo; PostgreSQL soporta mejor la concurrencia en producción. Con Prisma basta cambiar el proveedor del esquema.</a:t>
            </a:r>
          </a:p>
          <a:p>
            <a:r>
              <a:rPr lang="en-US"/>
              <a:t>• ¿Por qué el navegador no accede a la base? — Para centralizar validación, seguridad y control de concurrencia en la API.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Además de las capas, aplicamos patrones arquitectónicos complementarios: cliente-servidor con API REST, Repository con Prisma, una arquitectura orientada a eventos para las alertas y una cadena de filtros para cada petición.</a:t>
            </a:r>
          </a:p>
          <a:p>
            <a:r>
              <a:rPr lang="en-US"/>
              <a:t/>
            </a:r>
          </a:p>
          <a:p>
            <a:r>
              <a:rPr lang="en-US"/>
              <a:t>POSIBLES PREGUNTAS DEL JURADO:</a:t>
            </a:r>
          </a:p>
          <a:p>
            <a:r>
              <a:rPr lang="en-US"/>
              <a:t>• ¿Diferencia entre Pipe and Filter y Chain of Responsibility aquí? — Pipe and Filter es la idea arquitectónica (la petición pasa por filtros en orden); Chain of Responsibility es el patrón GoF con que se implementa (cada middleware decide si continúa o corta).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Los patrones arquitectónicos definen la forma general del sistema. Hoy se ven en cómo se construyeron por separado la interfaz y los datos; en la Fase 3 cada uno tiene un lugar concreto en el código.</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Aplicamos seis patrones GoF, cada uno para una necesidad concreta: una sola conexión a la base, una salida de stock en una sola transacción, alertas desacopladas con canal intercambiable, un ciclo de vida controlado para la alerta y filtros de seguridad en cadena.</a:t>
            </a:r>
          </a:p>
          <a:p>
            <a:r>
              <a:rPr lang="en-US"/>
              <a:t/>
            </a:r>
          </a:p>
          <a:p>
            <a:r>
              <a:rPr lang="en-US"/>
              <a:t>POSIBLES PREGUNTAS DEL JURADO:</a:t>
            </a:r>
          </a:p>
          <a:p>
            <a:r>
              <a:rPr lang="en-US"/>
              <a:t>• ¿Por qué Singleton para Prisma? — Cada instancia de PrismaClient abre su propio pool de conexiones; una sola instancia evita agotar conexiones.</a:t>
            </a:r>
          </a:p>
          <a:p>
            <a:r>
              <a:rPr lang="en-US"/>
              <a:t>• ¿Observer no acopla igual a los módulos? — No: Inventario solo emite STOCK_ACTUALIZADO y no sabe quién escucha. Se pueden agregar o cambiar suscriptores sin tocar Inventario.</a:t>
            </a:r>
          </a:p>
          <a:p>
            <a:r>
              <a:rPr lang="en-US"/>
              <a:t>• ¿Por qué State y no un simple campo estado? — El campo existe, pero cada clase de estado define qué acciones permite; así no se puede "atender" una alerta que no se envió.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Aplicamos seis patrones GoF, cada uno para una necesidad concreta: una sola conexión a la base, una salida de stock en una sola transacción, alertas desacopladas con canal intercambiable, un ciclo de vida controlado para la alerta y filtros de seguridad en cadena.</a:t>
            </a:r>
          </a:p>
          <a:p>
            <a:r>
              <a:rPr lang="en-US"/>
              <a:t/>
            </a:r>
          </a:p>
          <a:p>
            <a:r>
              <a:rPr lang="en-US"/>
              <a:t>POSIBLES PREGUNTAS DEL JURADO:</a:t>
            </a:r>
          </a:p>
          <a:p>
            <a:r>
              <a:rPr lang="en-US"/>
              <a:t>• ¿Por qué Singleton para Prisma? — Cada instancia de PrismaClient abre su propio pool de conexiones; una sola instancia evita agotar conexiones.</a:t>
            </a:r>
          </a:p>
          <a:p>
            <a:r>
              <a:rPr lang="en-US"/>
              <a:t>• ¿Observer no acopla igual a los módulos? — No: Inventario solo emite STOCK_ACTUALIZADO y no sabe quién escucha. Se pueden agregar o cambiar suscriptores sin tocar Inventario.</a:t>
            </a:r>
          </a:p>
          <a:p>
            <a:r>
              <a:rPr lang="en-US"/>
              <a:t>• ¿Por qué State y no un simple campo estado? — El campo existe, pero cada clase de estado define qué acciones permite; así no se puede "atender" una alerta que no se envió.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Facade ofrece una sola puerta de entrada para una operación compleja. El controlador solo llama a registrarSalida; por dentro se hace todo en una transacción.</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Observer desacopla a quien produce el cambio de quien reacciona. Inventario no conoce a Notificaciones; solo publica un evento. Esto permite separar Notificaciones como servicio en el futuro (RNF-12).</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Strategy encapsula cada forma de enviar el aviso en su propia clase. El notificador no sabe cómo se envía un correo o un WhatsApp; solo llama a enviar().</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State hace que el comportamiento de la alerta dependa de su estado. El código lo controla con clases; la base lo vuelve a controlar con un trigger, así que hay doble protección.</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Chain of Responsibility encadena filtros independientes. Si un eslabón detecta un problema, corta la cadena y el manejador de errores responde con un formato uniforme.</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Este es el diseño de referencia de la Fase 3: la fachada registra la salida en una transacción con descuento condicional, y solo publica un evento; el notificador lo escucha, crea la alerta y la envía por el canal del proveedor. A la derecha, el avance actual de cada patrón.</a:t>
            </a:r>
          </a:p>
          <a:p>
            <a:r>
              <a:rPr lang="en-US"/>
              <a:t/>
            </a:r>
          </a:p>
          <a:p>
            <a:r>
              <a:rPr lang="en-US"/>
              <a:t>POSIBLES PREGUNTAS DEL JURADO:</a:t>
            </a:r>
          </a:p>
          <a:p>
            <a:r>
              <a:rPr lang="en-US"/>
              <a:t>• ¿Por qué updateMany y no update? — Porque permite poner la condición cantidadActual ≥ cantidad en el WHERE: el descuento solo ocurre si hay stock, y count indica si se aplicó.</a:t>
            </a:r>
          </a:p>
          <a:p>
            <a:r>
              <a:rPr lang="en-US"/>
              <a:t>• ¿Por qué se emite el evento fuera de la transacción? — Para avisar solo cuando la salida ya se confirmó; si la transacción falla, no se genera alerta.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matriz de trazabilidad conecta cada patrón con el requerimiento que atiende y con su evidencia concreta en la base de datos y en los prototipos. Así se ve que ningún patrón está puesto por adorno.</a:t>
            </a:r>
          </a:p>
          <a:p>
            <a:r>
              <a:rPr lang="en-US"/>
              <a:t/>
            </a:r>
          </a:p>
          <a:p>
            <a:r>
              <a:rPr lang="en-US"/>
              <a:t>POSIBLES PREGUNTAS DEL JURADO:</a:t>
            </a:r>
          </a:p>
          <a:p>
            <a:r>
              <a:rPr lang="en-US"/>
              <a:t>• ¿Qué significa "Diseñado"? — Que el patrón tiene su diseño de referencia pero su código se escribe en la Fase 3; "Datos e interfaz listos" significa que ya tiene soporte probado en la base y se ve en los prototipos.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Elegimos C4 sobre UML o ArchiMate porque sus cuatro niveles nos permiten explicar el sistema tanto al dueño del taller como al equipo de desarrollo. El nivel 1 muestra el sistema como una sola caja con sus actores: el administrador, el mecánico y el proveedor que recibe los avisos.</a:t>
            </a:r>
          </a:p>
          <a:p>
            <a:r>
              <a:rPr lang="en-US"/>
              <a:t/>
            </a:r>
          </a:p>
          <a:p>
            <a:r>
              <a:rPr lang="en-US"/>
              <a:t>POSIBLES PREGUNTAS DEL JURADO:</a:t>
            </a:r>
          </a:p>
          <a:p>
            <a:r>
              <a:rPr lang="en-US"/>
              <a:t>• ¿Por qué C4 y no UML? — C4 tiene notación simple y niveles de zoom; sirve para explicar al dueño del taller y al equipo con los mismos diagramas. UML se usa solo en el nivel 4 (clases).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Elegimos C4 sobre UML o ArchiMate porque sus cuatro niveles nos permiten explicar el sistema tanto al dueño del taller como al equipo de desarrollo. El nivel 1 muestra el sistema como una sola caja con sus actores: el administrador, el mecánico y el proveedor que recibe los avisos.</a:t>
            </a:r>
          </a:p>
          <a:p>
            <a:r>
              <a:rPr lang="en-US"/>
              <a:t/>
            </a:r>
          </a:p>
          <a:p>
            <a:r>
              <a:rPr lang="en-US"/>
              <a:t>POSIBLES PREGUNTAS DEL JURADO:</a:t>
            </a:r>
          </a:p>
          <a:p>
            <a:r>
              <a:rPr lang="en-US"/>
              <a:t>• ¿Por qué C4 y no UML? — C4 tiene notación simple y niveles de zoom; sirve para explicar al dueño del taller y al equipo con los mismos diagramas. UML se usa solo en el nivel 4 (clases).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nivel 2 abre la caja del sistema y muestra las tres piezas que se despliegan por separado. Cada contenedor corresponde a una capa. La decisión principal es que el navegador nunca accede directamente a la base de datos.</a:t>
            </a:r>
          </a:p>
          <a:p>
            <a:r>
              <a:rPr lang="en-US"/>
              <a:t/>
            </a:r>
          </a:p>
          <a:p>
            <a:r>
              <a:rPr lang="en-US"/>
              <a:t>POSIBLES PREGUNTAS DEL JURADO:</a:t>
            </a:r>
          </a:p>
          <a:p>
            <a:r>
              <a:rPr lang="en-US"/>
              <a:t>• ¿Qué es un contenedor en C4? — Una pieza que se despliega por separado (aplicación, API, base de datos), no un contenedor Docker.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nivel 2 abre la caja del sistema y muestra las tres piezas que se despliegan por separado. Cada contenedor corresponde a una capa. La decisión principal es que el navegador nunca accede directamente a la base de datos.</a:t>
            </a:r>
          </a:p>
          <a:p>
            <a:r>
              <a:rPr lang="en-US"/>
              <a:t/>
            </a:r>
          </a:p>
          <a:p>
            <a:r>
              <a:rPr lang="en-US"/>
              <a:t>POSIBLES PREGUNTAS DEL JURADO:</a:t>
            </a:r>
          </a:p>
          <a:p>
            <a:r>
              <a:rPr lang="en-US"/>
              <a:t>• ¿Qué es un contenedor en C4? — Una pieza que se despliega por separado (aplicación, API, base de datos), no un contenedor Docker.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nivel 3 abre la API: toda petición recorre una cadena de filtros y luego llega a uno de los siete módulos de negocio. Inventario no llama a Notificaciones; solo publica un evento, y eso permite extraer Notificaciones como servicio en el futuro.</a:t>
            </a:r>
          </a:p>
          <a:p>
            <a:r>
              <a:rPr lang="en-US"/>
              <a:t/>
            </a:r>
          </a:p>
          <a:p>
            <a:r>
              <a:rPr lang="en-US"/>
              <a:t>POSIBLES PREGUNTAS DEL JURADO:</a:t>
            </a:r>
          </a:p>
          <a:p>
            <a:r>
              <a:rPr lang="en-US"/>
              <a:t>• ¿Qué pasa si la cadena de middlewares corta una petición? — Se detiene ahí y responde con un error (por ejemplo, 401 si no hay sesión, 403 si el rol no tiene permiso, 400 si los datos no pasan Zod); el manejador de errores da el formato uniforme.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nivel 3 abre la API: toda petición recorre una cadena de filtros y luego llega a uno de los siete módulos de negocio. Inventario no llama a Notificaciones; solo publica un evento, y eso permite extraer Notificaciones como servicio en el futuro.</a:t>
            </a:r>
          </a:p>
          <a:p>
            <a:r>
              <a:rPr lang="en-US"/>
              <a:t/>
            </a:r>
          </a:p>
          <a:p>
            <a:r>
              <a:rPr lang="en-US"/>
              <a:t>POSIBLES PREGUNTAS DEL JURADO:</a:t>
            </a:r>
          </a:p>
          <a:p>
            <a:r>
              <a:rPr lang="en-US"/>
              <a:t>• ¿Qué pasa si la cadena de middlewares corta una petición? — Se detiene ahí y responde con un error (por ejemplo, 401 si no hay sesión, 403 si el rol no tiene permiso, 400 si los datos no pasan Zod); el manejador de errores da el formato uniforme.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nivel 4 muestra las clases del dominio. Es el puente directo con la base de datos: cada clase tiene su tabla, con los mismos atributos. Los enumerados corresponden a los valores que permiten las restricciones CHECK.</a:t>
            </a:r>
          </a:p>
          <a:p>
            <a:r>
              <a:rPr lang="en-US"/>
              <a:t/>
            </a:r>
          </a:p>
          <a:p>
            <a:r>
              <a:rPr lang="en-US"/>
              <a:t>POSIBLES PREGUNTAS DEL JURADO:</a:t>
            </a:r>
          </a:p>
          <a:p>
            <a:r>
              <a:rPr lang="en-US"/>
              <a:t>• ¿Por qué las clases coinciden con las tablas? — Para que Prisma mapee cada modelo directamente; solo cambia el estilo de nombres (camelCase en código, snake_case en la base).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nivel 4 muestra las clases del dominio. Es el puente directo con la base de datos: cada clase tiene su tabla, con los mismos atributos. Los enumerados corresponden a los valores que permiten las restricciones CHECK.</a:t>
            </a:r>
          </a:p>
          <a:p>
            <a:r>
              <a:rPr lang="en-US"/>
              <a:t/>
            </a:r>
          </a:p>
          <a:p>
            <a:r>
              <a:rPr lang="en-US"/>
              <a:t>POSIBLES PREGUNTAS DEL JURADO:</a:t>
            </a:r>
          </a:p>
          <a:p>
            <a:r>
              <a:rPr lang="en-US"/>
              <a:t>• ¿Por qué las clases coinciden con las tablas? — Para que Prisma mapee cada modelo directamente; solo cambia el estilo de nombres (camelCase en código, snake_case en la base).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base de datos se diseñó en tres niveles: conceptual, lógico y físico en SQLite 3. Las reglas del negocio viven también en la base: el stock no puede quedar negativo, los movimientos no se editan y una alerta no puede saltarse estados. Lo verificamos con ocho pruebas de integridad.</a:t>
            </a:r>
          </a:p>
          <a:p>
            <a:r>
              <a:rPr lang="en-US"/>
              <a:t/>
            </a:r>
          </a:p>
          <a:p>
            <a:r>
              <a:rPr lang="en-US"/>
              <a:t>POSIBLES PREGUNTAS DEL JURADO:</a:t>
            </a:r>
          </a:p>
          <a:p>
            <a:r>
              <a:rPr lang="en-US"/>
              <a:t>• ¿Por qué stock es una tabla aparte y no una columna de producto? — Porque cambia en cada movimiento y tiene su propia ubicación; separarla aísla la escritura frecuente y permite aplicarle su CHECK.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el modelo físico las reglas del negocio no dependen solo del código: también viven en la base de datos. Cada decisión tiene un motivo y respalda un requerimiento o un patrón.</a:t>
            </a:r>
          </a:p>
          <a:p>
            <a:r>
              <a:rPr lang="en-US"/>
              <a:t/>
            </a:r>
          </a:p>
          <a:p>
            <a:r>
              <a:rPr lang="en-US"/>
              <a:t>POSIBLES PREGUNTAS DEL JURADO:</a:t>
            </a:r>
          </a:p>
          <a:p>
            <a:r>
              <a:rPr lang="en-US"/>
              <a:t>• ¿Por qué poner reglas en la base si ya están en el código? — Defensa en profundidad: si el backend tiene un error o alguien escribe directo en la base, las restricciones siguen protegiendo los datos.</a:t>
            </a:r>
          </a:p>
          <a:p>
            <a:r>
              <a:rPr lang="en-US"/>
              <a:t>• ¿Qué es un índice único parcial? — Un índice UNIQUE que solo aplica a las filas que cumplen una condición; aquí, a las alertas abiertas de un producto.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Ejecutamos ocho pruebas directamente sobre la base. La primera es una operación válida y debe ejecutarse; las otras siete intentan romper una regla y deben ser rechazadas por la propia base. Las ocho dieron el resultado esperado. Lo importante: el rechazo no depende del código del backend, que todavía no existe; es la base la que se defiende sola.</a:t>
            </a:r>
          </a:p>
          <a:p>
            <a:r>
              <a:rPr lang="en-US"/>
              <a:t/>
            </a:r>
          </a:p>
          <a:p>
            <a:r>
              <a:rPr lang="en-US"/>
              <a:t>POSIBLES PREGUNTAS DEL JURADO:</a:t>
            </a:r>
          </a:p>
          <a:p>
            <a:r>
              <a:rPr lang="en-US"/>
              <a:t>• ¿Cómo se ejecutaron? — Con sentencias SQL directas sobre jorge_motors.db (SQLite 3), sin pasar por el backend.</a:t>
            </a:r>
          </a:p>
          <a:p>
            <a:r>
              <a:rPr lang="en-US"/>
              <a:t>• ¿Por qué la P1 debe ejecutarse? — Es el caso válido de control: demuestra que las reglas no bloquean una operación correcta.</a:t>
            </a:r>
          </a:p>
          <a:p>
            <a:r>
              <a:rPr lang="en-US"/>
              <a:t>• ¿Por qué la P8 depende de PRAGMA foreign_keys? — SQLite trae las claves foráneas desactivadas por defecto; sin activarlas, la P8 pasaría.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Una pregunta típica es qué pasa si dos mecánicos sacan el mismo repuesto al mismo tiempo. La salida se registra dentro de una transacción con un descuento condicional: solo se descuenta si hay stock suficiente en ese momento. Si no lo hay, no se descuenta nada, se lanza StockInsuficienteError y la transacción se revierte.</a:t>
            </a:r>
          </a:p>
          <a:p>
            <a:r>
              <a:rPr lang="en-US"/>
              <a:t/>
            </a:r>
          </a:p>
          <a:p>
            <a:r>
              <a:rPr lang="en-US"/>
              <a:t>POSIBLES PREGUNTAS DEL JURADO:</a:t>
            </a:r>
          </a:p>
          <a:p>
            <a:r>
              <a:rPr lang="en-US"/>
              <a:t>• ¿No bastaría con leer el stock y luego restarlo? — No: dos usuarios podrían leer 3 a la vez y ambos restar 2. El descuento condicional hace la verificación y la resta en una sola operación.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Este es el resumen del diccionario de datos: las siete tablas con sus columnas principales y restricciones. Las bajas son lógicas con el campo activo, y las fechas permiten la auditoría.</a:t>
            </a:r>
          </a:p>
          <a:p>
            <a:r>
              <a:rPr lang="en-US"/>
              <a:t/>
            </a:r>
          </a:p>
          <a:p>
            <a:r>
              <a:rPr lang="en-US"/>
              <a:t>POSIBLES PREGUNTAS DEL JURADO:</a:t>
            </a:r>
          </a:p>
          <a:p>
            <a:r>
              <a:rPr lang="en-US"/>
              <a:t>• ¿Por qué baja lógica (activo) y no borrar? — Porque los movimientos referencian usuarios y productos; borrarlos rompería el historial.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Cada clave foránea tiene una regla al borrar el registro padre, elegida según el negocio. El historial nunca se pierde: por eso usuarios y productos se dan de baja con el campo activo en lugar de borrarse.</a:t>
            </a:r>
          </a:p>
          <a:p>
            <a:r>
              <a:rPr lang="en-US"/>
              <a:t/>
            </a:r>
          </a:p>
          <a:p>
            <a:r>
              <a:rPr lang="en-US"/>
              <a:t>POSIBLES PREGUNTAS DEL JURADO:</a:t>
            </a:r>
          </a:p>
          <a:p>
            <a:r>
              <a:rPr lang="en-US"/>
              <a:t>• ¿Las redundancias no violan la 3FN? — Son intencionales: guardan el valor del momento para que el kardex siga siendo auditable aunque el producto cambie después.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Antes de recorrer las pantallas, esta tabla resume dónde se ve cada requerimiento funcional en los prototipos. Las nueve pantallas cubren los doce RF; en las siguientes diapositivas explicamos cómo se cumple cada uno.</a:t>
            </a:r>
          </a:p>
          <a:p>
            <a:r>
              <a:rPr lang="en-US"/>
              <a:t/>
            </a:r>
          </a:p>
          <a:p>
            <a:r>
              <a:rPr lang="en-US"/>
              <a:t>POSIBLES PREGUNTAS DEL JURADO:</a:t>
            </a:r>
          </a:p>
          <a:p>
            <a:r>
              <a:rPr lang="en-US"/>
              <a:t>• ¿Los prototipos funcionan? — Son navegables y de alta fidelidad, con datos de prueba coherentes con la base. Todavía no están conectados a la API: eso es la Fase 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Este mapa resume cómo se recorren las nueve pantallas. La diferencia entre roles no es solo visual: la interfaz muestra a cada rol solo lo suyo, y la API vuelve a verificar el permiso en cada petición.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Este mapa resume cómo se recorren las nueve pantallas. La diferencia entre roles no es solo visual: la interfaz muestra a cada rol solo lo suyo, y la API vuelve a verificar el permiso en cada petición.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inicio de sesión es el primer eslabón de la cadena de seguridad: sin credenciales válidas no se accede a nada.</a:t>
            </a:r>
          </a:p>
          <a:p>
            <a:r>
              <a:rPr lang="en-US"/>
              <a:t/>
            </a:r>
          </a:p>
          <a:p>
            <a:r>
              <a:rPr lang="en-US"/>
              <a:t>POSIBLES PREGUNTAS DEL JURADO:</a:t>
            </a:r>
          </a:p>
          <a:p>
            <a:r>
              <a:rPr lang="en-US"/>
              <a:t>• ¿Qué pasa si el usuario está inactivo? — No puede ingresar: la baja es lógica, con el campo activo.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panel es lo primero que ve el administrador: resume el estado del taller y le muestra lo urgente, que son las alertas abiertas.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Aquí se administra el catálogo. El estado del stock se indica con texto y no solo con color, y la opción “Solo bajo el mínimo” filtra lo que hay que reponer.</a:t>
            </a:r>
          </a:p>
          <a:p>
            <a:r>
              <a:rPr lang="en-US"/>
              <a:t/>
            </a:r>
          </a:p>
          <a:p>
            <a:r>
              <a:rPr lang="en-US"/>
              <a:t>POSIBLES PREGUNTAS DEL JURADO:</a:t>
            </a:r>
          </a:p>
          <a:p>
            <a:r>
              <a:rPr lang="en-US"/>
              <a:t>• ¿Se puede borrar un producto con movimientos? — No: la clave foránea de movimiento es RESTRICT. El producto se da de baja con el campo activo.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usuario ve una sola acción, “Confirmar”, aunque el sistema ejecute varias operaciones dentro de una transacción: eso es el patrón Facade visto desde la interfaz.</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Esta pantalla concentra tres patrones sobre el mismo requerimiento RF-12: la alerta nace sola, se envía por el canal correcto y sigue un ciclo de vida controlado.</a:t>
            </a:r>
          </a:p>
          <a:p>
            <a:r>
              <a:rPr lang="en-US"/>
              <a:t/>
            </a:r>
          </a:p>
          <a:p>
            <a:r>
              <a:rPr lang="en-US"/>
              <a:t>POSIBLES PREGUNTAS DEL JURADO:</a:t>
            </a:r>
          </a:p>
          <a:p>
            <a:r>
              <a:rPr lang="en-US"/>
              <a:t>• ¿Por qué no se duplica la alerta? — Por el índice único parcial: un producto solo puede tener una alerta abierta.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Los reportes salen de las vistas v_inventario y v_kardex de la base, así que no duplican datos y siempre están al día.</a:t>
            </a:r>
          </a:p>
          <a:p>
            <a:r>
              <a:rPr lang="en-US"/>
              <a:t/>
            </a:r>
          </a:p>
          <a:p>
            <a:r>
              <a:rPr lang="en-US"/>
              <a:t>POSIBLES PREGUNTAS DEL JURADO:</a:t>
            </a:r>
          </a:p>
          <a:p>
            <a:r>
              <a:rPr lang="en-US"/>
              <a:t>• ¿De dónde sale el kardex? — De la vista v_kardex, que se arma desde la tabla movimiento.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proveedor no usa el sistema, pero aquí se registra cómo quiere recibir los avisos. Esa elección es la estrategia que usará el notificador.</a:t>
            </a:r>
          </a:p>
          <a:p>
            <a:r>
              <a:rPr lang="en-US"/>
              <a:t/>
            </a:r>
          </a:p>
          <a:p>
            <a:r>
              <a:rPr lang="en-US"/>
              <a:t>POSIBLES PREGUNTAS DEL JURADO:</a:t>
            </a:r>
          </a:p>
          <a:p>
            <a:r>
              <a:rPr lang="en-US"/>
              <a:t>• ¿Y si se elige WhatsApp sin teléfono? — El formulario lo marca obligatorio y, además, el CHECK de la base lo rechaza.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matriz de permisos no es solo informativa: es la regla que aplicará el eslabón de roles de la cadena de middlewares.</a:t>
            </a:r>
          </a:p>
          <a:p>
            <a:r>
              <a:rPr lang="en-US"/>
              <a:t/>
            </a:r>
          </a:p>
          <a:p>
            <a:r>
              <a:rPr lang="en-US"/>
              <a:t>POSIBLES PREGUNTAS DEL JURADO:</a:t>
            </a:r>
          </a:p>
          <a:p>
            <a:r>
              <a:rPr lang="en-US"/>
              <a:t>• ¿Basta con ocultar opciones en pantalla? — No. Ocultar es comodidad; la seguridad real está en la API, que verifica el rol en cada petición (RF-03).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mecánico tiene una vista propia, pensada para el trabajo en el taller. Registrar una salida toma tres acciones, y no necesita recordar el mínimo ni avisar al proveedor.</a:t>
            </a:r>
          </a:p>
          <a:p>
            <a:r>
              <a:rPr lang="en-US"/>
              <a:t/>
            </a:r>
          </a:p>
          <a:p>
            <a:r>
              <a:rPr lang="en-US"/>
              <a:t>POSIBLES PREGUNTAS DEL JURADO:</a:t>
            </a:r>
          </a:p>
          <a:p>
            <a:r>
              <a:rPr lang="en-US"/>
              <a:t>• ¿Y si el mecánico se equivoca en una salida? — No puede editarla (la base lo impide); la corrección se hace con el administrador, y queda registrada.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Desde la consulta de stock registrar una salida toma solo dos acciones, porque el repuesto ya viene elegido.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Los prototipos siguen cinco criterios de diseño. Todos responden a cómo se trabaja en el taller.</a:t>
            </a:r>
          </a:p>
          <a:p>
            <a:r>
              <a:rPr lang="en-US"/>
              <a:t/>
            </a:r>
          </a:p>
          <a:p>
            <a:r>
              <a:rPr lang="en-US"/>
              <a:t>POSIBLES PREGUNTAS DEL JURADO:</a:t>
            </a:r>
          </a:p>
          <a:p>
            <a:r>
              <a:rPr lang="en-US"/>
              <a:t>• ¿Por qué diseñado para PC? — El PC es el dispositivo de trabajo del taller.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Como resultados tenemos la arquitectura documentada en los cuatro niveles C4, la base de datos y los prototipos terminados, y la justificación de los patrones. En la Fase 3 implementaremos los componentes clave y mediremos las metas de calidad.</a:t>
            </a:r>
          </a:p>
          <a:p>
            <a:r>
              <a:rPr lang="en-US"/>
              <a:t/>
            </a:r>
          </a:p>
          <a:p>
            <a:r>
              <a:rPr lang="en-US"/>
              <a:t>POSIBLES PREGUNTAS DEL JURADO:</a:t>
            </a:r>
          </a:p>
          <a:p>
            <a:r>
              <a:rPr lang="en-US"/>
              <a:t>• ¿Cómo comprobarán la mejora frente al Excel? — Con métricas antes/después usadas en los antecedentes: tiempo de registro, tiempo de búsqueda y número de errores.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conclusión, la arquitectura en capas con monolito modular y el modelado C4 nos dieron una estructura clara y flexible, y cada patrón responde a una necesidad real del taller. Queda pendiente la implementación del backend y del frontend en la Fase 3.</a:t>
            </a:r>
          </a:p>
          <a:p>
            <a:r>
              <a:rPr lang="en-US"/>
              <a:t/>
            </a:r>
          </a:p>
          <a:p>
            <a:r>
              <a:rPr lang="en-US"/>
              <a:t>POSIBLES PREGUNTAS DEL JURADO:</a:t>
            </a:r>
          </a:p>
          <a:p>
            <a:r>
              <a:rPr lang="en-US"/>
              <a:t>• ¿Qué mejorarían? — Implementar y probar el backend y frontend (Fase 3) y, si el taller crece, separar Notificaciones como servicio y migrar a PostgreSQL.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Estas son las fuentes principales y las herramientas que usamos para el diseño y la futura implementación.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los anexos presentamos el cronograma del proyecto y la evidencia del trabajo colaborativo en el repositorio.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Jorge Motors controla su inventario en Excel, con errores, stock que no se actualiza solo y sin alertas. Construimos una plataforma web que centraliza ese control: cada entrada o salida actualiza el stock en la misma transacción que su historial, la identidad se gestiona con Microsoft Entra ID y el sistema está verificado con 232 pruebas.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objetivo general fue diseñar, implementar y verificar la plataforma. Los específicos van desde el análisis de requerimientos hasta las pruebas: arquitectura C4, patrones en el código, base de datos con migraciones, interfaz por rol y verificación de consistencia, seguridad y trazabilidad.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sistema tiene dos roles internos: el Administrador, que gestiona todo, y el Mecánico, que consulta stock y registra salidas. El proveedor es un contacto externo sin cuenta, y Microsoft Entra ID autentica a los empleados. La factura de compra es solo sustento de una recepción, no facturación tributaria.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son los módulos que quedaron implementados en el backend, cada uno con su fachada. Los números resumen el alcance: 16 requerimientos funcionales, 16 no funcionales, 12 tablas y 232 pruebas aprobadas.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16 requerimientos funcionales. Quince están implementados y verificados; la notificación al proveedor está parcial porque el envío real por correo todavía no se integró, aunque el aviso queda encolado de forma durable.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no funcionales cubren seguridad, integridad, auditoría, mantenibilidad, rendimiento y usabilidad. Agregamos dos nuevos respecto al Avance 2: idempotencia y control de versiones concurrentes.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Durante la implementación cambiaron varias decisiones del Avance 2. Prisma y SQLite se reemplazaron por node-mssql sobre SQL Server, porque el destino es Azure SQL y necesitábamos controlar bloqueos e identidad administrada. El login propio con JWT se reemplazó por Microsoft Entra ID. Strategy pasó a elegir el formato del reporte.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arquitectura tiene tres niveles: la SPA en React, la API en Express con su cadena de middlewares, las fachadas y los patrones, y la base de datos SQL Server. Las dependencias van en un solo sentido y el dominio no conoce Express ni SQL.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Además de las capas, usamos monolito modular, cliente-servidor con REST, Repository con Unit of Work y Transactional Outbox, que garantiza que la tarea de aviso se guarde junto con el movimiento.</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seis patrones GoF están en el código del backend. Cada uno resuelve un problema concreto del taller; en las siguientes diapositivas mostramos el código real de cada uno.</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SqlPoolSingleton tiene constructor privado y una instancia estática. La primera llamada a getConnection crea la promesa de conexión y las siguientes la reutilizan; si falla, se limpia para reintentar. Es una instancia por proceso, no una conexión única: el pool maneja varias conexiones.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InventarioFacade ofrece dos operaciones: registrarSalida y registrarEntrada. Detrás coordina validación, perfil activo, idempotencia, bloqueo del stock, saldo, historial, alertas y auditoría, todo en una transacción. El controlador solo llama a la fachada.</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TransactionalPublisher es el sujeto: mantiene a los observadores y les notifica StockCambiado. StockAlertObserver es el observador: crea la alerta al llegar al mínimo o la atiende al reponer. Es transaccional: se espera antes del commit, así que movimiento, alerta y tarea se confirman juntos.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alerta delega su comportamiento al objeto de estado. Pendiente puede pasar a Enviada o directamente a Atendida si se repone antes del envío; Enviada solo puede atenderse; Atendida rechaza cualquier cambio. La base de datos es una segunda barrera con restricciones CHECK.</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InventoryReportStrategy es el contrato común. PdfInventoryStrategy y ExcelInventoryStrategy solo cambian la forma de presentar los datos. ReportesFacade elige la estrategia según el formato pedido, y las estrategias se inyectan desde la composición, así la aplicación no depende de PDFKit ni de ExcelJS.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middleware procesa la petición y llama a next para pasarla al siguiente eslabón, o lanza un error que la detiene. La cadena es: contexto, helmet, CORS, JSON, authenticate, resolveUser, requireRole, validación y controlador. Una entrada enviada por un mecánico se rechaza con 403 antes de llegar a la fachada.</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patrón se conecta con el requerimiento que atiende, el archivo donde está implementado y la prueba que lo verifica. Todos están implementados; el Outbox tiene pendiente el correo real.</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contexto muestra el sistema como una sola caja. Administrador y Mecánico lo usan por navegador, Microsoft Entra ID autentica a los empleados y el servicio de correo, todavía pendiente, llevará los avisos al proveedor. El cliente del taller es un beneficiario indirecto.</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Dentro del sistema hay cinco contenedores: la aplicación web, la API REST, la base de datos, el almacén de adjuntos y el worker de notificaciones, que corre aparte para que una falla del correo no afecte los movimientos.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Dentro de la API, toda petición pasa por la cadena de middlewares y llega a uno de los diez módulos, cada uno con su fachada. Abajo están los repositorios SQL, la auditoría transversal y el pool Singleton. Inventario publica StockCambiado y Alertas reacciona sin acoplamiento.</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nivel de código muestra las clases reales agrupadas por patrón: la fachada con su unidad de trabajo y el Observer, el State de la alerta con el worker, el Strategy del reporte y el Singleton del pool. Los nombres son los mismos del repositorio.</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despliegue objetivo es en Azure for Students, región Central US. Solo el grupo de recursos está creado; la API, la SPA, Azure SQL, Blob y GitHub Actions están preparados en código y plantillas, y faltan el registro de imágenes, el Job del worker, el correo y la telemetría. El despliegue lo hará el equipo manualmente.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Registramos seis decisiones con su contexto y consecuencias. Las más importantes: node-mssql en lugar de Prisma, Entra ID en lugar de contraseñas y el Outbox para no perder avisos.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base está en SQL Server con T-SQL compatible con Azure SQL. Se crea con ocho migraciones versionadas: una migración aplicada no se edita, cada cambio es una nueva. El modelo conceptual tiene doce entidades; stock y línea de factura son entidades débiles.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lógico muestra las doce tablas con sus claves primarias, foráneas y únicas, en notación de pata de gallo. Está en tercera forma normal; las únicas redundancias son intencionales para conservar el historial, como los saldos del movimiento o los datos del proveedor copiados en la factura.</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físico añade los tipos de SQL Server, las restricciones CHECK, los índices únicos filtrados, las columnas ROWVERSION y los triggers que impiden editar el historial, la auditoría y los documentos finalizados.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Así funciona registrarSalida. Todo ocurre en una transacción: se verifica el perfil, se bloquea la clave de idempotencia, se lee el stock con bloqueo, se calcula el saldo, se guarda el movimiento y el observador crea la alerta. Si dos mecánicos piden las últimas unidades, solo se confirma la que alcanza.</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único inicio de sesión con Microsoft lleva a cada rol a su navegación. El Administrador tiene siete opciones; el Mecánico solo tres, sin precios, reportes, compras ni entradas. La interfaz solo oculta opciones: la API vuelve a comprobar el rol en cada operación.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acceso solo tiene el botón de Microsoft Entra ID: la aplicación no pide ni guarda contraseñas. El resumen del administrador muestra productos activos, agotados y bajo el mínimo, la actividad registrada y la prioridad de reposición. Capturas con datos de demostración (API simulada del entorno de pruebas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productos y existencias el administrador busca, filtra y edita productos con control de versión. Al registrar un movimiento, el panel derecho muestra el impacto en el stock antes de confirmar: una sola acción para el usuario, varias operaciones en una transacción. Capturas con datos de demostración (API simulada del entorno de pruebas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historial muestra cada movimiento con fecha, referencia, cantidad y saldo final; no se edita. En reportes se filtra el inventario y se descarga en PDF o Excel: cada botón usa una estrategia distinta del patrón Strategy. Capturas con datos de demostración (API simulada del entorno de pruebas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proveedores son contactos externos sin cuenta. En compras se registra la factura con sus líneas; al confirmar la recepción completa se generan las entradas de stock en una sola transacción, y se pueden adjuntar documentos privados. Capturas con datos de demostración (API simulada del entorno de pruebas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mecánico consulta el stock sin precios, registra una salida con su orden de trabajo y revisa solo sus propios movimientos: el filtro lo aplica el servidor según su identidad. Capturas con datos de demostración (API simulada del entorno de pruebas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sistema se verificó con cuatro tipos de pruebas, 232 en total. Las de integración usan SQL Server real con bases efímeras. Esta captura muestra la ejecución de las unitarias: 98 de 98 en el backend y 6 de 6 en el frontend.</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Además de las pruebas, ejecutamos operaciones con usuarios reales de Entra ID sobre la base local. Todas quedaron en la auditoría con su request ID: entradas y salidas autorizadas, el rechazo 403 al mecánico, la alerta creada y atendida, y el conflicto 412 por versión antigua.</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Cumplimos las metas de seguridad, integridad, auditoría, mantenibilidad y usabilidad. La fiabilidad está verificada en simulación porque falta el correo real, y quedan pendientes la medición formal de rendimiento y la prueba de restauración, que dependen del despliegue.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Somos transparentes con lo que falta. El correo real, el despliegue en Azure, el registro SPA en Entra ID y Blob Storage son los siguientes pasos; también quedan fuera de esta versión el kardex exportable, la valorización, el tablero de alertas y la gestión web de usuarios.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Traducimos el problema del Excel en 32 requerimientos y los implementamos casi todos. La arquitectura en capas permitió crecer con compras y reportes sin tocar los movimientos. Los seis patrones GoF están en el código con pruebas. Las transacciones con bloqueo garantizaron un stock consistente, y Entra ID con el Outbox resolvieron seguridad y fiabilidad. El siguiente paso es el despliegue en Azure.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son las referencias principales y las herramientas que usamos en el desarrollo, el modelado y las pruebas. Muchas gracias por su atención; quedamos atentos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6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6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6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notesSlide" Target="../notesSlides/notesSlide6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6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notesSlide" Target="../notesSlides/notesSlide6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3.png"/><Relationship Id="rId7" Type="http://schemas.openxmlformats.org/officeDocument/2006/relationships/notesSlide" Target="../notesSlides/notesSlide6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7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7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7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7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7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7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7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7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8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24.png"/><Relationship Id="rId7" Type="http://schemas.openxmlformats.org/officeDocument/2006/relationships/notesSlide" Target="../notesSlides/notesSlide8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26.png"/><Relationship Id="rId7" Type="http://schemas.openxmlformats.org/officeDocument/2006/relationships/notesSlide" Target="../notesSlides/notesSlide8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28.png"/><Relationship Id="rId7" Type="http://schemas.openxmlformats.org/officeDocument/2006/relationships/notesSlide" Target="../notesSlides/notesSlide8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30.png"/><Relationship Id="rId7" Type="http://schemas.openxmlformats.org/officeDocument/2006/relationships/notesSlide" Target="../notesSlides/notesSlide8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notesSlide" Target="../notesSlides/notesSlide8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8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grpSp>
        <p:nvGrpSpPr>
          <p:cNvPr name="Group 9" id="9"/>
          <p:cNvGrpSpPr/>
          <p:nvPr/>
        </p:nvGrpSpPr>
        <p:grpSpPr>
          <a:xfrm rot="0">
            <a:off x="552793" y="430473"/>
            <a:ext cx="8591207" cy="1706445"/>
            <a:chOff x="0" y="0"/>
            <a:chExt cx="9608110" cy="1908429"/>
          </a:xfrm>
        </p:grpSpPr>
        <p:sp>
          <p:nvSpPr>
            <p:cNvPr name="Freeform 10" id="10"/>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name="TextBox 11" id="11"/>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1</a:t>
            </a:r>
          </a:p>
        </p:txBody>
      </p:sp>
      <p:grpSp>
        <p:nvGrpSpPr>
          <p:cNvPr name="Group 13" id="13"/>
          <p:cNvGrpSpPr/>
          <p:nvPr/>
        </p:nvGrpSpPr>
        <p:grpSpPr>
          <a:xfrm rot="0">
            <a:off x="1188720" y="2613795"/>
            <a:ext cx="15910560" cy="1737360"/>
            <a:chOff x="0" y="0"/>
            <a:chExt cx="21214080" cy="2316480"/>
          </a:xfrm>
        </p:grpSpPr>
        <p:sp>
          <p:nvSpPr>
            <p:cNvPr name="Freeform 14" id="14"/>
            <p:cNvSpPr/>
            <p:nvPr/>
          </p:nvSpPr>
          <p:spPr>
            <a:xfrm flipH="false" flipV="false" rot="0">
              <a:off x="0" y="0"/>
              <a:ext cx="21214079" cy="2316480"/>
            </a:xfrm>
            <a:custGeom>
              <a:avLst/>
              <a:gdLst/>
              <a:ahLst/>
              <a:cxnLst/>
              <a:rect r="r" b="b" t="t" l="l"/>
              <a:pathLst>
                <a:path h="2316480" w="21214079">
                  <a:moveTo>
                    <a:pt x="0" y="0"/>
                  </a:moveTo>
                  <a:lnTo>
                    <a:pt x="21214079" y="0"/>
                  </a:lnTo>
                  <a:lnTo>
                    <a:pt x="21214079" y="2316480"/>
                  </a:lnTo>
                  <a:lnTo>
                    <a:pt x="0" y="2316480"/>
                  </a:lnTo>
                  <a:close/>
                </a:path>
              </a:pathLst>
            </a:custGeom>
            <a:blipFill>
              <a:blip r:embed="rId3">
                <a:alphaModFix amt="0"/>
              </a:blip>
              <a:stretch>
                <a:fillRect l="0" t="-128441" r="0" b="-128441"/>
              </a:stretch>
            </a:blipFill>
          </p:spPr>
        </p:sp>
        <p:sp>
          <p:nvSpPr>
            <p:cNvPr name="TextBox 15" id="15"/>
            <p:cNvSpPr txBox="true"/>
            <p:nvPr/>
          </p:nvSpPr>
          <p:spPr>
            <a:xfrm>
              <a:off x="0" y="-19050"/>
              <a:ext cx="21214080" cy="2335530"/>
            </a:xfrm>
            <a:prstGeom prst="rect">
              <a:avLst/>
            </a:prstGeom>
          </p:spPr>
          <p:txBody>
            <a:bodyPr anchor="ctr" rtlCol="false" tIns="0" lIns="0" bIns="0" rIns="0"/>
            <a:lstStyle/>
            <a:p>
              <a:pPr algn="ctr">
                <a:lnSpc>
                  <a:spcPts val="4799"/>
                </a:lnSpc>
              </a:pPr>
              <a:r>
                <a:rPr lang="en-US" sz="3999" b="true">
                  <a:solidFill>
                    <a:srgbClr val="000000"/>
                  </a:solidFill>
                  <a:latin typeface="Times New Roman Bold"/>
                  <a:ea typeface="Times New Roman Bold"/>
                  <a:cs typeface="Times New Roman Bold"/>
                  <a:sym typeface="Times New Roman Bold"/>
                </a:rPr>
                <a:t>“SISTEMA DE GESTIÓN DE INVENTARIO JORGE MOTORS”</a:t>
              </a:r>
            </a:p>
            <a:p>
              <a:pPr algn="ctr">
                <a:lnSpc>
                  <a:spcPts val="2879"/>
                </a:lnSpc>
              </a:pPr>
              <a:r>
                <a:rPr lang="en-US" sz="2400" i="true">
                  <a:solidFill>
                    <a:srgbClr val="1A56B0"/>
                  </a:solidFill>
                  <a:latin typeface="Times New Roman Italics"/>
                  <a:ea typeface="Times New Roman Italics"/>
                  <a:cs typeface="Times New Roman Italics"/>
                  <a:sym typeface="Times New Roman Italics"/>
                </a:rPr>
                <a:t>Plataforma web basada en arquitectura en capas, patrones de diseño GoF y modelo C4</a:t>
              </a:r>
            </a:p>
          </p:txBody>
        </p:sp>
      </p:grpSp>
      <p:sp>
        <p:nvSpPr>
          <p:cNvPr name="TextBox 16" id="16"/>
          <p:cNvSpPr txBox="true"/>
          <p:nvPr/>
        </p:nvSpPr>
        <p:spPr>
          <a:xfrm rot="0">
            <a:off x="1234440" y="4818507"/>
            <a:ext cx="15819120" cy="3705225"/>
          </a:xfrm>
          <a:prstGeom prst="rect">
            <a:avLst/>
          </a:prstGeom>
        </p:spPr>
        <p:txBody>
          <a:bodyPr anchor="t" rtlCol="false" tIns="0" lIns="0" bIns="0" rIns="0">
            <a:spAutoFit/>
          </a:bodyPr>
          <a:lstStyle/>
          <a:p>
            <a:pPr algn="ctr">
              <a:lnSpc>
                <a:spcPts val="2879"/>
              </a:lnSpc>
            </a:pPr>
            <a:r>
              <a:rPr lang="en-US" sz="2400" b="true">
                <a:solidFill>
                  <a:srgbClr val="000000"/>
                </a:solidFill>
                <a:latin typeface="Times New Roman Bold"/>
                <a:ea typeface="Times New Roman Bold"/>
                <a:cs typeface="Times New Roman Bold"/>
                <a:sym typeface="Times New Roman Bold"/>
              </a:rPr>
              <a:t>AUTOR(ES):</a:t>
            </a:r>
          </a:p>
          <a:p>
            <a:pPr algn="ctr">
              <a:lnSpc>
                <a:spcPts val="2639"/>
              </a:lnSpc>
            </a:pPr>
            <a:r>
              <a:rPr lang="en-US" sz="2199">
                <a:solidFill>
                  <a:srgbClr val="000000"/>
                </a:solidFill>
                <a:latin typeface="Times New Roman"/>
                <a:ea typeface="Times New Roman"/>
                <a:cs typeface="Times New Roman"/>
                <a:sym typeface="Times New Roman"/>
              </a:rPr>
              <a:t>CASTILLO CANALES, KORAYMA ANAÍS</a:t>
            </a:r>
          </a:p>
          <a:p>
            <a:pPr algn="ctr">
              <a:lnSpc>
                <a:spcPts val="2639"/>
              </a:lnSpc>
            </a:pPr>
            <a:r>
              <a:rPr lang="en-US" sz="2199">
                <a:solidFill>
                  <a:srgbClr val="000000"/>
                </a:solidFill>
                <a:latin typeface="Times New Roman"/>
                <a:ea typeface="Times New Roman"/>
                <a:cs typeface="Times New Roman"/>
                <a:sym typeface="Times New Roman"/>
              </a:rPr>
              <a:t>HERNÁNDEZ HERNÁNDEZ, JOSÉ ANTONIO</a:t>
            </a:r>
          </a:p>
          <a:p>
            <a:pPr algn="ctr">
              <a:lnSpc>
                <a:spcPts val="2639"/>
              </a:lnSpc>
            </a:pPr>
            <a:r>
              <a:rPr lang="en-US" sz="2199">
                <a:solidFill>
                  <a:srgbClr val="000000"/>
                </a:solidFill>
                <a:latin typeface="Times New Roman"/>
                <a:ea typeface="Times New Roman"/>
                <a:cs typeface="Times New Roman"/>
                <a:sym typeface="Times New Roman"/>
              </a:rPr>
              <a:t>NEYRA QUIROZ, JOSÉ GUILLERMO</a:t>
            </a:r>
          </a:p>
          <a:p>
            <a:pPr algn="ctr">
              <a:lnSpc>
                <a:spcPts val="2639"/>
              </a:lnSpc>
            </a:pPr>
            <a:r>
              <a:rPr lang="en-US" sz="2199">
                <a:solidFill>
                  <a:srgbClr val="000000"/>
                </a:solidFill>
                <a:latin typeface="Times New Roman"/>
                <a:ea typeface="Times New Roman"/>
                <a:cs typeface="Times New Roman"/>
                <a:sym typeface="Times New Roman"/>
              </a:rPr>
              <a:t>ROJAS CASTILLO, SEBASTIÁN JAREN</a:t>
            </a:r>
          </a:p>
          <a:p>
            <a:pPr algn="ctr">
              <a:lnSpc>
                <a:spcPts val="2639"/>
              </a:lnSpc>
            </a:pPr>
          </a:p>
          <a:p>
            <a:pPr algn="ctr">
              <a:lnSpc>
                <a:spcPts val="2639"/>
              </a:lnSpc>
            </a:pPr>
            <a:r>
              <a:rPr lang="en-US" sz="2199" b="true">
                <a:solidFill>
                  <a:srgbClr val="000000"/>
                </a:solidFill>
                <a:latin typeface="Times New Roman Bold"/>
                <a:ea typeface="Times New Roman Bold"/>
                <a:cs typeface="Times New Roman Bold"/>
                <a:sym typeface="Times New Roman Bold"/>
              </a:rPr>
              <a:t>DOCENTE:</a:t>
            </a:r>
          </a:p>
          <a:p>
            <a:pPr algn="ctr">
              <a:lnSpc>
                <a:spcPts val="2639"/>
              </a:lnSpc>
            </a:pPr>
            <a:r>
              <a:rPr lang="en-US" sz="2199">
                <a:solidFill>
                  <a:srgbClr val="000000"/>
                </a:solidFill>
                <a:latin typeface="Times New Roman"/>
                <a:ea typeface="Times New Roman"/>
                <a:cs typeface="Times New Roman"/>
                <a:sym typeface="Times New Roman"/>
              </a:rPr>
              <a:t>MG. LUIS ENRIQUE RAMÍREZ PACHECO</a:t>
            </a:r>
          </a:p>
          <a:p>
            <a:pPr algn="ctr">
              <a:lnSpc>
                <a:spcPts val="2639"/>
              </a:lnSpc>
            </a:pPr>
          </a:p>
          <a:p>
            <a:pPr algn="ctr">
              <a:lnSpc>
                <a:spcPts val="2639"/>
              </a:lnSpc>
            </a:pPr>
            <a:r>
              <a:rPr lang="en-US" sz="2199" b="true">
                <a:solidFill>
                  <a:srgbClr val="000000"/>
                </a:solidFill>
                <a:latin typeface="Times New Roman Bold"/>
                <a:ea typeface="Times New Roman Bold"/>
                <a:cs typeface="Times New Roman Bold"/>
                <a:sym typeface="Times New Roman Bold"/>
              </a:rPr>
              <a:t>CURSO:</a:t>
            </a:r>
          </a:p>
          <a:p>
            <a:pPr algn="ctr">
              <a:lnSpc>
                <a:spcPts val="2639"/>
              </a:lnSpc>
            </a:pPr>
            <a:r>
              <a:rPr lang="en-US" sz="2199">
                <a:solidFill>
                  <a:srgbClr val="000000"/>
                </a:solidFill>
                <a:latin typeface="Times New Roman"/>
                <a:ea typeface="Times New Roman"/>
                <a:cs typeface="Times New Roman"/>
                <a:sym typeface="Times New Roman"/>
              </a:rPr>
              <a:t>ARQUITECTURA DE SOFTWARE – VI – MAÑANA – A1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Contenido de la exposición</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2</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1051560" y="3227201"/>
            <a:ext cx="78638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280160" y="3432153"/>
            <a:ext cx="1371600" cy="696835"/>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80160" y="3432153"/>
            <a:ext cx="1371600" cy="696835"/>
          </a:xfrm>
          <a:prstGeom prst="rect">
            <a:avLst/>
          </a:prstGeom>
          <a:noFill/>
        </p:spPr>
        <p:txBody>
          <a:bodyPr wrap="square" anchor="ctr" lIns="45720" rIns="45720">
            <a:spAutoFit/>
          </a:bodyPr>
          <a:lstStyle/>
          <a:p>
            <a:pPr algn="ctr">
              <a:spcAft>
                <a:spcPts val="0"/>
              </a:spcAft>
            </a:pPr>
            <a:r>
              <a:rPr sz="2900" b="0" i="0">
                <a:solidFill>
                  <a:srgbClr val="FFFFFF"/>
                </a:solidFill>
                <a:latin typeface="Times New Roman"/>
              </a:rPr>
              <a:t>1–2</a:t>
            </a:r>
          </a:p>
        </p:txBody>
      </p:sp>
      <p:sp>
        <p:nvSpPr>
          <p:cNvPr id="43" name="TextBox 42"/>
          <p:cNvSpPr txBox="1"/>
          <p:nvPr/>
        </p:nvSpPr>
        <p:spPr>
          <a:xfrm>
            <a:off x="2834639" y="3391162"/>
            <a:ext cx="5943600" cy="778816"/>
          </a:xfrm>
          <a:prstGeom prst="rect">
            <a:avLst/>
          </a:prstGeom>
          <a:noFill/>
        </p:spPr>
        <p:txBody>
          <a:bodyPr wrap="square" anchor="ctr" lIns="45720" rIns="45720">
            <a:spAutoFit/>
          </a:bodyPr>
          <a:lstStyle/>
          <a:p>
            <a:pPr algn="l">
              <a:spcAft>
                <a:spcPts val="0"/>
              </a:spcAft>
            </a:pPr>
            <a:r>
              <a:rPr sz="2900" b="0" i="0">
                <a:solidFill>
                  <a:srgbClr val="1A56B0"/>
                </a:solidFill>
                <a:latin typeface="Times New Roman"/>
              </a:rPr>
              <a:t>Introducción y objetivos</a:t>
            </a:r>
          </a:p>
        </p:txBody>
      </p:sp>
      <p:sp>
        <p:nvSpPr>
          <p:cNvPr id="44" name="Rounded Rectangle 43"/>
          <p:cNvSpPr/>
          <p:nvPr/>
        </p:nvSpPr>
        <p:spPr>
          <a:xfrm>
            <a:off x="9372600" y="3227201"/>
            <a:ext cx="78638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601200" y="3432153"/>
            <a:ext cx="1371600" cy="696835"/>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01200" y="3432153"/>
            <a:ext cx="1371600" cy="696835"/>
          </a:xfrm>
          <a:prstGeom prst="rect">
            <a:avLst/>
          </a:prstGeom>
          <a:noFill/>
        </p:spPr>
        <p:txBody>
          <a:bodyPr wrap="square" anchor="ctr" lIns="45720" rIns="45720">
            <a:spAutoFit/>
          </a:bodyPr>
          <a:lstStyle/>
          <a:p>
            <a:pPr algn="ctr">
              <a:spcAft>
                <a:spcPts val="0"/>
              </a:spcAft>
            </a:pPr>
            <a:r>
              <a:rPr sz="2900" b="0" i="0">
                <a:solidFill>
                  <a:srgbClr val="FFFFFF"/>
                </a:solidFill>
                <a:latin typeface="Times New Roman"/>
              </a:rPr>
              <a:t>3–4</a:t>
            </a:r>
          </a:p>
        </p:txBody>
      </p:sp>
      <p:sp>
        <p:nvSpPr>
          <p:cNvPr id="47" name="TextBox 46"/>
          <p:cNvSpPr txBox="1"/>
          <p:nvPr/>
        </p:nvSpPr>
        <p:spPr>
          <a:xfrm>
            <a:off x="11155680" y="3391162"/>
            <a:ext cx="5943600" cy="778816"/>
          </a:xfrm>
          <a:prstGeom prst="rect">
            <a:avLst/>
          </a:prstGeom>
          <a:noFill/>
        </p:spPr>
        <p:txBody>
          <a:bodyPr wrap="square" anchor="ctr" lIns="45720" rIns="45720">
            <a:spAutoFit/>
          </a:bodyPr>
          <a:lstStyle/>
          <a:p>
            <a:pPr algn="l">
              <a:spcAft>
                <a:spcPts val="0"/>
              </a:spcAft>
            </a:pPr>
            <a:r>
              <a:rPr sz="2900" b="0" i="0">
                <a:solidFill>
                  <a:srgbClr val="1A56B0"/>
                </a:solidFill>
                <a:latin typeface="Times New Roman"/>
              </a:rPr>
              <a:t>Descripción y requerimientos</a:t>
            </a:r>
          </a:p>
        </p:txBody>
      </p:sp>
      <p:sp>
        <p:nvSpPr>
          <p:cNvPr id="48" name="Rounded Rectangle 47"/>
          <p:cNvSpPr/>
          <p:nvPr/>
        </p:nvSpPr>
        <p:spPr>
          <a:xfrm>
            <a:off x="1051560" y="4620873"/>
            <a:ext cx="78638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1280160" y="4825824"/>
            <a:ext cx="1371600" cy="696835"/>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280160" y="4825824"/>
            <a:ext cx="1371600" cy="696835"/>
          </a:xfrm>
          <a:prstGeom prst="rect">
            <a:avLst/>
          </a:prstGeom>
          <a:noFill/>
        </p:spPr>
        <p:txBody>
          <a:bodyPr wrap="square" anchor="ctr" lIns="45720" rIns="45720">
            <a:spAutoFit/>
          </a:bodyPr>
          <a:lstStyle/>
          <a:p>
            <a:pPr algn="ctr">
              <a:spcAft>
                <a:spcPts val="0"/>
              </a:spcAft>
            </a:pPr>
            <a:r>
              <a:rPr sz="2900" b="0" i="0">
                <a:solidFill>
                  <a:srgbClr val="FFFFFF"/>
                </a:solidFill>
                <a:latin typeface="Times New Roman"/>
              </a:rPr>
              <a:t>5</a:t>
            </a:r>
          </a:p>
        </p:txBody>
      </p:sp>
      <p:sp>
        <p:nvSpPr>
          <p:cNvPr id="51" name="TextBox 50"/>
          <p:cNvSpPr txBox="1"/>
          <p:nvPr/>
        </p:nvSpPr>
        <p:spPr>
          <a:xfrm>
            <a:off x="2834639" y="4784834"/>
            <a:ext cx="5943600" cy="778816"/>
          </a:xfrm>
          <a:prstGeom prst="rect">
            <a:avLst/>
          </a:prstGeom>
          <a:noFill/>
        </p:spPr>
        <p:txBody>
          <a:bodyPr wrap="square" anchor="ctr" lIns="45720" rIns="45720">
            <a:spAutoFit/>
          </a:bodyPr>
          <a:lstStyle/>
          <a:p>
            <a:pPr algn="l">
              <a:spcAft>
                <a:spcPts val="0"/>
              </a:spcAft>
            </a:pPr>
            <a:r>
              <a:rPr sz="2900" b="0" i="0">
                <a:solidFill>
                  <a:srgbClr val="1A56B0"/>
                </a:solidFill>
                <a:latin typeface="Times New Roman"/>
              </a:rPr>
              <a:t>Arquitectura y patrones arquitectónicos</a:t>
            </a:r>
          </a:p>
        </p:txBody>
      </p:sp>
      <p:sp>
        <p:nvSpPr>
          <p:cNvPr id="52" name="Rounded Rectangle 51"/>
          <p:cNvSpPr/>
          <p:nvPr/>
        </p:nvSpPr>
        <p:spPr>
          <a:xfrm>
            <a:off x="9372600" y="4620873"/>
            <a:ext cx="78638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9601200" y="4825824"/>
            <a:ext cx="1371600" cy="696835"/>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601200" y="4825824"/>
            <a:ext cx="1371600" cy="696835"/>
          </a:xfrm>
          <a:prstGeom prst="rect">
            <a:avLst/>
          </a:prstGeom>
          <a:noFill/>
        </p:spPr>
        <p:txBody>
          <a:bodyPr wrap="square" anchor="ctr" lIns="45720" rIns="45720">
            <a:spAutoFit/>
          </a:bodyPr>
          <a:lstStyle/>
          <a:p>
            <a:pPr algn="ctr">
              <a:spcAft>
                <a:spcPts val="0"/>
              </a:spcAft>
            </a:pPr>
            <a:r>
              <a:rPr sz="2900" b="0" i="0">
                <a:solidFill>
                  <a:srgbClr val="FFFFFF"/>
                </a:solidFill>
                <a:latin typeface="Times New Roman"/>
              </a:rPr>
              <a:t>6</a:t>
            </a:r>
          </a:p>
        </p:txBody>
      </p:sp>
      <p:sp>
        <p:nvSpPr>
          <p:cNvPr id="55" name="TextBox 54"/>
          <p:cNvSpPr txBox="1"/>
          <p:nvPr/>
        </p:nvSpPr>
        <p:spPr>
          <a:xfrm>
            <a:off x="11155680" y="4784834"/>
            <a:ext cx="5943600" cy="778816"/>
          </a:xfrm>
          <a:prstGeom prst="rect">
            <a:avLst/>
          </a:prstGeom>
          <a:noFill/>
        </p:spPr>
        <p:txBody>
          <a:bodyPr wrap="square" anchor="ctr" lIns="45720" rIns="45720">
            <a:spAutoFit/>
          </a:bodyPr>
          <a:lstStyle/>
          <a:p>
            <a:pPr algn="l">
              <a:spcAft>
                <a:spcPts val="0"/>
              </a:spcAft>
            </a:pPr>
            <a:r>
              <a:rPr sz="2900" b="0" i="0">
                <a:solidFill>
                  <a:srgbClr val="1A56B0"/>
                </a:solidFill>
                <a:latin typeface="Times New Roman"/>
              </a:rPr>
              <a:t>Patrones GoF en el código</a:t>
            </a:r>
          </a:p>
        </p:txBody>
      </p:sp>
      <p:sp>
        <p:nvSpPr>
          <p:cNvPr id="56" name="Rounded Rectangle 55"/>
          <p:cNvSpPr/>
          <p:nvPr/>
        </p:nvSpPr>
        <p:spPr>
          <a:xfrm>
            <a:off x="1051560" y="6014544"/>
            <a:ext cx="78638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1280160" y="6219496"/>
            <a:ext cx="1371600" cy="696835"/>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280160" y="6219496"/>
            <a:ext cx="1371600" cy="696835"/>
          </a:xfrm>
          <a:prstGeom prst="rect">
            <a:avLst/>
          </a:prstGeom>
          <a:noFill/>
        </p:spPr>
        <p:txBody>
          <a:bodyPr wrap="square" anchor="ctr" lIns="45720" rIns="45720">
            <a:spAutoFit/>
          </a:bodyPr>
          <a:lstStyle/>
          <a:p>
            <a:pPr algn="ctr">
              <a:spcAft>
                <a:spcPts val="0"/>
              </a:spcAft>
            </a:pPr>
            <a:r>
              <a:rPr sz="2900" b="0" i="0">
                <a:solidFill>
                  <a:srgbClr val="FFFFFF"/>
                </a:solidFill>
                <a:latin typeface="Times New Roman"/>
              </a:rPr>
              <a:t>7</a:t>
            </a:r>
          </a:p>
        </p:txBody>
      </p:sp>
      <p:sp>
        <p:nvSpPr>
          <p:cNvPr id="59" name="TextBox 58"/>
          <p:cNvSpPr txBox="1"/>
          <p:nvPr/>
        </p:nvSpPr>
        <p:spPr>
          <a:xfrm>
            <a:off x="2834639" y="6178506"/>
            <a:ext cx="5943600" cy="778816"/>
          </a:xfrm>
          <a:prstGeom prst="rect">
            <a:avLst/>
          </a:prstGeom>
          <a:noFill/>
        </p:spPr>
        <p:txBody>
          <a:bodyPr wrap="square" anchor="ctr" lIns="45720" rIns="45720">
            <a:spAutoFit/>
          </a:bodyPr>
          <a:lstStyle/>
          <a:p>
            <a:pPr algn="l">
              <a:spcAft>
                <a:spcPts val="0"/>
              </a:spcAft>
            </a:pPr>
            <a:r>
              <a:rPr sz="2900" b="0" i="0">
                <a:solidFill>
                  <a:srgbClr val="1A56B0"/>
                </a:solidFill>
                <a:latin typeface="Times New Roman"/>
              </a:rPr>
              <a:t>Modelo C4, despliegue y decisiones</a:t>
            </a:r>
          </a:p>
        </p:txBody>
      </p:sp>
      <p:sp>
        <p:nvSpPr>
          <p:cNvPr id="60" name="Rounded Rectangle 59"/>
          <p:cNvSpPr/>
          <p:nvPr/>
        </p:nvSpPr>
        <p:spPr>
          <a:xfrm>
            <a:off x="9372600" y="6014544"/>
            <a:ext cx="78638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9601200" y="6219496"/>
            <a:ext cx="1371600" cy="696835"/>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601200" y="6219496"/>
            <a:ext cx="1371600" cy="696835"/>
          </a:xfrm>
          <a:prstGeom prst="rect">
            <a:avLst/>
          </a:prstGeom>
          <a:noFill/>
        </p:spPr>
        <p:txBody>
          <a:bodyPr wrap="square" anchor="ctr" lIns="45720" rIns="45720">
            <a:spAutoFit/>
          </a:bodyPr>
          <a:lstStyle/>
          <a:p>
            <a:pPr algn="ctr">
              <a:spcAft>
                <a:spcPts val="0"/>
              </a:spcAft>
            </a:pPr>
            <a:r>
              <a:rPr sz="2900" b="0" i="0">
                <a:solidFill>
                  <a:srgbClr val="FFFFFF"/>
                </a:solidFill>
                <a:latin typeface="Times New Roman"/>
              </a:rPr>
              <a:t>8</a:t>
            </a:r>
          </a:p>
        </p:txBody>
      </p:sp>
      <p:sp>
        <p:nvSpPr>
          <p:cNvPr id="63" name="TextBox 62"/>
          <p:cNvSpPr txBox="1"/>
          <p:nvPr/>
        </p:nvSpPr>
        <p:spPr>
          <a:xfrm>
            <a:off x="11155680" y="6178506"/>
            <a:ext cx="5943600" cy="778816"/>
          </a:xfrm>
          <a:prstGeom prst="rect">
            <a:avLst/>
          </a:prstGeom>
          <a:noFill/>
        </p:spPr>
        <p:txBody>
          <a:bodyPr wrap="square" anchor="ctr" lIns="45720" rIns="45720">
            <a:spAutoFit/>
          </a:bodyPr>
          <a:lstStyle/>
          <a:p>
            <a:pPr algn="l">
              <a:spcAft>
                <a:spcPts val="0"/>
              </a:spcAft>
            </a:pPr>
            <a:r>
              <a:rPr sz="2900" b="0" i="0">
                <a:solidFill>
                  <a:srgbClr val="1A56B0"/>
                </a:solidFill>
                <a:latin typeface="Times New Roman"/>
              </a:rPr>
              <a:t>Base de datos</a:t>
            </a:r>
          </a:p>
        </p:txBody>
      </p:sp>
      <p:sp>
        <p:nvSpPr>
          <p:cNvPr id="64" name="Rounded Rectangle 63"/>
          <p:cNvSpPr/>
          <p:nvPr/>
        </p:nvSpPr>
        <p:spPr>
          <a:xfrm>
            <a:off x="1051560" y="7408216"/>
            <a:ext cx="78638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1280160" y="7613168"/>
            <a:ext cx="1371600" cy="696835"/>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280160" y="7613168"/>
            <a:ext cx="1371600" cy="696835"/>
          </a:xfrm>
          <a:prstGeom prst="rect">
            <a:avLst/>
          </a:prstGeom>
          <a:noFill/>
        </p:spPr>
        <p:txBody>
          <a:bodyPr wrap="square" anchor="ctr" lIns="45720" rIns="45720">
            <a:spAutoFit/>
          </a:bodyPr>
          <a:lstStyle/>
          <a:p>
            <a:pPr algn="ctr">
              <a:spcAft>
                <a:spcPts val="0"/>
              </a:spcAft>
            </a:pPr>
            <a:r>
              <a:rPr sz="2900" b="0" i="0">
                <a:solidFill>
                  <a:srgbClr val="FFFFFF"/>
                </a:solidFill>
                <a:latin typeface="Times New Roman"/>
              </a:rPr>
              <a:t>9</a:t>
            </a:r>
          </a:p>
        </p:txBody>
      </p:sp>
      <p:sp>
        <p:nvSpPr>
          <p:cNvPr id="67" name="TextBox 66"/>
          <p:cNvSpPr txBox="1"/>
          <p:nvPr/>
        </p:nvSpPr>
        <p:spPr>
          <a:xfrm>
            <a:off x="2834639" y="7572177"/>
            <a:ext cx="5943600" cy="778816"/>
          </a:xfrm>
          <a:prstGeom prst="rect">
            <a:avLst/>
          </a:prstGeom>
          <a:noFill/>
        </p:spPr>
        <p:txBody>
          <a:bodyPr wrap="square" anchor="ctr" lIns="45720" rIns="45720">
            <a:spAutoFit/>
          </a:bodyPr>
          <a:lstStyle/>
          <a:p>
            <a:pPr algn="l">
              <a:spcAft>
                <a:spcPts val="0"/>
              </a:spcAft>
            </a:pPr>
            <a:r>
              <a:rPr sz="2900" b="0" i="0">
                <a:solidFill>
                  <a:srgbClr val="1A56B0"/>
                </a:solidFill>
                <a:latin typeface="Times New Roman"/>
              </a:rPr>
              <a:t>Demostración del sistema</a:t>
            </a:r>
          </a:p>
        </p:txBody>
      </p:sp>
      <p:sp>
        <p:nvSpPr>
          <p:cNvPr id="68" name="Rounded Rectangle 67"/>
          <p:cNvSpPr/>
          <p:nvPr/>
        </p:nvSpPr>
        <p:spPr>
          <a:xfrm>
            <a:off x="9372600" y="7408216"/>
            <a:ext cx="78638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9601200" y="7613168"/>
            <a:ext cx="1371600" cy="696835"/>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01200" y="7613168"/>
            <a:ext cx="1371600" cy="696835"/>
          </a:xfrm>
          <a:prstGeom prst="rect">
            <a:avLst/>
          </a:prstGeom>
          <a:noFill/>
        </p:spPr>
        <p:txBody>
          <a:bodyPr wrap="square" anchor="ctr" lIns="45720" rIns="45720">
            <a:spAutoFit/>
          </a:bodyPr>
          <a:lstStyle/>
          <a:p>
            <a:pPr algn="ctr">
              <a:spcAft>
                <a:spcPts val="0"/>
              </a:spcAft>
            </a:pPr>
            <a:r>
              <a:rPr sz="2900" b="0" i="0">
                <a:solidFill>
                  <a:srgbClr val="FFFFFF"/>
                </a:solidFill>
                <a:latin typeface="Times New Roman"/>
              </a:rPr>
              <a:t>10–12</a:t>
            </a:r>
          </a:p>
        </p:txBody>
      </p:sp>
      <p:sp>
        <p:nvSpPr>
          <p:cNvPr id="71" name="TextBox 70"/>
          <p:cNvSpPr txBox="1"/>
          <p:nvPr/>
        </p:nvSpPr>
        <p:spPr>
          <a:xfrm>
            <a:off x="11155680" y="7572177"/>
            <a:ext cx="5943600" cy="778816"/>
          </a:xfrm>
          <a:prstGeom prst="rect">
            <a:avLst/>
          </a:prstGeom>
          <a:noFill/>
        </p:spPr>
        <p:txBody>
          <a:bodyPr wrap="square" anchor="ctr" lIns="45720" rIns="45720">
            <a:spAutoFit/>
          </a:bodyPr>
          <a:lstStyle/>
          <a:p>
            <a:pPr algn="l">
              <a:spcAft>
                <a:spcPts val="0"/>
              </a:spcAft>
            </a:pPr>
            <a:r>
              <a:rPr sz="2900" b="0" i="0">
                <a:solidFill>
                  <a:srgbClr val="1A56B0"/>
                </a:solidFill>
                <a:latin typeface="Times New Roman"/>
              </a:rPr>
              <a:t>Resultados, conclusiones y bibliografía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1. Introducción</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3</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685800" y="3063240"/>
            <a:ext cx="8778240" cy="2541401"/>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8680" y="3186211"/>
            <a:ext cx="8412480" cy="2295459"/>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El taller</a:t>
            </a:r>
          </a:p>
          <a:p>
            <a:pPr algn="l">
              <a:spcAft>
                <a:spcPts val="500"/>
              </a:spcAft>
            </a:pPr>
            <a:r>
              <a:rPr sz="2500" b="0" i="0">
                <a:solidFill>
                  <a:srgbClr val="1E1E1E"/>
                </a:solidFill>
                <a:latin typeface="Times New Roman"/>
              </a:rPr>
              <a:t>Jorge Motors es una mecánica automotriz de Pueblo Nuevo, Chincha (Ica), que gestiona repuestos, lubricantes, filtros, baterías, herramientas y accesorios.</a:t>
            </a:r>
          </a:p>
        </p:txBody>
      </p:sp>
      <p:sp>
        <p:nvSpPr>
          <p:cNvPr id="42" name="Rounded Rectangle 41"/>
          <p:cNvSpPr/>
          <p:nvPr/>
        </p:nvSpPr>
        <p:spPr>
          <a:xfrm>
            <a:off x="9829800" y="3063240"/>
            <a:ext cx="7772400" cy="696835"/>
          </a:xfrm>
          <a:prstGeom prst="roundRect">
            <a:avLst>
              <a:gd name="adj" fmla="val 12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29800" y="3063240"/>
            <a:ext cx="7772400" cy="696835"/>
          </a:xfrm>
          <a:prstGeom prst="rect">
            <a:avLst/>
          </a:prstGeom>
          <a:noFill/>
        </p:spPr>
        <p:txBody>
          <a:bodyPr wrap="square" anchor="ctr" lIns="45720" rIns="45720">
            <a:spAutoFit/>
          </a:bodyPr>
          <a:lstStyle/>
          <a:p>
            <a:pPr algn="ctr">
              <a:spcAft>
                <a:spcPts val="0"/>
              </a:spcAft>
            </a:pPr>
            <a:r>
              <a:rPr sz="2900" b="0" i="0">
                <a:solidFill>
                  <a:srgbClr val="FFFFFF"/>
                </a:solidFill>
                <a:latin typeface="Times New Roman"/>
              </a:rPr>
              <a:t>Problema actual: Excel</a:t>
            </a:r>
          </a:p>
        </p:txBody>
      </p:sp>
      <p:sp>
        <p:nvSpPr>
          <p:cNvPr id="44" name="Rounded Rectangle 43"/>
          <p:cNvSpPr/>
          <p:nvPr/>
        </p:nvSpPr>
        <p:spPr>
          <a:xfrm>
            <a:off x="9829800" y="3883046"/>
            <a:ext cx="7772400" cy="172159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12680" y="4006017"/>
            <a:ext cx="7406640" cy="1475652"/>
          </a:xfrm>
          <a:prstGeom prst="rect">
            <a:avLst/>
          </a:prstGeom>
          <a:noFill/>
        </p:spPr>
        <p:txBody>
          <a:bodyPr wrap="square" anchor="t" lIns="45720" rIns="45720">
            <a:spAutoFit/>
          </a:bodyPr>
          <a:lstStyle/>
          <a:p>
            <a:pPr algn="l" marL="256032" indent="-219456">
              <a:spcAft>
                <a:spcPts val="500"/>
              </a:spcAft>
              <a:buChar char="•"/>
            </a:pPr>
            <a:r>
              <a:rPr sz="2500" b="0" i="0">
                <a:solidFill>
                  <a:srgbClr val="1E1E1E"/>
                </a:solidFill>
                <a:latin typeface="Times New Roman"/>
              </a:rPr>
              <a:t>Registros con errores o desactualizados.</a:t>
            </a:r>
          </a:p>
          <a:p>
            <a:pPr algn="l" marL="256032" indent="-219456">
              <a:spcAft>
                <a:spcPts val="500"/>
              </a:spcAft>
              <a:buChar char="•"/>
            </a:pPr>
            <a:r>
              <a:rPr sz="2500" b="0" i="0">
                <a:solidFill>
                  <a:srgbClr val="1E1E1E"/>
                </a:solidFill>
                <a:latin typeface="Times New Roman"/>
              </a:rPr>
              <a:t>El stock no se actualiza tras cada movimiento.</a:t>
            </a:r>
          </a:p>
          <a:p>
            <a:pPr algn="l" marL="256032" indent="-219456">
              <a:spcAft>
                <a:spcPts val="500"/>
              </a:spcAft>
              <a:buChar char="•"/>
            </a:pPr>
            <a:r>
              <a:rPr sz="2500" b="0" i="0">
                <a:solidFill>
                  <a:srgbClr val="1E1E1E"/>
                </a:solidFill>
                <a:latin typeface="Times New Roman"/>
              </a:rPr>
              <a:t>Sin alertas cuando un producto llega a su mínimo.</a:t>
            </a:r>
          </a:p>
        </p:txBody>
      </p:sp>
      <p:sp>
        <p:nvSpPr>
          <p:cNvPr id="46" name="Rounded Rectangle 45"/>
          <p:cNvSpPr/>
          <p:nvPr/>
        </p:nvSpPr>
        <p:spPr>
          <a:xfrm>
            <a:off x="685800" y="5891573"/>
            <a:ext cx="4023360" cy="2992295"/>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8680" y="6014544"/>
            <a:ext cx="3657600" cy="2746353"/>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Aplicación web por rol</a:t>
            </a:r>
          </a:p>
          <a:p>
            <a:pPr algn="l">
              <a:spcAft>
                <a:spcPts val="500"/>
              </a:spcAft>
            </a:pPr>
            <a:r>
              <a:rPr sz="2400" b="0" i="0">
                <a:solidFill>
                  <a:srgbClr val="1E1E1E"/>
                </a:solidFill>
                <a:latin typeface="Times New Roman"/>
              </a:rPr>
              <a:t>React 19 con vistas separadas para Administrador y Mecánico.</a:t>
            </a:r>
          </a:p>
        </p:txBody>
      </p:sp>
      <p:sp>
        <p:nvSpPr>
          <p:cNvPr id="48" name="Rounded Rectangle 47"/>
          <p:cNvSpPr/>
          <p:nvPr/>
        </p:nvSpPr>
        <p:spPr>
          <a:xfrm>
            <a:off x="4983480" y="5891573"/>
            <a:ext cx="4023360" cy="2992295"/>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66360" y="6014544"/>
            <a:ext cx="3657600" cy="2746353"/>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API REST en capas</a:t>
            </a:r>
          </a:p>
          <a:p>
            <a:pPr algn="l">
              <a:spcAft>
                <a:spcPts val="500"/>
              </a:spcAft>
            </a:pPr>
            <a:r>
              <a:rPr sz="2400" b="0" i="0">
                <a:solidFill>
                  <a:srgbClr val="1E1E1E"/>
                </a:solidFill>
                <a:latin typeface="Times New Roman"/>
              </a:rPr>
              <a:t>Node.js + Express 5 como monolito modular, con 6 patrones GoF en el código.</a:t>
            </a:r>
          </a:p>
        </p:txBody>
      </p:sp>
      <p:sp>
        <p:nvSpPr>
          <p:cNvPr id="50" name="Rounded Rectangle 49"/>
          <p:cNvSpPr/>
          <p:nvPr/>
        </p:nvSpPr>
        <p:spPr>
          <a:xfrm>
            <a:off x="9281160" y="5891573"/>
            <a:ext cx="4023360" cy="2992295"/>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464040" y="6014544"/>
            <a:ext cx="3657600" cy="2746353"/>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SQL Server / Azure SQL</a:t>
            </a:r>
          </a:p>
          <a:p>
            <a:pPr algn="l">
              <a:spcAft>
                <a:spcPts val="500"/>
              </a:spcAft>
            </a:pPr>
            <a:r>
              <a:rPr sz="2400" b="0" i="0">
                <a:solidFill>
                  <a:srgbClr val="1E1E1E"/>
                </a:solidFill>
                <a:latin typeface="Times New Roman"/>
              </a:rPr>
              <a:t>12 tablas, 8 migraciones y triggers que protegen el historial.</a:t>
            </a:r>
          </a:p>
        </p:txBody>
      </p:sp>
      <p:sp>
        <p:nvSpPr>
          <p:cNvPr id="52" name="Rounded Rectangle 51"/>
          <p:cNvSpPr/>
          <p:nvPr/>
        </p:nvSpPr>
        <p:spPr>
          <a:xfrm>
            <a:off x="13578840" y="5891573"/>
            <a:ext cx="4023360" cy="2992295"/>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3761720" y="6014544"/>
            <a:ext cx="3657600" cy="2746353"/>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Entra ID + pruebas</a:t>
            </a:r>
          </a:p>
          <a:p>
            <a:pPr algn="l">
              <a:spcAft>
                <a:spcPts val="500"/>
              </a:spcAft>
            </a:pPr>
            <a:r>
              <a:rPr sz="2400" b="0" i="0">
                <a:solidFill>
                  <a:srgbClr val="1E1E1E"/>
                </a:solidFill>
                <a:latin typeface="Times New Roman"/>
              </a:rPr>
              <a:t>Sin contraseñas locales; 232 pruebas automatizadas aprobadas.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2. Objetivos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4</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685800" y="3063240"/>
            <a:ext cx="16916400" cy="614855"/>
          </a:xfrm>
          <a:prstGeom prst="roundRect">
            <a:avLst>
              <a:gd name="adj" fmla="val 12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3063240"/>
            <a:ext cx="16916400" cy="614855"/>
          </a:xfrm>
          <a:prstGeom prst="rect">
            <a:avLst/>
          </a:prstGeom>
          <a:noFill/>
        </p:spPr>
        <p:txBody>
          <a:bodyPr wrap="square" anchor="ctr" lIns="45720" rIns="45720">
            <a:spAutoFit/>
          </a:bodyPr>
          <a:lstStyle/>
          <a:p>
            <a:pPr algn="ctr">
              <a:spcAft>
                <a:spcPts val="0"/>
              </a:spcAft>
            </a:pPr>
            <a:r>
              <a:rPr sz="2600" b="0" i="0">
                <a:solidFill>
                  <a:srgbClr val="FFFFFF"/>
                </a:solidFill>
                <a:latin typeface="Times New Roman"/>
              </a:rPr>
              <a:t>Objetivo general</a:t>
            </a:r>
          </a:p>
        </p:txBody>
      </p:sp>
      <p:sp>
        <p:nvSpPr>
          <p:cNvPr id="42" name="Rounded Rectangle 41"/>
          <p:cNvSpPr/>
          <p:nvPr/>
        </p:nvSpPr>
        <p:spPr>
          <a:xfrm>
            <a:off x="685800" y="3760075"/>
            <a:ext cx="16916400" cy="147565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3883046"/>
            <a:ext cx="16550640" cy="1229710"/>
          </a:xfrm>
          <a:prstGeom prst="rect">
            <a:avLst/>
          </a:prstGeom>
          <a:noFill/>
        </p:spPr>
        <p:txBody>
          <a:bodyPr wrap="square" anchor="t" lIns="45720" rIns="45720">
            <a:spAutoFit/>
          </a:bodyPr>
          <a:lstStyle/>
          <a:p>
            <a:pPr algn="l">
              <a:spcAft>
                <a:spcPts val="500"/>
              </a:spcAft>
            </a:pPr>
            <a:r>
              <a:rPr sz="2400" b="0" i="0">
                <a:solidFill>
                  <a:srgbClr val="1E1E1E"/>
                </a:solidFill>
                <a:latin typeface="Times New Roman"/>
              </a:rPr>
              <a:t>Diseñar, implementar y verificar una plataforma web segura para la gestión de inventario de "Jorge Motors", aplicando arquitectura en capas, patrones GoF y el modelo C4, que automatice entradas y salidas, garantice la consistencia del stock, conserve un historial auditable y genere alertas de reabastecimiento.</a:t>
            </a:r>
          </a:p>
        </p:txBody>
      </p:sp>
      <p:sp>
        <p:nvSpPr>
          <p:cNvPr id="44" name="Rounded Rectangle 43"/>
          <p:cNvSpPr/>
          <p:nvPr/>
        </p:nvSpPr>
        <p:spPr>
          <a:xfrm>
            <a:off x="685800" y="5440680"/>
            <a:ext cx="2651760" cy="352516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5563651"/>
            <a:ext cx="2286000" cy="3279227"/>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1. Analizar</a:t>
            </a:r>
          </a:p>
          <a:p>
            <a:pPr algn="l">
              <a:spcAft>
                <a:spcPts val="500"/>
              </a:spcAft>
            </a:pPr>
            <a:r>
              <a:rPr sz="2200" b="0" i="0">
                <a:solidFill>
                  <a:srgbClr val="1E1E1E"/>
                </a:solidFill>
                <a:latin typeface="Times New Roman"/>
              </a:rPr>
              <a:t>requerimientos funcionales y no funcionales del taller</a:t>
            </a:r>
          </a:p>
        </p:txBody>
      </p:sp>
      <p:sp>
        <p:nvSpPr>
          <p:cNvPr id="46" name="Rounded Rectangle 45"/>
          <p:cNvSpPr/>
          <p:nvPr/>
        </p:nvSpPr>
        <p:spPr>
          <a:xfrm>
            <a:off x="3538728" y="5440680"/>
            <a:ext cx="2651760" cy="352516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721608" y="5563651"/>
            <a:ext cx="2286000" cy="3279227"/>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2. Diseñar</a:t>
            </a:r>
          </a:p>
          <a:p>
            <a:pPr algn="l">
              <a:spcAft>
                <a:spcPts val="500"/>
              </a:spcAft>
            </a:pPr>
            <a:r>
              <a:rPr sz="2200" b="0" i="0">
                <a:solidFill>
                  <a:srgbClr val="1E1E1E"/>
                </a:solidFill>
                <a:latin typeface="Times New Roman"/>
              </a:rPr>
              <a:t>el monolito modular en capas y modelarlo con C4</a:t>
            </a:r>
          </a:p>
        </p:txBody>
      </p:sp>
      <p:sp>
        <p:nvSpPr>
          <p:cNvPr id="48" name="Rounded Rectangle 47"/>
          <p:cNvSpPr/>
          <p:nvPr/>
        </p:nvSpPr>
        <p:spPr>
          <a:xfrm>
            <a:off x="6391656" y="5440680"/>
            <a:ext cx="2651760" cy="352516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74536" y="5563651"/>
            <a:ext cx="2286000" cy="3279227"/>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3. Implementar</a:t>
            </a:r>
          </a:p>
          <a:p>
            <a:pPr algn="l">
              <a:spcAft>
                <a:spcPts val="500"/>
              </a:spcAft>
            </a:pPr>
            <a:r>
              <a:rPr sz="2200" b="0" i="0">
                <a:solidFill>
                  <a:srgbClr val="1E1E1E"/>
                </a:solidFill>
                <a:latin typeface="Times New Roman"/>
              </a:rPr>
              <a:t>los seis patrones GoF y los complementarios, con pruebas</a:t>
            </a:r>
          </a:p>
        </p:txBody>
      </p:sp>
      <p:sp>
        <p:nvSpPr>
          <p:cNvPr id="50" name="Rounded Rectangle 49"/>
          <p:cNvSpPr/>
          <p:nvPr/>
        </p:nvSpPr>
        <p:spPr>
          <a:xfrm>
            <a:off x="9244584" y="5440680"/>
            <a:ext cx="2651760" cy="352516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427463" y="5563651"/>
            <a:ext cx="2286000" cy="3279227"/>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4. Construir</a:t>
            </a:r>
          </a:p>
          <a:p>
            <a:pPr algn="l">
              <a:spcAft>
                <a:spcPts val="500"/>
              </a:spcAft>
            </a:pPr>
            <a:r>
              <a:rPr sz="2200" b="0" i="0">
                <a:solidFill>
                  <a:srgbClr val="1E1E1E"/>
                </a:solidFill>
                <a:latin typeface="Times New Roman"/>
              </a:rPr>
              <a:t>la base en SQL Server con migraciones versionadas</a:t>
            </a:r>
          </a:p>
        </p:txBody>
      </p:sp>
      <p:sp>
        <p:nvSpPr>
          <p:cNvPr id="52" name="Rounded Rectangle 51"/>
          <p:cNvSpPr/>
          <p:nvPr/>
        </p:nvSpPr>
        <p:spPr>
          <a:xfrm>
            <a:off x="12097512" y="5440680"/>
            <a:ext cx="2651760" cy="352516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2280392" y="5563651"/>
            <a:ext cx="2286000" cy="3279227"/>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5. Desarrollar</a:t>
            </a:r>
          </a:p>
          <a:p>
            <a:pPr algn="l">
              <a:spcAft>
                <a:spcPts val="500"/>
              </a:spcAft>
            </a:pPr>
            <a:r>
              <a:rPr sz="2200" b="0" i="0">
                <a:solidFill>
                  <a:srgbClr val="1E1E1E"/>
                </a:solidFill>
                <a:latin typeface="Times New Roman"/>
              </a:rPr>
              <a:t>la interfaz por rol conectada a la API con Entra ID</a:t>
            </a:r>
          </a:p>
        </p:txBody>
      </p:sp>
      <p:sp>
        <p:nvSpPr>
          <p:cNvPr id="54" name="Rounded Rectangle 53"/>
          <p:cNvSpPr/>
          <p:nvPr/>
        </p:nvSpPr>
        <p:spPr>
          <a:xfrm>
            <a:off x="14950440" y="5440680"/>
            <a:ext cx="2651760" cy="352516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133320" y="5563651"/>
            <a:ext cx="2286000" cy="3279227"/>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6. Verificar</a:t>
            </a:r>
          </a:p>
          <a:p>
            <a:pPr algn="l">
              <a:spcAft>
                <a:spcPts val="500"/>
              </a:spcAft>
            </a:pPr>
            <a:r>
              <a:rPr sz="2200" b="0" i="0">
                <a:solidFill>
                  <a:srgbClr val="1E1E1E"/>
                </a:solidFill>
                <a:latin typeface="Times New Roman"/>
              </a:rPr>
              <a:t>consistencia, seguridad y trazabilidad con pruebas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3. Descripción del sistema</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5</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685800" y="3063240"/>
            <a:ext cx="8229600" cy="655845"/>
          </a:xfrm>
          <a:prstGeom prst="roundRect">
            <a:avLst>
              <a:gd name="adj" fmla="val 12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3063240"/>
            <a:ext cx="8229600" cy="655845"/>
          </a:xfrm>
          <a:prstGeom prst="rect">
            <a:avLst/>
          </a:prstGeom>
          <a:noFill/>
        </p:spPr>
        <p:txBody>
          <a:bodyPr wrap="square" anchor="ctr" lIns="45720" rIns="45720">
            <a:spAutoFit/>
          </a:bodyPr>
          <a:lstStyle/>
          <a:p>
            <a:pPr algn="ctr">
              <a:spcAft>
                <a:spcPts val="0"/>
              </a:spcAft>
            </a:pPr>
            <a:r>
              <a:rPr sz="2900" b="0" i="0">
                <a:solidFill>
                  <a:srgbClr val="FFFFFF"/>
                </a:solidFill>
                <a:latin typeface="Times New Roman"/>
              </a:rPr>
              <a:t>Actores del sistema</a:t>
            </a:r>
          </a:p>
        </p:txBody>
      </p:sp>
      <p:sp>
        <p:nvSpPr>
          <p:cNvPr id="42" name="Rounded Rectangle 41"/>
          <p:cNvSpPr/>
          <p:nvPr/>
        </p:nvSpPr>
        <p:spPr>
          <a:xfrm>
            <a:off x="685800" y="3842056"/>
            <a:ext cx="8229600" cy="1188720"/>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3965027"/>
            <a:ext cx="7863840" cy="942777"/>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Administrador</a:t>
            </a:r>
          </a:p>
          <a:p>
            <a:pPr algn="l">
              <a:spcAft>
                <a:spcPts val="500"/>
              </a:spcAft>
            </a:pPr>
            <a:r>
              <a:rPr sz="2000" b="0" i="0">
                <a:solidFill>
                  <a:srgbClr val="1E1E1E"/>
                </a:solidFill>
                <a:latin typeface="Times New Roman"/>
              </a:rPr>
              <a:t>Catálogo, proveedores, compras, entradas y salidas, reportes e historial completo.</a:t>
            </a:r>
          </a:p>
        </p:txBody>
      </p:sp>
      <p:sp>
        <p:nvSpPr>
          <p:cNvPr id="44" name="Rounded Rectangle 43"/>
          <p:cNvSpPr/>
          <p:nvPr/>
        </p:nvSpPr>
        <p:spPr>
          <a:xfrm>
            <a:off x="685800" y="5137351"/>
            <a:ext cx="8229600" cy="1188720"/>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5260322"/>
            <a:ext cx="7863840" cy="942777"/>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Mecánico</a:t>
            </a:r>
          </a:p>
          <a:p>
            <a:pPr algn="l">
              <a:spcAft>
                <a:spcPts val="500"/>
              </a:spcAft>
            </a:pPr>
            <a:r>
              <a:rPr sz="2000" b="0" i="0">
                <a:solidFill>
                  <a:srgbClr val="1E1E1E"/>
                </a:solidFill>
                <a:latin typeface="Times New Roman"/>
              </a:rPr>
              <a:t>Consulta el stock sin precios, registra salidas y ve solo su propio historial.</a:t>
            </a:r>
          </a:p>
        </p:txBody>
      </p:sp>
      <p:sp>
        <p:nvSpPr>
          <p:cNvPr id="46" name="Rounded Rectangle 45"/>
          <p:cNvSpPr/>
          <p:nvPr/>
        </p:nvSpPr>
        <p:spPr>
          <a:xfrm>
            <a:off x="685800" y="6432646"/>
            <a:ext cx="8229600" cy="1188720"/>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8680" y="6555617"/>
            <a:ext cx="7863840" cy="942777"/>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Proveedor de repuestos</a:t>
            </a:r>
          </a:p>
          <a:p>
            <a:pPr algn="l">
              <a:spcAft>
                <a:spcPts val="500"/>
              </a:spcAft>
            </a:pPr>
            <a:r>
              <a:rPr sz="2000" b="0" i="0">
                <a:solidFill>
                  <a:srgbClr val="1E1E1E"/>
                </a:solidFill>
                <a:latin typeface="Times New Roman"/>
              </a:rPr>
              <a:t>Contacto externo; recibe los avisos de reposición y no inicia sesión.</a:t>
            </a:r>
          </a:p>
        </p:txBody>
      </p:sp>
      <p:sp>
        <p:nvSpPr>
          <p:cNvPr id="48" name="Rounded Rectangle 47"/>
          <p:cNvSpPr/>
          <p:nvPr/>
        </p:nvSpPr>
        <p:spPr>
          <a:xfrm>
            <a:off x="685800" y="7727941"/>
            <a:ext cx="8229600" cy="1188720"/>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 y="7850912"/>
            <a:ext cx="7863840" cy="942777"/>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Microsoft Entra ID</a:t>
            </a:r>
          </a:p>
          <a:p>
            <a:pPr algn="l">
              <a:spcAft>
                <a:spcPts val="500"/>
              </a:spcAft>
            </a:pPr>
            <a:r>
              <a:rPr sz="2000" b="0" i="0">
                <a:solidFill>
                  <a:srgbClr val="1E1E1E"/>
                </a:solidFill>
                <a:latin typeface="Times New Roman"/>
              </a:rPr>
              <a:t>Autentica a los empleados y emite el token con su rol de aplicación.</a:t>
            </a:r>
          </a:p>
        </p:txBody>
      </p:sp>
      <p:sp>
        <p:nvSpPr>
          <p:cNvPr id="50" name="Rounded Rectangle 49"/>
          <p:cNvSpPr/>
          <p:nvPr/>
        </p:nvSpPr>
        <p:spPr>
          <a:xfrm>
            <a:off x="9372600" y="3063240"/>
            <a:ext cx="8229600" cy="655845"/>
          </a:xfrm>
          <a:prstGeom prst="roundRect">
            <a:avLst>
              <a:gd name="adj" fmla="val 12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372600" y="3063240"/>
            <a:ext cx="8229600" cy="655845"/>
          </a:xfrm>
          <a:prstGeom prst="rect">
            <a:avLst/>
          </a:prstGeom>
          <a:noFill/>
        </p:spPr>
        <p:txBody>
          <a:bodyPr wrap="square" anchor="ctr" lIns="45720" rIns="45720">
            <a:spAutoFit/>
          </a:bodyPr>
          <a:lstStyle/>
          <a:p>
            <a:pPr algn="ctr">
              <a:spcAft>
                <a:spcPts val="0"/>
              </a:spcAft>
            </a:pPr>
            <a:r>
              <a:rPr sz="2900" b="0" i="0">
                <a:solidFill>
                  <a:srgbClr val="FFFFFF"/>
                </a:solidFill>
                <a:latin typeface="Times New Roman"/>
              </a:rPr>
              <a:t>Alcance</a:t>
            </a:r>
          </a:p>
        </p:txBody>
      </p:sp>
      <p:sp>
        <p:nvSpPr>
          <p:cNvPr id="52" name="Rounded Rectangle 51"/>
          <p:cNvSpPr/>
          <p:nvPr/>
        </p:nvSpPr>
        <p:spPr>
          <a:xfrm>
            <a:off x="9372600" y="3842056"/>
            <a:ext cx="8229600" cy="295130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555480" y="3965027"/>
            <a:ext cx="7863840" cy="2705362"/>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Dentro del alcance</a:t>
            </a:r>
          </a:p>
          <a:p>
            <a:pPr algn="l" marL="256032" indent="-219456">
              <a:spcAft>
                <a:spcPts val="500"/>
              </a:spcAft>
              <a:buChar char="•"/>
            </a:pPr>
            <a:r>
              <a:rPr sz="2200" b="0" i="0">
                <a:solidFill>
                  <a:srgbClr val="1E1E1E"/>
                </a:solidFill>
                <a:latin typeface="Times New Roman"/>
              </a:rPr>
              <a:t>Autenticación y roles</a:t>
            </a:r>
          </a:p>
          <a:p>
            <a:pPr algn="l" marL="256032" indent="-219456">
              <a:spcAft>
                <a:spcPts val="500"/>
              </a:spcAft>
              <a:buChar char="•"/>
            </a:pPr>
            <a:r>
              <a:rPr sz="2200" b="0" i="0">
                <a:solidFill>
                  <a:srgbClr val="1E1E1E"/>
                </a:solidFill>
                <a:latin typeface="Times New Roman"/>
              </a:rPr>
              <a:t>Categorías, productos y proveedores</a:t>
            </a:r>
          </a:p>
          <a:p>
            <a:pPr algn="l" marL="256032" indent="-219456">
              <a:spcAft>
                <a:spcPts val="500"/>
              </a:spcAft>
              <a:buChar char="•"/>
            </a:pPr>
            <a:r>
              <a:rPr sz="2200" b="0" i="0">
                <a:solidFill>
                  <a:srgbClr val="1E1E1E"/>
                </a:solidFill>
                <a:latin typeface="Times New Roman"/>
              </a:rPr>
              <a:t>Entradas y salidas con historial inmutable</a:t>
            </a:r>
          </a:p>
          <a:p>
            <a:pPr algn="l" marL="256032" indent="-219456">
              <a:spcAft>
                <a:spcPts val="500"/>
              </a:spcAft>
              <a:buChar char="•"/>
            </a:pPr>
            <a:r>
              <a:rPr sz="2200" b="0" i="0">
                <a:solidFill>
                  <a:srgbClr val="1E1E1E"/>
                </a:solidFill>
                <a:latin typeface="Times New Roman"/>
              </a:rPr>
              <a:t>Facturas de compra y adjuntos privados</a:t>
            </a:r>
          </a:p>
          <a:p>
            <a:pPr algn="l" marL="256032" indent="-219456">
              <a:spcAft>
                <a:spcPts val="500"/>
              </a:spcAft>
              <a:buChar char="•"/>
            </a:pPr>
            <a:r>
              <a:rPr sz="2200" b="0" i="0">
                <a:solidFill>
                  <a:srgbClr val="1E1E1E"/>
                </a:solidFill>
                <a:latin typeface="Times New Roman"/>
              </a:rPr>
              <a:t>Alertas de stock mínimo con aviso recuperable</a:t>
            </a:r>
          </a:p>
          <a:p>
            <a:pPr algn="l" marL="256032" indent="-219456">
              <a:spcAft>
                <a:spcPts val="500"/>
              </a:spcAft>
              <a:buChar char="•"/>
            </a:pPr>
            <a:r>
              <a:rPr sz="2200" b="0" i="0">
                <a:solidFill>
                  <a:srgbClr val="1E1E1E"/>
                </a:solidFill>
                <a:latin typeface="Times New Roman"/>
              </a:rPr>
              <a:t>Reporte PDF / Excel y auditoría</a:t>
            </a:r>
          </a:p>
        </p:txBody>
      </p:sp>
      <p:sp>
        <p:nvSpPr>
          <p:cNvPr id="54" name="Rounded Rectangle 53"/>
          <p:cNvSpPr/>
          <p:nvPr/>
        </p:nvSpPr>
        <p:spPr>
          <a:xfrm>
            <a:off x="9372600" y="6916332"/>
            <a:ext cx="8229600" cy="2090507"/>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55480" y="7039303"/>
            <a:ext cx="7863840" cy="1844565"/>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Fuera del alcance</a:t>
            </a:r>
          </a:p>
          <a:p>
            <a:pPr algn="l" marL="256032" indent="-219456">
              <a:spcAft>
                <a:spcPts val="500"/>
              </a:spcAft>
              <a:buChar char="•"/>
            </a:pPr>
            <a:r>
              <a:rPr sz="2200" b="0" i="0">
                <a:solidFill>
                  <a:srgbClr val="1E1E1E"/>
                </a:solidFill>
                <a:latin typeface="Times New Roman"/>
              </a:rPr>
              <a:t>Contabilidad, facturación a clientes, ventas y pagos</a:t>
            </a:r>
          </a:p>
          <a:p>
            <a:pPr algn="l" marL="256032" indent="-219456">
              <a:spcAft>
                <a:spcPts val="500"/>
              </a:spcAft>
              <a:buChar char="•"/>
            </a:pPr>
            <a:r>
              <a:rPr sz="2200" b="0" i="0">
                <a:solidFill>
                  <a:srgbClr val="1E1E1E"/>
                </a:solidFill>
                <a:latin typeface="Times New Roman"/>
              </a:rPr>
              <a:t>Diagnóstico de vehículos y órdenes de trabajo completas</a:t>
            </a:r>
          </a:p>
          <a:p>
            <a:pPr algn="l" marL="256032" indent="-219456">
              <a:spcAft>
                <a:spcPts val="500"/>
              </a:spcAft>
              <a:buChar char="•"/>
            </a:pPr>
            <a:r>
              <a:rPr sz="2200" b="0" i="0">
                <a:solidFill>
                  <a:srgbClr val="1E1E1E"/>
                </a:solidFill>
                <a:latin typeface="Times New Roman"/>
              </a:rPr>
              <a:t>Portal de proveedores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3. Descripción del sistema: módulos implementados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6</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685800" y="3063240"/>
            <a:ext cx="3063240" cy="176258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8680" y="3186211"/>
            <a:ext cx="2697480" cy="1516642"/>
          </a:xfrm>
          <a:prstGeom prst="rect">
            <a:avLst/>
          </a:prstGeom>
          <a:noFill/>
        </p:spPr>
        <p:txBody>
          <a:bodyPr wrap="square" anchor="t" lIns="45720" rIns="45720">
            <a:spAutoFit/>
          </a:bodyPr>
          <a:lstStyle/>
          <a:p>
            <a:pPr algn="l">
              <a:spcAft>
                <a:spcPts val="500"/>
              </a:spcAft>
            </a:pPr>
            <a:r>
              <a:rPr sz="2500" b="1" i="0">
                <a:solidFill>
                  <a:srgbClr val="1A56B0"/>
                </a:solidFill>
                <a:latin typeface="Times New Roman Bold"/>
              </a:rPr>
              <a:t>Inventario</a:t>
            </a:r>
          </a:p>
          <a:p>
            <a:pPr algn="l">
              <a:spcAft>
                <a:spcPts val="500"/>
              </a:spcAft>
            </a:pPr>
            <a:r>
              <a:rPr sz="2100" b="0" i="0">
                <a:solidFill>
                  <a:srgbClr val="1E1E1E"/>
                </a:solidFill>
                <a:latin typeface="Times New Roman"/>
              </a:rPr>
              <a:t>Entradas y salidas con bloqueo por producto e idempotencia</a:t>
            </a:r>
          </a:p>
        </p:txBody>
      </p:sp>
      <p:sp>
        <p:nvSpPr>
          <p:cNvPr id="42" name="Rounded Rectangle 41"/>
          <p:cNvSpPr/>
          <p:nvPr/>
        </p:nvSpPr>
        <p:spPr>
          <a:xfrm>
            <a:off x="3931920" y="3063240"/>
            <a:ext cx="3063240" cy="176258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14800" y="3186211"/>
            <a:ext cx="2697480" cy="1516642"/>
          </a:xfrm>
          <a:prstGeom prst="rect">
            <a:avLst/>
          </a:prstGeom>
          <a:noFill/>
        </p:spPr>
        <p:txBody>
          <a:bodyPr wrap="square" anchor="t" lIns="45720" rIns="45720">
            <a:spAutoFit/>
          </a:bodyPr>
          <a:lstStyle/>
          <a:p>
            <a:pPr algn="l">
              <a:spcAft>
                <a:spcPts val="500"/>
              </a:spcAft>
            </a:pPr>
            <a:r>
              <a:rPr sz="2500" b="1" i="0">
                <a:solidFill>
                  <a:srgbClr val="1A56B0"/>
                </a:solidFill>
                <a:latin typeface="Times New Roman Bold"/>
              </a:rPr>
              <a:t>Catálogo</a:t>
            </a:r>
          </a:p>
          <a:p>
            <a:pPr algn="l">
              <a:spcAft>
                <a:spcPts val="500"/>
              </a:spcAft>
            </a:pPr>
            <a:r>
              <a:rPr sz="2100" b="0" i="0">
                <a:solidFill>
                  <a:srgbClr val="1E1E1E"/>
                </a:solidFill>
                <a:latin typeface="Times New Roman"/>
              </a:rPr>
              <a:t>Categorías y productos con edición versionada (ETag)</a:t>
            </a:r>
          </a:p>
        </p:txBody>
      </p:sp>
      <p:sp>
        <p:nvSpPr>
          <p:cNvPr id="44" name="Rounded Rectangle 43"/>
          <p:cNvSpPr/>
          <p:nvPr/>
        </p:nvSpPr>
        <p:spPr>
          <a:xfrm>
            <a:off x="7178040" y="3063240"/>
            <a:ext cx="3063240" cy="176258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60919" y="3186211"/>
            <a:ext cx="2697480" cy="1516642"/>
          </a:xfrm>
          <a:prstGeom prst="rect">
            <a:avLst/>
          </a:prstGeom>
          <a:noFill/>
        </p:spPr>
        <p:txBody>
          <a:bodyPr wrap="square" anchor="t" lIns="45720" rIns="45720">
            <a:spAutoFit/>
          </a:bodyPr>
          <a:lstStyle/>
          <a:p>
            <a:pPr algn="l">
              <a:spcAft>
                <a:spcPts val="500"/>
              </a:spcAft>
            </a:pPr>
            <a:r>
              <a:rPr sz="2500" b="1" i="0">
                <a:solidFill>
                  <a:srgbClr val="1A56B0"/>
                </a:solidFill>
                <a:latin typeface="Times New Roman Bold"/>
              </a:rPr>
              <a:t>Proveedores</a:t>
            </a:r>
          </a:p>
          <a:p>
            <a:pPr algn="l">
              <a:spcAft>
                <a:spcPts val="500"/>
              </a:spcAft>
            </a:pPr>
            <a:r>
              <a:rPr sz="2100" b="0" i="0">
                <a:solidFill>
                  <a:srgbClr val="1E1E1E"/>
                </a:solidFill>
                <a:latin typeface="Times New Roman"/>
              </a:rPr>
              <a:t>Contactos con código único, activos o inactivos</a:t>
            </a:r>
          </a:p>
        </p:txBody>
      </p:sp>
      <p:sp>
        <p:nvSpPr>
          <p:cNvPr id="46" name="Rounded Rectangle 45"/>
          <p:cNvSpPr/>
          <p:nvPr/>
        </p:nvSpPr>
        <p:spPr>
          <a:xfrm>
            <a:off x="10424159" y="3063240"/>
            <a:ext cx="3063240" cy="176258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607039" y="3186211"/>
            <a:ext cx="2697480" cy="1516642"/>
          </a:xfrm>
          <a:prstGeom prst="rect">
            <a:avLst/>
          </a:prstGeom>
          <a:noFill/>
        </p:spPr>
        <p:txBody>
          <a:bodyPr wrap="square" anchor="t" lIns="45720" rIns="45720">
            <a:spAutoFit/>
          </a:bodyPr>
          <a:lstStyle/>
          <a:p>
            <a:pPr algn="l">
              <a:spcAft>
                <a:spcPts val="500"/>
              </a:spcAft>
            </a:pPr>
            <a:r>
              <a:rPr sz="2500" b="1" i="0">
                <a:solidFill>
                  <a:srgbClr val="1A56B0"/>
                </a:solidFill>
                <a:latin typeface="Times New Roman Bold"/>
              </a:rPr>
              <a:t>Facturas de compra</a:t>
            </a:r>
          </a:p>
          <a:p>
            <a:pPr algn="l">
              <a:spcAft>
                <a:spcPts val="500"/>
              </a:spcAft>
            </a:pPr>
            <a:r>
              <a:rPr sz="2100" b="0" i="0">
                <a:solidFill>
                  <a:srgbClr val="1E1E1E"/>
                </a:solidFill>
                <a:latin typeface="Times New Roman"/>
              </a:rPr>
              <a:t>Borrador, anulación y recepción que suma el stock</a:t>
            </a:r>
          </a:p>
        </p:txBody>
      </p:sp>
      <p:sp>
        <p:nvSpPr>
          <p:cNvPr id="48" name="Rounded Rectangle 47"/>
          <p:cNvSpPr/>
          <p:nvPr/>
        </p:nvSpPr>
        <p:spPr>
          <a:xfrm>
            <a:off x="685800" y="4989786"/>
            <a:ext cx="3063240" cy="176258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 y="5112757"/>
            <a:ext cx="2697480" cy="1516642"/>
          </a:xfrm>
          <a:prstGeom prst="rect">
            <a:avLst/>
          </a:prstGeom>
          <a:noFill/>
        </p:spPr>
        <p:txBody>
          <a:bodyPr wrap="square" anchor="t" lIns="45720" rIns="45720">
            <a:spAutoFit/>
          </a:bodyPr>
          <a:lstStyle/>
          <a:p>
            <a:pPr algn="l">
              <a:spcAft>
                <a:spcPts val="500"/>
              </a:spcAft>
            </a:pPr>
            <a:r>
              <a:rPr sz="2500" b="1" i="0">
                <a:solidFill>
                  <a:srgbClr val="1A56B0"/>
                </a:solidFill>
                <a:latin typeface="Times New Roman Bold"/>
              </a:rPr>
              <a:t>Adjuntos</a:t>
            </a:r>
          </a:p>
          <a:p>
            <a:pPr algn="l">
              <a:spcAft>
                <a:spcPts val="500"/>
              </a:spcAft>
            </a:pPr>
            <a:r>
              <a:rPr sz="2100" b="0" i="0">
                <a:solidFill>
                  <a:srgbClr val="1E1E1E"/>
                </a:solidFill>
                <a:latin typeface="Times New Roman"/>
              </a:rPr>
              <a:t>PDF, PNG o JPEG privados por factura, máximo 5 MiB</a:t>
            </a:r>
          </a:p>
        </p:txBody>
      </p:sp>
      <p:sp>
        <p:nvSpPr>
          <p:cNvPr id="50" name="Rounded Rectangle 49"/>
          <p:cNvSpPr/>
          <p:nvPr/>
        </p:nvSpPr>
        <p:spPr>
          <a:xfrm>
            <a:off x="3931920" y="4989786"/>
            <a:ext cx="3063240" cy="176258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114800" y="5112757"/>
            <a:ext cx="2697480" cy="1516642"/>
          </a:xfrm>
          <a:prstGeom prst="rect">
            <a:avLst/>
          </a:prstGeom>
          <a:noFill/>
        </p:spPr>
        <p:txBody>
          <a:bodyPr wrap="square" anchor="t" lIns="45720" rIns="45720">
            <a:spAutoFit/>
          </a:bodyPr>
          <a:lstStyle/>
          <a:p>
            <a:pPr algn="l">
              <a:spcAft>
                <a:spcPts val="500"/>
              </a:spcAft>
            </a:pPr>
            <a:r>
              <a:rPr sz="2500" b="1" i="0">
                <a:solidFill>
                  <a:srgbClr val="1A56B0"/>
                </a:solidFill>
                <a:latin typeface="Times New Roman Bold"/>
              </a:rPr>
              <a:t>Alertas</a:t>
            </a:r>
          </a:p>
          <a:p>
            <a:pPr algn="l">
              <a:spcAft>
                <a:spcPts val="500"/>
              </a:spcAft>
            </a:pPr>
            <a:r>
              <a:rPr sz="2100" b="0" i="0">
                <a:solidFill>
                  <a:srgbClr val="1E1E1E"/>
                </a:solidFill>
                <a:latin typeface="Times New Roman"/>
              </a:rPr>
              <a:t>Alerta al llegar al mínimo y tarea de aviso en el Outbox</a:t>
            </a:r>
          </a:p>
        </p:txBody>
      </p:sp>
      <p:sp>
        <p:nvSpPr>
          <p:cNvPr id="52" name="Rounded Rectangle 51"/>
          <p:cNvSpPr/>
          <p:nvPr/>
        </p:nvSpPr>
        <p:spPr>
          <a:xfrm>
            <a:off x="7178040" y="4989786"/>
            <a:ext cx="3063240" cy="176258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60919" y="5112757"/>
            <a:ext cx="2697480" cy="1516642"/>
          </a:xfrm>
          <a:prstGeom prst="rect">
            <a:avLst/>
          </a:prstGeom>
          <a:noFill/>
        </p:spPr>
        <p:txBody>
          <a:bodyPr wrap="square" anchor="t" lIns="45720" rIns="45720">
            <a:spAutoFit/>
          </a:bodyPr>
          <a:lstStyle/>
          <a:p>
            <a:pPr algn="l">
              <a:spcAft>
                <a:spcPts val="500"/>
              </a:spcAft>
            </a:pPr>
            <a:r>
              <a:rPr sz="2500" b="1" i="0">
                <a:solidFill>
                  <a:srgbClr val="1A56B0"/>
                </a:solidFill>
                <a:latin typeface="Times New Roman Bold"/>
              </a:rPr>
              <a:t>Reportes</a:t>
            </a:r>
          </a:p>
          <a:p>
            <a:pPr algn="l">
              <a:spcAft>
                <a:spcPts val="500"/>
              </a:spcAft>
            </a:pPr>
            <a:r>
              <a:rPr sz="2100" b="0" i="0">
                <a:solidFill>
                  <a:srgbClr val="1E1E1E"/>
                </a:solidFill>
                <a:latin typeface="Times New Roman"/>
              </a:rPr>
              <a:t>Inventario con filtros y exportación PDF / Excel</a:t>
            </a:r>
          </a:p>
        </p:txBody>
      </p:sp>
      <p:sp>
        <p:nvSpPr>
          <p:cNvPr id="54" name="Rounded Rectangle 53"/>
          <p:cNvSpPr/>
          <p:nvPr/>
        </p:nvSpPr>
        <p:spPr>
          <a:xfrm>
            <a:off x="10424159" y="4989786"/>
            <a:ext cx="3063240" cy="176258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607039" y="5112757"/>
            <a:ext cx="2697480" cy="1516642"/>
          </a:xfrm>
          <a:prstGeom prst="rect">
            <a:avLst/>
          </a:prstGeom>
          <a:noFill/>
        </p:spPr>
        <p:txBody>
          <a:bodyPr wrap="square" anchor="t" lIns="45720" rIns="45720">
            <a:spAutoFit/>
          </a:bodyPr>
          <a:lstStyle/>
          <a:p>
            <a:pPr algn="l">
              <a:spcAft>
                <a:spcPts val="500"/>
              </a:spcAft>
            </a:pPr>
            <a:r>
              <a:rPr sz="2500" b="1" i="0">
                <a:solidFill>
                  <a:srgbClr val="1A56B0"/>
                </a:solidFill>
                <a:latin typeface="Times New Roman Bold"/>
              </a:rPr>
              <a:t>Auditoría</a:t>
            </a:r>
          </a:p>
          <a:p>
            <a:pPr algn="l">
              <a:spcAft>
                <a:spcPts val="500"/>
              </a:spcAft>
            </a:pPr>
            <a:r>
              <a:rPr sz="2100" b="0" i="0">
                <a:solidFill>
                  <a:srgbClr val="1E1E1E"/>
                </a:solidFill>
                <a:latin typeface="Times New Roman"/>
              </a:rPr>
              <a:t>Éxitos y rechazos con usuario y request ID</a:t>
            </a:r>
          </a:p>
        </p:txBody>
      </p:sp>
      <p:sp>
        <p:nvSpPr>
          <p:cNvPr id="56" name="Rounded Rectangle 55"/>
          <p:cNvSpPr/>
          <p:nvPr/>
        </p:nvSpPr>
        <p:spPr>
          <a:xfrm>
            <a:off x="13853160" y="3063240"/>
            <a:ext cx="1783080" cy="176258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at"/>
          <p:cNvSpPr txBox="1"/>
          <p:nvPr/>
        </p:nvSpPr>
        <p:spPr>
          <a:xfrm>
            <a:off x="13853160" y="3186211"/>
            <a:ext cx="1783080" cy="969421"/>
          </a:xfrm>
          <a:prstGeom prst="rect">
            <a:avLst/>
          </a:prstGeom>
          <a:noFill/>
        </p:spPr>
        <p:txBody>
          <a:bodyPr wrap="square" anchor="ctr" lIns="45720" rIns="45720">
            <a:spAutoFit/>
          </a:bodyPr>
          <a:lstStyle/>
          <a:p>
            <a:pPr algn="ctr">
              <a:spcAft>
                <a:spcPts val="0"/>
              </a:spcAft>
            </a:pPr>
            <a:r>
              <a:rPr sz="5300" b="0" i="0">
                <a:solidFill>
                  <a:srgbClr val="1A56B0"/>
                </a:solidFill>
                <a:latin typeface="Times New Roman"/>
              </a:rPr>
              <a:t>16</a:t>
            </a:r>
          </a:p>
        </p:txBody>
      </p:sp>
      <p:sp>
        <p:nvSpPr>
          <p:cNvPr id="58" name="TextBox 57"/>
          <p:cNvSpPr txBox="1"/>
          <p:nvPr/>
        </p:nvSpPr>
        <p:spPr>
          <a:xfrm>
            <a:off x="13990320" y="4120790"/>
            <a:ext cx="1508760" cy="669782"/>
          </a:xfrm>
          <a:prstGeom prst="rect">
            <a:avLst/>
          </a:prstGeom>
          <a:noFill/>
        </p:spPr>
        <p:txBody>
          <a:bodyPr wrap="square" anchor="t" lIns="45720" rIns="45720">
            <a:spAutoFit/>
          </a:bodyPr>
          <a:lstStyle/>
          <a:p>
            <a:pPr algn="ctr">
              <a:spcAft>
                <a:spcPts val="0"/>
              </a:spcAft>
            </a:pPr>
            <a:r>
              <a:rPr sz="2000" b="0" i="0">
                <a:solidFill>
                  <a:srgbClr val="555555"/>
                </a:solidFill>
                <a:latin typeface="Times New Roman"/>
              </a:rPr>
              <a:t>RF</a:t>
            </a:r>
          </a:p>
        </p:txBody>
      </p:sp>
      <p:sp>
        <p:nvSpPr>
          <p:cNvPr id="59" name="Rounded Rectangle 58"/>
          <p:cNvSpPr/>
          <p:nvPr/>
        </p:nvSpPr>
        <p:spPr>
          <a:xfrm>
            <a:off x="15773400" y="3063240"/>
            <a:ext cx="1783080" cy="176258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at"/>
          <p:cNvSpPr txBox="1"/>
          <p:nvPr/>
        </p:nvSpPr>
        <p:spPr>
          <a:xfrm>
            <a:off x="15773400" y="3186211"/>
            <a:ext cx="1783080" cy="969421"/>
          </a:xfrm>
          <a:prstGeom prst="rect">
            <a:avLst/>
          </a:prstGeom>
          <a:noFill/>
        </p:spPr>
        <p:txBody>
          <a:bodyPr wrap="square" anchor="ctr" lIns="45720" rIns="45720">
            <a:spAutoFit/>
          </a:bodyPr>
          <a:lstStyle/>
          <a:p>
            <a:pPr algn="ctr">
              <a:spcAft>
                <a:spcPts val="0"/>
              </a:spcAft>
            </a:pPr>
            <a:r>
              <a:rPr sz="5300" b="0" i="0">
                <a:solidFill>
                  <a:srgbClr val="1A56B0"/>
                </a:solidFill>
                <a:latin typeface="Times New Roman"/>
              </a:rPr>
              <a:t>16</a:t>
            </a:r>
          </a:p>
        </p:txBody>
      </p:sp>
      <p:sp>
        <p:nvSpPr>
          <p:cNvPr id="61" name="TextBox 60"/>
          <p:cNvSpPr txBox="1"/>
          <p:nvPr/>
        </p:nvSpPr>
        <p:spPr>
          <a:xfrm>
            <a:off x="15910559" y="4120790"/>
            <a:ext cx="1508760" cy="669782"/>
          </a:xfrm>
          <a:prstGeom prst="rect">
            <a:avLst/>
          </a:prstGeom>
          <a:noFill/>
        </p:spPr>
        <p:txBody>
          <a:bodyPr wrap="square" anchor="t" lIns="45720" rIns="45720">
            <a:spAutoFit/>
          </a:bodyPr>
          <a:lstStyle/>
          <a:p>
            <a:pPr algn="ctr">
              <a:spcAft>
                <a:spcPts val="0"/>
              </a:spcAft>
            </a:pPr>
            <a:r>
              <a:rPr sz="2000" b="0" i="0">
                <a:solidFill>
                  <a:srgbClr val="555555"/>
                </a:solidFill>
                <a:latin typeface="Times New Roman"/>
              </a:rPr>
              <a:t>RNF</a:t>
            </a:r>
          </a:p>
        </p:txBody>
      </p:sp>
      <p:sp>
        <p:nvSpPr>
          <p:cNvPr id="62" name="Rounded Rectangle 61"/>
          <p:cNvSpPr/>
          <p:nvPr/>
        </p:nvSpPr>
        <p:spPr>
          <a:xfrm>
            <a:off x="13853160" y="4989786"/>
            <a:ext cx="1783080" cy="176258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at"/>
          <p:cNvSpPr txBox="1"/>
          <p:nvPr/>
        </p:nvSpPr>
        <p:spPr>
          <a:xfrm>
            <a:off x="13853160" y="5112757"/>
            <a:ext cx="1783080" cy="969421"/>
          </a:xfrm>
          <a:prstGeom prst="rect">
            <a:avLst/>
          </a:prstGeom>
          <a:noFill/>
        </p:spPr>
        <p:txBody>
          <a:bodyPr wrap="square" anchor="ctr" lIns="45720" rIns="45720">
            <a:spAutoFit/>
          </a:bodyPr>
          <a:lstStyle/>
          <a:p>
            <a:pPr algn="ctr">
              <a:spcAft>
                <a:spcPts val="0"/>
              </a:spcAft>
            </a:pPr>
            <a:r>
              <a:rPr sz="5300" b="0" i="0">
                <a:solidFill>
                  <a:srgbClr val="1A56B0"/>
                </a:solidFill>
                <a:latin typeface="Times New Roman"/>
              </a:rPr>
              <a:t>12</a:t>
            </a:r>
          </a:p>
        </p:txBody>
      </p:sp>
      <p:sp>
        <p:nvSpPr>
          <p:cNvPr id="64" name="TextBox 63"/>
          <p:cNvSpPr txBox="1"/>
          <p:nvPr/>
        </p:nvSpPr>
        <p:spPr>
          <a:xfrm>
            <a:off x="13990320" y="6047337"/>
            <a:ext cx="1508760" cy="669782"/>
          </a:xfrm>
          <a:prstGeom prst="rect">
            <a:avLst/>
          </a:prstGeom>
          <a:noFill/>
        </p:spPr>
        <p:txBody>
          <a:bodyPr wrap="square" anchor="t" lIns="45720" rIns="45720">
            <a:spAutoFit/>
          </a:bodyPr>
          <a:lstStyle/>
          <a:p>
            <a:pPr algn="ctr">
              <a:spcAft>
                <a:spcPts val="0"/>
              </a:spcAft>
            </a:pPr>
            <a:r>
              <a:rPr sz="2000" b="0" i="0">
                <a:solidFill>
                  <a:srgbClr val="555555"/>
                </a:solidFill>
                <a:latin typeface="Times New Roman"/>
              </a:rPr>
              <a:t>tablas</a:t>
            </a:r>
          </a:p>
        </p:txBody>
      </p:sp>
      <p:sp>
        <p:nvSpPr>
          <p:cNvPr id="65" name="Rounded Rectangle 64"/>
          <p:cNvSpPr/>
          <p:nvPr/>
        </p:nvSpPr>
        <p:spPr>
          <a:xfrm>
            <a:off x="15773400" y="4989786"/>
            <a:ext cx="1783080" cy="176258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at"/>
          <p:cNvSpPr txBox="1"/>
          <p:nvPr/>
        </p:nvSpPr>
        <p:spPr>
          <a:xfrm>
            <a:off x="15773400" y="5112757"/>
            <a:ext cx="1783080" cy="969421"/>
          </a:xfrm>
          <a:prstGeom prst="rect">
            <a:avLst/>
          </a:prstGeom>
          <a:noFill/>
        </p:spPr>
        <p:txBody>
          <a:bodyPr wrap="square" anchor="ctr" lIns="45720" rIns="45720">
            <a:spAutoFit/>
          </a:bodyPr>
          <a:lstStyle/>
          <a:p>
            <a:pPr algn="ctr">
              <a:spcAft>
                <a:spcPts val="0"/>
              </a:spcAft>
            </a:pPr>
            <a:r>
              <a:rPr sz="5300" b="0" i="0">
                <a:solidFill>
                  <a:srgbClr val="1A56B0"/>
                </a:solidFill>
                <a:latin typeface="Times New Roman"/>
              </a:rPr>
              <a:t>232</a:t>
            </a:r>
          </a:p>
        </p:txBody>
      </p:sp>
      <p:sp>
        <p:nvSpPr>
          <p:cNvPr id="67" name="TextBox 66"/>
          <p:cNvSpPr txBox="1"/>
          <p:nvPr/>
        </p:nvSpPr>
        <p:spPr>
          <a:xfrm>
            <a:off x="15910559" y="6047337"/>
            <a:ext cx="1508760" cy="669782"/>
          </a:xfrm>
          <a:prstGeom prst="rect">
            <a:avLst/>
          </a:prstGeom>
          <a:noFill/>
        </p:spPr>
        <p:txBody>
          <a:bodyPr wrap="square" anchor="t" lIns="45720" rIns="45720">
            <a:spAutoFit/>
          </a:bodyPr>
          <a:lstStyle/>
          <a:p>
            <a:pPr algn="ctr">
              <a:spcAft>
                <a:spcPts val="0"/>
              </a:spcAft>
            </a:pPr>
            <a:r>
              <a:rPr sz="2000" b="0" i="0">
                <a:solidFill>
                  <a:srgbClr val="555555"/>
                </a:solidFill>
                <a:latin typeface="Times New Roman"/>
              </a:rPr>
              <a:t>pruebas</a:t>
            </a:r>
          </a:p>
        </p:txBody>
      </p:sp>
      <p:sp>
        <p:nvSpPr>
          <p:cNvPr id="68" name="TextBox 67"/>
          <p:cNvSpPr txBox="1"/>
          <p:nvPr/>
        </p:nvSpPr>
        <p:spPr>
          <a:xfrm>
            <a:off x="685800" y="7039303"/>
            <a:ext cx="16916400" cy="1803575"/>
          </a:xfrm>
          <a:prstGeom prst="rect">
            <a:avLst/>
          </a:prstGeom>
          <a:noFill/>
        </p:spPr>
        <p:txBody>
          <a:bodyPr wrap="square" anchor="t" lIns="45720" rIns="45720">
            <a:spAutoFit/>
          </a:bodyPr>
          <a:lstStyle/>
          <a:p>
            <a:pPr algn="l">
              <a:spcAft>
                <a:spcPts val="600"/>
              </a:spcAft>
            </a:pPr>
            <a:r>
              <a:rPr sz="2400" b="1" i="0">
                <a:solidFill>
                  <a:srgbClr val="1E1E1E"/>
                </a:solidFill>
                <a:latin typeface="Times New Roman Bold"/>
              </a:rPr>
              <a:t>Estado:</a:t>
            </a:r>
            <a:r>
              <a:rPr sz="2400" b="0" i="0">
                <a:solidFill>
                  <a:srgbClr val="1E1E1E"/>
                </a:solidFill>
                <a:latin typeface="Times New Roman"/>
              </a:rPr>
              <a:t> backend, base de datos e interfaz implementados y verificados en local con SQL Server 2019. Docker, GitHub Actions y la conexión a Azure SQL quedan preparados; el correo real, Blob Storage y el kardex exportable están pendientes.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4. Requerimientos funcionales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7</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graphicFrame>
        <p:nvGraphicFramePr>
          <p:cNvPr id="40" name="Table 39"/>
          <p:cNvGraphicFramePr>
            <a:graphicFrameLocks noGrp="1"/>
          </p:cNvGraphicFramePr>
          <p:nvPr/>
        </p:nvGraphicFramePr>
        <p:xfrm>
          <a:off x="685800" y="3145220"/>
          <a:ext cx="16916398" cy="5312340"/>
        </p:xfrm>
        <a:graphic>
          <a:graphicData uri="http://schemas.openxmlformats.org/drawingml/2006/table">
            <a:tbl>
              <a:tblPr firstRow="1" bandRow="1">
                <a:tableStyleId>{5C22544A-7EE6-4342-B048-85BDC9FD1C3A}</a:tableStyleId>
              </a:tblPr>
              <a:tblGrid>
                <a:gridCol w="1265853"/>
                <a:gridCol w="4142791"/>
                <a:gridCol w="2186473"/>
                <a:gridCol w="1265853"/>
                <a:gridCol w="5063412"/>
                <a:gridCol w="2992016"/>
              </a:tblGrid>
              <a:tr h="590260">
                <a:tc>
                  <a:txBody>
                    <a:bodyPr wrap="square"/>
                    <a:lstStyle/>
                    <a:p>
                      <a:r>
                        <a:rPr sz="2200" b="1" i="0">
                          <a:solidFill>
                            <a:srgbClr val="FFFFFF"/>
                          </a:solidFill>
                          <a:latin typeface="Times New Roman Bold"/>
                        </a:rPr>
                        <a:t>ID</a:t>
                      </a:r>
                    </a:p>
                  </a:txBody>
                  <a:tcPr marL="73152" marR="73152" marT="27432" marB="27432" anchor="ctr">
                    <a:solidFill>
                      <a:srgbClr val="4285F4"/>
                    </a:solidFill>
                  </a:tcPr>
                </a:tc>
                <a:tc>
                  <a:txBody>
                    <a:bodyPr wrap="square"/>
                    <a:lstStyle/>
                    <a:p>
                      <a:r>
                        <a:rPr sz="2200" b="1" i="0">
                          <a:solidFill>
                            <a:srgbClr val="FFFFFF"/>
                          </a:solidFill>
                          <a:latin typeface="Times New Roman Bold"/>
                        </a:rPr>
                        <a:t>Requerimiento</a:t>
                      </a:r>
                    </a:p>
                  </a:txBody>
                  <a:tcPr marL="73152" marR="73152" marT="27432" marB="27432" anchor="ctr">
                    <a:solidFill>
                      <a:srgbClr val="4285F4"/>
                    </a:solidFill>
                  </a:tcPr>
                </a:tc>
                <a:tc>
                  <a:txBody>
                    <a:bodyPr wrap="square"/>
                    <a:lstStyle/>
                    <a:p>
                      <a:r>
                        <a:rPr sz="2200" b="1" i="0">
                          <a:solidFill>
                            <a:srgbClr val="FFFFFF"/>
                          </a:solidFill>
                          <a:latin typeface="Times New Roman Bold"/>
                        </a:rPr>
                        <a:t>Estado</a:t>
                      </a:r>
                    </a:p>
                  </a:txBody>
                  <a:tcPr marL="73152" marR="73152" marT="27432" marB="27432" anchor="ctr">
                    <a:solidFill>
                      <a:srgbClr val="4285F4"/>
                    </a:solidFill>
                  </a:tcPr>
                </a:tc>
                <a:tc>
                  <a:txBody>
                    <a:bodyPr wrap="square"/>
                    <a:lstStyle/>
                    <a:p>
                      <a:r>
                        <a:rPr sz="2200" b="1" i="0">
                          <a:solidFill>
                            <a:srgbClr val="FFFFFF"/>
                          </a:solidFill>
                          <a:latin typeface="Times New Roman Bold"/>
                        </a:rPr>
                        <a:t>ID</a:t>
                      </a:r>
                    </a:p>
                  </a:txBody>
                  <a:tcPr marL="73152" marR="73152" marT="27432" marB="27432" anchor="ctr">
                    <a:solidFill>
                      <a:srgbClr val="4285F4"/>
                    </a:solidFill>
                  </a:tcPr>
                </a:tc>
                <a:tc>
                  <a:txBody>
                    <a:bodyPr wrap="square"/>
                    <a:lstStyle/>
                    <a:p>
                      <a:r>
                        <a:rPr sz="2200" b="1" i="0">
                          <a:solidFill>
                            <a:srgbClr val="FFFFFF"/>
                          </a:solidFill>
                          <a:latin typeface="Times New Roman Bold"/>
                        </a:rPr>
                        <a:t>Requerimiento</a:t>
                      </a:r>
                    </a:p>
                  </a:txBody>
                  <a:tcPr marL="73152" marR="73152" marT="27432" marB="27432" anchor="ctr">
                    <a:solidFill>
                      <a:srgbClr val="4285F4"/>
                    </a:solidFill>
                  </a:tcPr>
                </a:tc>
                <a:tc>
                  <a:txBody>
                    <a:bodyPr wrap="square"/>
                    <a:lstStyle/>
                    <a:p>
                      <a:r>
                        <a:rPr sz="2200" b="1" i="0">
                          <a:solidFill>
                            <a:srgbClr val="FFFFFF"/>
                          </a:solidFill>
                          <a:latin typeface="Times New Roman Bold"/>
                        </a:rPr>
                        <a:t>Estado</a:t>
                      </a:r>
                    </a:p>
                  </a:txBody>
                  <a:tcPr marL="73152" marR="73152" marT="27432" marB="27432" anchor="ctr">
                    <a:solidFill>
                      <a:srgbClr val="4285F4"/>
                    </a:solidFill>
                  </a:tcPr>
                </a:tc>
              </a:tr>
              <a:tr h="590260">
                <a:tc>
                  <a:txBody>
                    <a:bodyPr wrap="square"/>
                    <a:lstStyle/>
                    <a:p>
                      <a:r>
                        <a:rPr sz="2100" b="0" i="0">
                          <a:solidFill>
                            <a:srgbClr val="1E1E1E"/>
                          </a:solidFill>
                          <a:latin typeface="Times New Roman"/>
                        </a:rPr>
                        <a:t>RF-01</a:t>
                      </a:r>
                    </a:p>
                  </a:txBody>
                  <a:tcPr marL="73152" marR="73152" marT="27432" marB="27432" anchor="ctr">
                    <a:solidFill>
                      <a:srgbClr val="F2F6FC"/>
                    </a:solidFill>
                  </a:tcPr>
                </a:tc>
                <a:tc>
                  <a:txBody>
                    <a:bodyPr wrap="square"/>
                    <a:lstStyle/>
                    <a:p>
                      <a:r>
                        <a:rPr sz="2100" b="0" i="0">
                          <a:solidFill>
                            <a:srgbClr val="1E1E1E"/>
                          </a:solidFill>
                          <a:latin typeface="Times New Roman"/>
                        </a:rPr>
                        <a:t>Inicio de sesión con Entra ID</a:t>
                      </a:r>
                    </a:p>
                  </a:txBody>
                  <a:tcPr marL="73152" marR="73152" marT="27432" marB="27432" anchor="ctr">
                    <a:solidFill>
                      <a:srgbClr val="F2F6FC"/>
                    </a:solidFill>
                  </a:tcPr>
                </a:tc>
                <a:tc>
                  <a:txBody>
                    <a:bodyPr wrap="square"/>
                    <a:lstStyle/>
                    <a:p>
                      <a:r>
                        <a:rPr sz="2100" b="0" i="0">
                          <a:solidFill>
                            <a:srgbClr val="2D7A2D"/>
                          </a:solidFill>
                          <a:latin typeface="Times New Roman"/>
                        </a:rPr>
                        <a:t>Implementado</a:t>
                      </a:r>
                    </a:p>
                  </a:txBody>
                  <a:tcPr marL="73152" marR="73152" marT="27432" marB="27432" anchor="ctr">
                    <a:solidFill>
                      <a:srgbClr val="F2F6FC"/>
                    </a:solidFill>
                  </a:tcPr>
                </a:tc>
                <a:tc>
                  <a:txBody>
                    <a:bodyPr wrap="square"/>
                    <a:lstStyle/>
                    <a:p>
                      <a:r>
                        <a:rPr sz="2100" b="0" i="0">
                          <a:solidFill>
                            <a:srgbClr val="1E1E1E"/>
                          </a:solidFill>
                          <a:latin typeface="Times New Roman"/>
                        </a:rPr>
                        <a:t>RF-09</a:t>
                      </a:r>
                    </a:p>
                  </a:txBody>
                  <a:tcPr marL="73152" marR="73152" marT="27432" marB="27432" anchor="ctr">
                    <a:solidFill>
                      <a:srgbClr val="F2F6FC"/>
                    </a:solidFill>
                  </a:tcPr>
                </a:tc>
                <a:tc>
                  <a:txBody>
                    <a:bodyPr wrap="square"/>
                    <a:lstStyle/>
                    <a:p>
                      <a:r>
                        <a:rPr sz="2100" b="0" i="0">
                          <a:solidFill>
                            <a:srgbClr val="1E1E1E"/>
                          </a:solidFill>
                          <a:latin typeface="Times New Roman"/>
                        </a:rPr>
                        <a:t>Stock consistente (sin negativos ni duplicados)</a:t>
                      </a:r>
                    </a:p>
                  </a:txBody>
                  <a:tcPr marL="73152" marR="73152" marT="27432" marB="27432" anchor="ctr">
                    <a:solidFill>
                      <a:srgbClr val="F2F6FC"/>
                    </a:solidFill>
                  </a:tcPr>
                </a:tc>
                <a:tc>
                  <a:txBody>
                    <a:bodyPr wrap="square"/>
                    <a:lstStyle/>
                    <a:p>
                      <a:r>
                        <a:rPr sz="2100" b="0" i="0">
                          <a:solidFill>
                            <a:srgbClr val="2D7A2D"/>
                          </a:solidFill>
                          <a:latin typeface="Times New Roman"/>
                        </a:rPr>
                        <a:t>Implementado</a:t>
                      </a:r>
                    </a:p>
                  </a:txBody>
                  <a:tcPr marL="73152" marR="73152" marT="27432" marB="27432" anchor="ctr">
                    <a:solidFill>
                      <a:srgbClr val="F2F6FC"/>
                    </a:solidFill>
                  </a:tcPr>
                </a:tc>
              </a:tr>
              <a:tr h="590260">
                <a:tc>
                  <a:txBody>
                    <a:bodyPr wrap="square"/>
                    <a:lstStyle/>
                    <a:p>
                      <a:r>
                        <a:rPr sz="2100" b="0" i="0">
                          <a:solidFill>
                            <a:srgbClr val="1E1E1E"/>
                          </a:solidFill>
                          <a:latin typeface="Times New Roman"/>
                        </a:rPr>
                        <a:t>RF-02</a:t>
                      </a:r>
                    </a:p>
                  </a:txBody>
                  <a:tcPr marL="73152" marR="73152" marT="27432" marB="27432" anchor="ctr">
                    <a:solidFill>
                      <a:srgbClr val="FFFFFF"/>
                    </a:solidFill>
                  </a:tcPr>
                </a:tc>
                <a:tc>
                  <a:txBody>
                    <a:bodyPr wrap="square"/>
                    <a:lstStyle/>
                    <a:p>
                      <a:r>
                        <a:rPr sz="2100" b="0" i="0">
                          <a:solidFill>
                            <a:srgbClr val="1E1E1E"/>
                          </a:solidFill>
                          <a:latin typeface="Times New Roman"/>
                        </a:rPr>
                        <a:t>Diferenciación de roles</a:t>
                      </a:r>
                    </a:p>
                  </a:txBody>
                  <a:tcPr marL="73152" marR="73152" marT="27432" marB="27432" anchor="ctr">
                    <a:solidFill>
                      <a:srgbClr val="FFFFFF"/>
                    </a:solidFill>
                  </a:tcPr>
                </a:tc>
                <a:tc>
                  <a:txBody>
                    <a:bodyPr wrap="square"/>
                    <a:lstStyle/>
                    <a:p>
                      <a:r>
                        <a:rPr sz="2100" b="0" i="0">
                          <a:solidFill>
                            <a:srgbClr val="2D7A2D"/>
                          </a:solidFill>
                          <a:latin typeface="Times New Roman"/>
                        </a:rPr>
                        <a:t>Implementado</a:t>
                      </a:r>
                    </a:p>
                  </a:txBody>
                  <a:tcPr marL="73152" marR="73152" marT="27432" marB="27432" anchor="ctr">
                    <a:solidFill>
                      <a:srgbClr val="FFFFFF"/>
                    </a:solidFill>
                  </a:tcPr>
                </a:tc>
                <a:tc>
                  <a:txBody>
                    <a:bodyPr wrap="square"/>
                    <a:lstStyle/>
                    <a:p>
                      <a:r>
                        <a:rPr sz="2100" b="0" i="0">
                          <a:solidFill>
                            <a:srgbClr val="1E1E1E"/>
                          </a:solidFill>
                          <a:latin typeface="Times New Roman"/>
                        </a:rPr>
                        <a:t>RF-10</a:t>
                      </a:r>
                    </a:p>
                  </a:txBody>
                  <a:tcPr marL="73152" marR="73152" marT="27432" marB="27432" anchor="ctr">
                    <a:solidFill>
                      <a:srgbClr val="FFFFFF"/>
                    </a:solidFill>
                  </a:tcPr>
                </a:tc>
                <a:tc>
                  <a:txBody>
                    <a:bodyPr wrap="square"/>
                    <a:lstStyle/>
                    <a:p>
                      <a:r>
                        <a:rPr sz="2100" b="0" i="0">
                          <a:solidFill>
                            <a:srgbClr val="1E1E1E"/>
                          </a:solidFill>
                          <a:latin typeface="Times New Roman"/>
                        </a:rPr>
                        <a:t>Trazabilidad de movimientos</a:t>
                      </a:r>
                    </a:p>
                  </a:txBody>
                  <a:tcPr marL="73152" marR="73152" marT="27432" marB="27432" anchor="ctr">
                    <a:solidFill>
                      <a:srgbClr val="FFFFFF"/>
                    </a:solidFill>
                  </a:tcPr>
                </a:tc>
                <a:tc>
                  <a:txBody>
                    <a:bodyPr wrap="square"/>
                    <a:lstStyle/>
                    <a:p>
                      <a:r>
                        <a:rPr sz="2100" b="0" i="0">
                          <a:solidFill>
                            <a:srgbClr val="2D7A2D"/>
                          </a:solidFill>
                          <a:latin typeface="Times New Roman"/>
                        </a:rPr>
                        <a:t>Implementado</a:t>
                      </a:r>
                    </a:p>
                  </a:txBody>
                  <a:tcPr marL="73152" marR="73152" marT="27432" marB="27432" anchor="ctr">
                    <a:solidFill>
                      <a:srgbClr val="FFFFFF"/>
                    </a:solidFill>
                  </a:tcPr>
                </a:tc>
              </a:tr>
              <a:tr h="590260">
                <a:tc>
                  <a:txBody>
                    <a:bodyPr wrap="square"/>
                    <a:lstStyle/>
                    <a:p>
                      <a:r>
                        <a:rPr sz="2100" b="0" i="0">
                          <a:solidFill>
                            <a:srgbClr val="1E1E1E"/>
                          </a:solidFill>
                          <a:latin typeface="Times New Roman"/>
                        </a:rPr>
                        <a:t>RF-03</a:t>
                      </a:r>
                    </a:p>
                  </a:txBody>
                  <a:tcPr marL="73152" marR="73152" marT="27432" marB="27432" anchor="ctr">
                    <a:solidFill>
                      <a:srgbClr val="F2F6FC"/>
                    </a:solidFill>
                  </a:tcPr>
                </a:tc>
                <a:tc>
                  <a:txBody>
                    <a:bodyPr wrap="square"/>
                    <a:lstStyle/>
                    <a:p>
                      <a:r>
                        <a:rPr sz="2100" b="0" i="0">
                          <a:solidFill>
                            <a:srgbClr val="1E1E1E"/>
                          </a:solidFill>
                          <a:latin typeface="Times New Roman"/>
                        </a:rPr>
                        <a:t>Restricción de acciones por rol</a:t>
                      </a:r>
                    </a:p>
                  </a:txBody>
                  <a:tcPr marL="73152" marR="73152" marT="27432" marB="27432" anchor="ctr">
                    <a:solidFill>
                      <a:srgbClr val="F2F6FC"/>
                    </a:solidFill>
                  </a:tcPr>
                </a:tc>
                <a:tc>
                  <a:txBody>
                    <a:bodyPr wrap="square"/>
                    <a:lstStyle/>
                    <a:p>
                      <a:r>
                        <a:rPr sz="2100" b="0" i="0">
                          <a:solidFill>
                            <a:srgbClr val="2D7A2D"/>
                          </a:solidFill>
                          <a:latin typeface="Times New Roman"/>
                        </a:rPr>
                        <a:t>Implementado</a:t>
                      </a:r>
                    </a:p>
                  </a:txBody>
                  <a:tcPr marL="73152" marR="73152" marT="27432" marB="27432" anchor="ctr">
                    <a:solidFill>
                      <a:srgbClr val="F2F6FC"/>
                    </a:solidFill>
                  </a:tcPr>
                </a:tc>
                <a:tc>
                  <a:txBody>
                    <a:bodyPr wrap="square"/>
                    <a:lstStyle/>
                    <a:p>
                      <a:r>
                        <a:rPr sz="2100" b="0" i="0">
                          <a:solidFill>
                            <a:srgbClr val="1E1E1E"/>
                          </a:solidFill>
                          <a:latin typeface="Times New Roman"/>
                        </a:rPr>
                        <a:t>RF-11</a:t>
                      </a:r>
                    </a:p>
                  </a:txBody>
                  <a:tcPr marL="73152" marR="73152" marT="27432" marB="27432" anchor="ctr">
                    <a:solidFill>
                      <a:srgbClr val="F2F6FC"/>
                    </a:solidFill>
                  </a:tcPr>
                </a:tc>
                <a:tc>
                  <a:txBody>
                    <a:bodyPr wrap="square"/>
                    <a:lstStyle/>
                    <a:p>
                      <a:r>
                        <a:rPr sz="2100" b="0" i="0">
                          <a:solidFill>
                            <a:srgbClr val="1E1E1E"/>
                          </a:solidFill>
                          <a:latin typeface="Times New Roman"/>
                        </a:rPr>
                        <a:t>Reporte de inventario PDF / Excel</a:t>
                      </a:r>
                    </a:p>
                  </a:txBody>
                  <a:tcPr marL="73152" marR="73152" marT="27432" marB="27432" anchor="ctr">
                    <a:solidFill>
                      <a:srgbClr val="F2F6FC"/>
                    </a:solidFill>
                  </a:tcPr>
                </a:tc>
                <a:tc>
                  <a:txBody>
                    <a:bodyPr wrap="square"/>
                    <a:lstStyle/>
                    <a:p>
                      <a:r>
                        <a:rPr sz="2100" b="0" i="0">
                          <a:solidFill>
                            <a:srgbClr val="2D7A2D"/>
                          </a:solidFill>
                          <a:latin typeface="Times New Roman"/>
                        </a:rPr>
                        <a:t>Implementado</a:t>
                      </a:r>
                    </a:p>
                  </a:txBody>
                  <a:tcPr marL="73152" marR="73152" marT="27432" marB="27432" anchor="ctr">
                    <a:solidFill>
                      <a:srgbClr val="F2F6FC"/>
                    </a:solidFill>
                  </a:tcPr>
                </a:tc>
              </a:tr>
              <a:tr h="590260">
                <a:tc>
                  <a:txBody>
                    <a:bodyPr wrap="square"/>
                    <a:lstStyle/>
                    <a:p>
                      <a:r>
                        <a:rPr sz="2100" b="0" i="0">
                          <a:solidFill>
                            <a:srgbClr val="1E1E1E"/>
                          </a:solidFill>
                          <a:latin typeface="Times New Roman"/>
                        </a:rPr>
                        <a:t>RF-04</a:t>
                      </a:r>
                    </a:p>
                  </a:txBody>
                  <a:tcPr marL="73152" marR="73152" marT="27432" marB="27432" anchor="ctr">
                    <a:solidFill>
                      <a:srgbClr val="FFFFFF"/>
                    </a:solidFill>
                  </a:tcPr>
                </a:tc>
                <a:tc>
                  <a:txBody>
                    <a:bodyPr wrap="square"/>
                    <a:lstStyle/>
                    <a:p>
                      <a:r>
                        <a:rPr sz="2100" b="0" i="0">
                          <a:solidFill>
                            <a:srgbClr val="1E1E1E"/>
                          </a:solidFill>
                          <a:latin typeface="Times New Roman"/>
                        </a:rPr>
                        <a:t>Consulta del usuario autenticado</a:t>
                      </a:r>
                    </a:p>
                  </a:txBody>
                  <a:tcPr marL="73152" marR="73152" marT="27432" marB="27432" anchor="ctr">
                    <a:solidFill>
                      <a:srgbClr val="FFFFFF"/>
                    </a:solidFill>
                  </a:tcPr>
                </a:tc>
                <a:tc>
                  <a:txBody>
                    <a:bodyPr wrap="square"/>
                    <a:lstStyle/>
                    <a:p>
                      <a:r>
                        <a:rPr sz="2100" b="0" i="0">
                          <a:solidFill>
                            <a:srgbClr val="2D7A2D"/>
                          </a:solidFill>
                          <a:latin typeface="Times New Roman"/>
                        </a:rPr>
                        <a:t>Implementado</a:t>
                      </a:r>
                    </a:p>
                  </a:txBody>
                  <a:tcPr marL="73152" marR="73152" marT="27432" marB="27432" anchor="ctr">
                    <a:solidFill>
                      <a:srgbClr val="FFFFFF"/>
                    </a:solidFill>
                  </a:tcPr>
                </a:tc>
                <a:tc>
                  <a:txBody>
                    <a:bodyPr wrap="square"/>
                    <a:lstStyle/>
                    <a:p>
                      <a:r>
                        <a:rPr sz="2100" b="0" i="0">
                          <a:solidFill>
                            <a:srgbClr val="1E1E1E"/>
                          </a:solidFill>
                          <a:latin typeface="Times New Roman"/>
                        </a:rPr>
                        <a:t>RF-12</a:t>
                      </a:r>
                    </a:p>
                  </a:txBody>
                  <a:tcPr marL="73152" marR="73152" marT="27432" marB="27432" anchor="ctr">
                    <a:solidFill>
                      <a:srgbClr val="FFFFFF"/>
                    </a:solidFill>
                  </a:tcPr>
                </a:tc>
                <a:tc>
                  <a:txBody>
                    <a:bodyPr wrap="square"/>
                    <a:lstStyle/>
                    <a:p>
                      <a:r>
                        <a:rPr sz="2100" b="0" i="0">
                          <a:solidFill>
                            <a:srgbClr val="1E1E1E"/>
                          </a:solidFill>
                          <a:latin typeface="Times New Roman"/>
                        </a:rPr>
                        <a:t>Alertas de bajo stock</a:t>
                      </a:r>
                    </a:p>
                  </a:txBody>
                  <a:tcPr marL="73152" marR="73152" marT="27432" marB="27432" anchor="ctr">
                    <a:solidFill>
                      <a:srgbClr val="FFFFFF"/>
                    </a:solidFill>
                  </a:tcPr>
                </a:tc>
                <a:tc>
                  <a:txBody>
                    <a:bodyPr wrap="square"/>
                    <a:lstStyle/>
                    <a:p>
                      <a:r>
                        <a:rPr sz="2100" b="0" i="0">
                          <a:solidFill>
                            <a:srgbClr val="2D7A2D"/>
                          </a:solidFill>
                          <a:latin typeface="Times New Roman"/>
                        </a:rPr>
                        <a:t>Implementado</a:t>
                      </a:r>
                    </a:p>
                  </a:txBody>
                  <a:tcPr marL="73152" marR="73152" marT="27432" marB="27432" anchor="ctr">
                    <a:solidFill>
                      <a:srgbClr val="FFFFFF"/>
                    </a:solidFill>
                  </a:tcPr>
                </a:tc>
              </a:tr>
              <a:tr h="590260">
                <a:tc>
                  <a:txBody>
                    <a:bodyPr wrap="square"/>
                    <a:lstStyle/>
                    <a:p>
                      <a:r>
                        <a:rPr sz="2100" b="0" i="0">
                          <a:solidFill>
                            <a:srgbClr val="1E1E1E"/>
                          </a:solidFill>
                          <a:latin typeface="Times New Roman"/>
                        </a:rPr>
                        <a:t>RF-05</a:t>
                      </a:r>
                    </a:p>
                  </a:txBody>
                  <a:tcPr marL="73152" marR="73152" marT="27432" marB="27432" anchor="ctr">
                    <a:solidFill>
                      <a:srgbClr val="F2F6FC"/>
                    </a:solidFill>
                  </a:tcPr>
                </a:tc>
                <a:tc>
                  <a:txBody>
                    <a:bodyPr wrap="square"/>
                    <a:lstStyle/>
                    <a:p>
                      <a:r>
                        <a:rPr sz="2100" b="0" i="0">
                          <a:solidFill>
                            <a:srgbClr val="1E1E1E"/>
                          </a:solidFill>
                          <a:latin typeface="Times New Roman"/>
                        </a:rPr>
                        <a:t>Gestión de productos</a:t>
                      </a:r>
                    </a:p>
                  </a:txBody>
                  <a:tcPr marL="73152" marR="73152" marT="27432" marB="27432" anchor="ctr">
                    <a:solidFill>
                      <a:srgbClr val="F2F6FC"/>
                    </a:solidFill>
                  </a:tcPr>
                </a:tc>
                <a:tc>
                  <a:txBody>
                    <a:bodyPr wrap="square"/>
                    <a:lstStyle/>
                    <a:p>
                      <a:r>
                        <a:rPr sz="2100" b="0" i="0">
                          <a:solidFill>
                            <a:srgbClr val="2D7A2D"/>
                          </a:solidFill>
                          <a:latin typeface="Times New Roman"/>
                        </a:rPr>
                        <a:t>Implementado</a:t>
                      </a:r>
                    </a:p>
                  </a:txBody>
                  <a:tcPr marL="73152" marR="73152" marT="27432" marB="27432" anchor="ctr">
                    <a:solidFill>
                      <a:srgbClr val="F2F6FC"/>
                    </a:solidFill>
                  </a:tcPr>
                </a:tc>
                <a:tc>
                  <a:txBody>
                    <a:bodyPr wrap="square"/>
                    <a:lstStyle/>
                    <a:p>
                      <a:r>
                        <a:rPr sz="2100" b="0" i="0">
                          <a:solidFill>
                            <a:srgbClr val="1E1E1E"/>
                          </a:solidFill>
                          <a:latin typeface="Times New Roman"/>
                        </a:rPr>
                        <a:t>RF-13</a:t>
                      </a:r>
                    </a:p>
                  </a:txBody>
                  <a:tcPr marL="73152" marR="73152" marT="27432" marB="27432" anchor="ctr">
                    <a:solidFill>
                      <a:srgbClr val="F2F6FC"/>
                    </a:solidFill>
                  </a:tcPr>
                </a:tc>
                <a:tc>
                  <a:txBody>
                    <a:bodyPr wrap="square"/>
                    <a:lstStyle/>
                    <a:p>
                      <a:r>
                        <a:rPr sz="2100" b="0" i="0">
                          <a:solidFill>
                            <a:srgbClr val="1E1E1E"/>
                          </a:solidFill>
                          <a:latin typeface="Times New Roman"/>
                        </a:rPr>
                        <a:t>Notificación al proveedor</a:t>
                      </a:r>
                    </a:p>
                  </a:txBody>
                  <a:tcPr marL="73152" marR="73152" marT="27432" marB="27432" anchor="ctr">
                    <a:solidFill>
                      <a:srgbClr val="F2F6FC"/>
                    </a:solidFill>
                  </a:tcPr>
                </a:tc>
                <a:tc>
                  <a:txBody>
                    <a:bodyPr wrap="square"/>
                    <a:lstStyle/>
                    <a:p>
                      <a:r>
                        <a:rPr sz="2100" b="0" i="0">
                          <a:solidFill>
                            <a:srgbClr val="B06A00"/>
                          </a:solidFill>
                          <a:latin typeface="Times New Roman"/>
                        </a:rPr>
                        <a:t>Parcial: correo real pendiente</a:t>
                      </a:r>
                    </a:p>
                  </a:txBody>
                  <a:tcPr marL="73152" marR="73152" marT="27432" marB="27432" anchor="ctr">
                    <a:solidFill>
                      <a:srgbClr val="F2F6FC"/>
                    </a:solidFill>
                  </a:tcPr>
                </a:tc>
              </a:tr>
              <a:tr h="590260">
                <a:tc>
                  <a:txBody>
                    <a:bodyPr wrap="square"/>
                    <a:lstStyle/>
                    <a:p>
                      <a:r>
                        <a:rPr sz="2100" b="0" i="0">
                          <a:solidFill>
                            <a:srgbClr val="1E1E1E"/>
                          </a:solidFill>
                          <a:latin typeface="Times New Roman"/>
                        </a:rPr>
                        <a:t>RF-06</a:t>
                      </a:r>
                    </a:p>
                  </a:txBody>
                  <a:tcPr marL="73152" marR="73152" marT="27432" marB="27432" anchor="ctr">
                    <a:solidFill>
                      <a:srgbClr val="FFFFFF"/>
                    </a:solidFill>
                  </a:tcPr>
                </a:tc>
                <a:tc>
                  <a:txBody>
                    <a:bodyPr wrap="square"/>
                    <a:lstStyle/>
                    <a:p>
                      <a:r>
                        <a:rPr sz="2100" b="0" i="0">
                          <a:solidFill>
                            <a:srgbClr val="1E1E1E"/>
                          </a:solidFill>
                          <a:latin typeface="Times New Roman"/>
                        </a:rPr>
                        <a:t>Gestión de categorías</a:t>
                      </a:r>
                    </a:p>
                  </a:txBody>
                  <a:tcPr marL="73152" marR="73152" marT="27432" marB="27432" anchor="ctr">
                    <a:solidFill>
                      <a:srgbClr val="FFFFFF"/>
                    </a:solidFill>
                  </a:tcPr>
                </a:tc>
                <a:tc>
                  <a:txBody>
                    <a:bodyPr wrap="square"/>
                    <a:lstStyle/>
                    <a:p>
                      <a:r>
                        <a:rPr sz="2100" b="0" i="0">
                          <a:solidFill>
                            <a:srgbClr val="2D7A2D"/>
                          </a:solidFill>
                          <a:latin typeface="Times New Roman"/>
                        </a:rPr>
                        <a:t>Implementado</a:t>
                      </a:r>
                    </a:p>
                  </a:txBody>
                  <a:tcPr marL="73152" marR="73152" marT="27432" marB="27432" anchor="ctr">
                    <a:solidFill>
                      <a:srgbClr val="FFFFFF"/>
                    </a:solidFill>
                  </a:tcPr>
                </a:tc>
                <a:tc>
                  <a:txBody>
                    <a:bodyPr wrap="square"/>
                    <a:lstStyle/>
                    <a:p>
                      <a:r>
                        <a:rPr sz="2100" b="0" i="0">
                          <a:solidFill>
                            <a:srgbClr val="1E1E1E"/>
                          </a:solidFill>
                          <a:latin typeface="Times New Roman"/>
                        </a:rPr>
                        <a:t>RF-14</a:t>
                      </a:r>
                    </a:p>
                  </a:txBody>
                  <a:tcPr marL="73152" marR="73152" marT="27432" marB="27432" anchor="ctr">
                    <a:solidFill>
                      <a:srgbClr val="FFFFFF"/>
                    </a:solidFill>
                  </a:tcPr>
                </a:tc>
                <a:tc>
                  <a:txBody>
                    <a:bodyPr wrap="square"/>
                    <a:lstStyle/>
                    <a:p>
                      <a:r>
                        <a:rPr sz="2100" b="0" i="0">
                          <a:solidFill>
                            <a:srgbClr val="1E1E1E"/>
                          </a:solidFill>
                          <a:latin typeface="Times New Roman"/>
                        </a:rPr>
                        <a:t>Facturas de compra</a:t>
                      </a:r>
                    </a:p>
                  </a:txBody>
                  <a:tcPr marL="73152" marR="73152" marT="27432" marB="27432" anchor="ctr">
                    <a:solidFill>
                      <a:srgbClr val="FFFFFF"/>
                    </a:solidFill>
                  </a:tcPr>
                </a:tc>
                <a:tc>
                  <a:txBody>
                    <a:bodyPr wrap="square"/>
                    <a:lstStyle/>
                    <a:p>
                      <a:r>
                        <a:rPr sz="2100" b="0" i="0">
                          <a:solidFill>
                            <a:srgbClr val="2D7A2D"/>
                          </a:solidFill>
                          <a:latin typeface="Times New Roman"/>
                        </a:rPr>
                        <a:t>Implementado</a:t>
                      </a:r>
                    </a:p>
                  </a:txBody>
                  <a:tcPr marL="73152" marR="73152" marT="27432" marB="27432" anchor="ctr">
                    <a:solidFill>
                      <a:srgbClr val="FFFFFF"/>
                    </a:solidFill>
                  </a:tcPr>
                </a:tc>
              </a:tr>
              <a:tr h="590260">
                <a:tc>
                  <a:txBody>
                    <a:bodyPr wrap="square"/>
                    <a:lstStyle/>
                    <a:p>
                      <a:r>
                        <a:rPr sz="2100" b="0" i="0">
                          <a:solidFill>
                            <a:srgbClr val="1E1E1E"/>
                          </a:solidFill>
                          <a:latin typeface="Times New Roman"/>
                        </a:rPr>
                        <a:t>RF-07</a:t>
                      </a:r>
                    </a:p>
                  </a:txBody>
                  <a:tcPr marL="73152" marR="73152" marT="27432" marB="27432" anchor="ctr">
                    <a:solidFill>
                      <a:srgbClr val="F2F6FC"/>
                    </a:solidFill>
                  </a:tcPr>
                </a:tc>
                <a:tc>
                  <a:txBody>
                    <a:bodyPr wrap="square"/>
                    <a:lstStyle/>
                    <a:p>
                      <a:r>
                        <a:rPr sz="2100" b="0" i="0">
                          <a:solidFill>
                            <a:srgbClr val="1E1E1E"/>
                          </a:solidFill>
                          <a:latin typeface="Times New Roman"/>
                        </a:rPr>
                        <a:t>Gestión de proveedores</a:t>
                      </a:r>
                    </a:p>
                  </a:txBody>
                  <a:tcPr marL="73152" marR="73152" marT="27432" marB="27432" anchor="ctr">
                    <a:solidFill>
                      <a:srgbClr val="F2F6FC"/>
                    </a:solidFill>
                  </a:tcPr>
                </a:tc>
                <a:tc>
                  <a:txBody>
                    <a:bodyPr wrap="square"/>
                    <a:lstStyle/>
                    <a:p>
                      <a:r>
                        <a:rPr sz="2100" b="0" i="0">
                          <a:solidFill>
                            <a:srgbClr val="2D7A2D"/>
                          </a:solidFill>
                          <a:latin typeface="Times New Roman"/>
                        </a:rPr>
                        <a:t>Implementado</a:t>
                      </a:r>
                    </a:p>
                  </a:txBody>
                  <a:tcPr marL="73152" marR="73152" marT="27432" marB="27432" anchor="ctr">
                    <a:solidFill>
                      <a:srgbClr val="F2F6FC"/>
                    </a:solidFill>
                  </a:tcPr>
                </a:tc>
                <a:tc>
                  <a:txBody>
                    <a:bodyPr wrap="square"/>
                    <a:lstStyle/>
                    <a:p>
                      <a:r>
                        <a:rPr sz="2100" b="0" i="0">
                          <a:solidFill>
                            <a:srgbClr val="1E1E1E"/>
                          </a:solidFill>
                          <a:latin typeface="Times New Roman"/>
                        </a:rPr>
                        <a:t>RF-15</a:t>
                      </a:r>
                    </a:p>
                  </a:txBody>
                  <a:tcPr marL="73152" marR="73152" marT="27432" marB="27432" anchor="ctr">
                    <a:solidFill>
                      <a:srgbClr val="F2F6FC"/>
                    </a:solidFill>
                  </a:tcPr>
                </a:tc>
                <a:tc>
                  <a:txBody>
                    <a:bodyPr wrap="square"/>
                    <a:lstStyle/>
                    <a:p>
                      <a:r>
                        <a:rPr sz="2100" b="0" i="0">
                          <a:solidFill>
                            <a:srgbClr val="1E1E1E"/>
                          </a:solidFill>
                          <a:latin typeface="Times New Roman"/>
                        </a:rPr>
                        <a:t>Adjuntos de factura</a:t>
                      </a:r>
                    </a:p>
                  </a:txBody>
                  <a:tcPr marL="73152" marR="73152" marT="27432" marB="27432" anchor="ctr">
                    <a:solidFill>
                      <a:srgbClr val="F2F6FC"/>
                    </a:solidFill>
                  </a:tcPr>
                </a:tc>
                <a:tc>
                  <a:txBody>
                    <a:bodyPr wrap="square"/>
                    <a:lstStyle/>
                    <a:p>
                      <a:r>
                        <a:rPr sz="2100" b="0" i="0">
                          <a:solidFill>
                            <a:srgbClr val="1E1E1E"/>
                          </a:solidFill>
                          <a:latin typeface="Times New Roman"/>
                        </a:rPr>
                        <a:t>Implementado (local)</a:t>
                      </a:r>
                    </a:p>
                  </a:txBody>
                  <a:tcPr marL="73152" marR="73152" marT="27432" marB="27432" anchor="ctr">
                    <a:solidFill>
                      <a:srgbClr val="F2F6FC"/>
                    </a:solidFill>
                  </a:tcPr>
                </a:tc>
              </a:tr>
              <a:tr h="590260">
                <a:tc>
                  <a:txBody>
                    <a:bodyPr wrap="square"/>
                    <a:lstStyle/>
                    <a:p>
                      <a:r>
                        <a:rPr sz="2100" b="0" i="0">
                          <a:solidFill>
                            <a:srgbClr val="1E1E1E"/>
                          </a:solidFill>
                          <a:latin typeface="Times New Roman"/>
                        </a:rPr>
                        <a:t>RF-08</a:t>
                      </a:r>
                    </a:p>
                  </a:txBody>
                  <a:tcPr marL="73152" marR="73152" marT="27432" marB="27432" anchor="ctr">
                    <a:solidFill>
                      <a:srgbClr val="FFFFFF"/>
                    </a:solidFill>
                  </a:tcPr>
                </a:tc>
                <a:tc>
                  <a:txBody>
                    <a:bodyPr wrap="square"/>
                    <a:lstStyle/>
                    <a:p>
                      <a:r>
                        <a:rPr sz="2100" b="0" i="0">
                          <a:solidFill>
                            <a:srgbClr val="1E1E1E"/>
                          </a:solidFill>
                          <a:latin typeface="Times New Roman"/>
                        </a:rPr>
                        <a:t>Registro de entradas y salidas</a:t>
                      </a:r>
                    </a:p>
                  </a:txBody>
                  <a:tcPr marL="73152" marR="73152" marT="27432" marB="27432" anchor="ctr">
                    <a:solidFill>
                      <a:srgbClr val="FFFFFF"/>
                    </a:solidFill>
                  </a:tcPr>
                </a:tc>
                <a:tc>
                  <a:txBody>
                    <a:bodyPr wrap="square"/>
                    <a:lstStyle/>
                    <a:p>
                      <a:r>
                        <a:rPr sz="2100" b="0" i="0">
                          <a:solidFill>
                            <a:srgbClr val="2D7A2D"/>
                          </a:solidFill>
                          <a:latin typeface="Times New Roman"/>
                        </a:rPr>
                        <a:t>Implementado</a:t>
                      </a:r>
                    </a:p>
                  </a:txBody>
                  <a:tcPr marL="73152" marR="73152" marT="27432" marB="27432" anchor="ctr">
                    <a:solidFill>
                      <a:srgbClr val="FFFFFF"/>
                    </a:solidFill>
                  </a:tcPr>
                </a:tc>
                <a:tc>
                  <a:txBody>
                    <a:bodyPr wrap="square"/>
                    <a:lstStyle/>
                    <a:p>
                      <a:r>
                        <a:rPr sz="2100" b="0" i="0">
                          <a:solidFill>
                            <a:srgbClr val="1E1E1E"/>
                          </a:solidFill>
                          <a:latin typeface="Times New Roman"/>
                        </a:rPr>
                        <a:t>RF-16</a:t>
                      </a:r>
                    </a:p>
                  </a:txBody>
                  <a:tcPr marL="73152" marR="73152" marT="27432" marB="27432" anchor="ctr">
                    <a:solidFill>
                      <a:srgbClr val="FFFFFF"/>
                    </a:solidFill>
                  </a:tcPr>
                </a:tc>
                <a:tc>
                  <a:txBody>
                    <a:bodyPr wrap="square"/>
                    <a:lstStyle/>
                    <a:p>
                      <a:r>
                        <a:rPr sz="2100" b="0" i="0">
                          <a:solidFill>
                            <a:srgbClr val="1E1E1E"/>
                          </a:solidFill>
                          <a:latin typeface="Times New Roman"/>
                        </a:rPr>
                        <a:t>Auditoría de operaciones</a:t>
                      </a:r>
                    </a:p>
                  </a:txBody>
                  <a:tcPr marL="73152" marR="73152" marT="27432" marB="27432" anchor="ctr">
                    <a:solidFill>
                      <a:srgbClr val="FFFFFF"/>
                    </a:solidFill>
                  </a:tcPr>
                </a:tc>
                <a:tc>
                  <a:txBody>
                    <a:bodyPr wrap="square"/>
                    <a:lstStyle/>
                    <a:p>
                      <a:r>
                        <a:rPr sz="2100" b="0" i="0">
                          <a:solidFill>
                            <a:srgbClr val="2D7A2D"/>
                          </a:solidFill>
                          <a:latin typeface="Times New Roman"/>
                        </a:rPr>
                        <a:t>Implementado</a:t>
                      </a:r>
                    </a:p>
                  </a:txBody>
                  <a:tcPr marL="73152" marR="73152" marT="27432" marB="27432" anchor="ctr">
                    <a:solidFill>
                      <a:srgbClr val="FFFFFF"/>
                    </a:solidFill>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4. Requerimientos no funcionales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8</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graphicFrame>
        <p:nvGraphicFramePr>
          <p:cNvPr id="40" name="Table 39"/>
          <p:cNvGraphicFramePr>
            <a:graphicFrameLocks noGrp="1"/>
          </p:cNvGraphicFramePr>
          <p:nvPr/>
        </p:nvGraphicFramePr>
        <p:xfrm>
          <a:off x="685800" y="3145220"/>
          <a:ext cx="16916400" cy="5312340"/>
        </p:xfrm>
        <a:graphic>
          <a:graphicData uri="http://schemas.openxmlformats.org/drawingml/2006/table">
            <a:tbl>
              <a:tblPr firstRow="1" bandRow="1">
                <a:tableStyleId>{5C22544A-7EE6-4342-B048-85BDC9FD1C3A}</a:tableStyleId>
              </a:tblPr>
              <a:tblGrid>
                <a:gridCol w="1371600"/>
                <a:gridCol w="4914900"/>
                <a:gridCol w="2171700"/>
                <a:gridCol w="1371600"/>
                <a:gridCol w="4914900"/>
                <a:gridCol w="2171700"/>
              </a:tblGrid>
              <a:tr h="590260">
                <a:tc>
                  <a:txBody>
                    <a:bodyPr wrap="square"/>
                    <a:lstStyle/>
                    <a:p>
                      <a:r>
                        <a:rPr sz="2200" b="1" i="0">
                          <a:solidFill>
                            <a:srgbClr val="FFFFFF"/>
                          </a:solidFill>
                          <a:latin typeface="Times New Roman Bold"/>
                        </a:rPr>
                        <a:t>ID</a:t>
                      </a:r>
                    </a:p>
                  </a:txBody>
                  <a:tcPr marL="73152" marR="73152" marT="27432" marB="27432" anchor="ctr">
                    <a:solidFill>
                      <a:srgbClr val="4285F4"/>
                    </a:solidFill>
                  </a:tcPr>
                </a:tc>
                <a:tc>
                  <a:txBody>
                    <a:bodyPr wrap="square"/>
                    <a:lstStyle/>
                    <a:p>
                      <a:r>
                        <a:rPr sz="2200" b="1" i="0">
                          <a:solidFill>
                            <a:srgbClr val="FFFFFF"/>
                          </a:solidFill>
                          <a:latin typeface="Times New Roman Bold"/>
                        </a:rPr>
                        <a:t>Requerimiento</a:t>
                      </a:r>
                    </a:p>
                  </a:txBody>
                  <a:tcPr marL="73152" marR="73152" marT="27432" marB="27432" anchor="ctr">
                    <a:solidFill>
                      <a:srgbClr val="4285F4"/>
                    </a:solidFill>
                  </a:tcPr>
                </a:tc>
                <a:tc>
                  <a:txBody>
                    <a:bodyPr wrap="square"/>
                    <a:lstStyle/>
                    <a:p>
                      <a:r>
                        <a:rPr sz="2200" b="1" i="0">
                          <a:solidFill>
                            <a:srgbClr val="FFFFFF"/>
                          </a:solidFill>
                          <a:latin typeface="Times New Roman Bold"/>
                        </a:rPr>
                        <a:t>Atributo</a:t>
                      </a:r>
                    </a:p>
                  </a:txBody>
                  <a:tcPr marL="73152" marR="73152" marT="27432" marB="27432" anchor="ctr">
                    <a:solidFill>
                      <a:srgbClr val="4285F4"/>
                    </a:solidFill>
                  </a:tcPr>
                </a:tc>
                <a:tc>
                  <a:txBody>
                    <a:bodyPr wrap="square"/>
                    <a:lstStyle/>
                    <a:p>
                      <a:r>
                        <a:rPr sz="2200" b="1" i="0">
                          <a:solidFill>
                            <a:srgbClr val="FFFFFF"/>
                          </a:solidFill>
                          <a:latin typeface="Times New Roman Bold"/>
                        </a:rPr>
                        <a:t>ID</a:t>
                      </a:r>
                    </a:p>
                  </a:txBody>
                  <a:tcPr marL="73152" marR="73152" marT="27432" marB="27432" anchor="ctr">
                    <a:solidFill>
                      <a:srgbClr val="4285F4"/>
                    </a:solidFill>
                  </a:tcPr>
                </a:tc>
                <a:tc>
                  <a:txBody>
                    <a:bodyPr wrap="square"/>
                    <a:lstStyle/>
                    <a:p>
                      <a:r>
                        <a:rPr sz="2200" b="1" i="0">
                          <a:solidFill>
                            <a:srgbClr val="FFFFFF"/>
                          </a:solidFill>
                          <a:latin typeface="Times New Roman Bold"/>
                        </a:rPr>
                        <a:t>Requerimiento</a:t>
                      </a:r>
                    </a:p>
                  </a:txBody>
                  <a:tcPr marL="73152" marR="73152" marT="27432" marB="27432" anchor="ctr">
                    <a:solidFill>
                      <a:srgbClr val="4285F4"/>
                    </a:solidFill>
                  </a:tcPr>
                </a:tc>
                <a:tc>
                  <a:txBody>
                    <a:bodyPr wrap="square"/>
                    <a:lstStyle/>
                    <a:p>
                      <a:r>
                        <a:rPr sz="2200" b="1" i="0">
                          <a:solidFill>
                            <a:srgbClr val="FFFFFF"/>
                          </a:solidFill>
                          <a:latin typeface="Times New Roman Bold"/>
                        </a:rPr>
                        <a:t>Atributo</a:t>
                      </a:r>
                    </a:p>
                  </a:txBody>
                  <a:tcPr marL="73152" marR="73152" marT="27432" marB="27432" anchor="ctr">
                    <a:solidFill>
                      <a:srgbClr val="4285F4"/>
                    </a:solidFill>
                  </a:tcPr>
                </a:tc>
              </a:tr>
              <a:tr h="590260">
                <a:tc>
                  <a:txBody>
                    <a:bodyPr wrap="square"/>
                    <a:lstStyle/>
                    <a:p>
                      <a:r>
                        <a:rPr sz="2100" b="0" i="0">
                          <a:solidFill>
                            <a:srgbClr val="1E1E1E"/>
                          </a:solidFill>
                          <a:latin typeface="Times New Roman"/>
                        </a:rPr>
                        <a:t>RNF-01</a:t>
                      </a:r>
                    </a:p>
                  </a:txBody>
                  <a:tcPr marL="73152" marR="73152" marT="27432" marB="27432" anchor="ctr">
                    <a:solidFill>
                      <a:srgbClr val="F2F6FC"/>
                    </a:solidFill>
                  </a:tcPr>
                </a:tc>
                <a:tc>
                  <a:txBody>
                    <a:bodyPr wrap="square"/>
                    <a:lstStyle/>
                    <a:p>
                      <a:r>
                        <a:rPr sz="2100" b="0" i="0">
                          <a:solidFill>
                            <a:srgbClr val="1E1E1E"/>
                          </a:solidFill>
                          <a:latin typeface="Times New Roman"/>
                        </a:rPr>
                        <a:t>Token Entra ID válido en toda ruta</a:t>
                      </a:r>
                    </a:p>
                  </a:txBody>
                  <a:tcPr marL="73152" marR="73152" marT="27432" marB="27432" anchor="ctr">
                    <a:solidFill>
                      <a:srgbClr val="F2F6FC"/>
                    </a:solidFill>
                  </a:tcPr>
                </a:tc>
                <a:tc>
                  <a:txBody>
                    <a:bodyPr wrap="square"/>
                    <a:lstStyle/>
                    <a:p>
                      <a:r>
                        <a:rPr sz="2100" b="0" i="0">
                          <a:solidFill>
                            <a:srgbClr val="1E1E1E"/>
                          </a:solidFill>
                          <a:latin typeface="Times New Roman"/>
                        </a:rPr>
                        <a:t>Seguridad</a:t>
                      </a:r>
                    </a:p>
                  </a:txBody>
                  <a:tcPr marL="73152" marR="73152" marT="27432" marB="27432" anchor="ctr">
                    <a:solidFill>
                      <a:srgbClr val="F2F6FC"/>
                    </a:solidFill>
                  </a:tcPr>
                </a:tc>
                <a:tc>
                  <a:txBody>
                    <a:bodyPr wrap="square"/>
                    <a:lstStyle/>
                    <a:p>
                      <a:r>
                        <a:rPr sz="2100" b="0" i="0">
                          <a:solidFill>
                            <a:srgbClr val="1E1E1E"/>
                          </a:solidFill>
                          <a:latin typeface="Times New Roman"/>
                        </a:rPr>
                        <a:t>RNF-09</a:t>
                      </a:r>
                    </a:p>
                  </a:txBody>
                  <a:tcPr marL="73152" marR="73152" marT="27432" marB="27432" anchor="ctr">
                    <a:solidFill>
                      <a:srgbClr val="F2F6FC"/>
                    </a:solidFill>
                  </a:tcPr>
                </a:tc>
                <a:tc>
                  <a:txBody>
                    <a:bodyPr wrap="square"/>
                    <a:lstStyle/>
                    <a:p>
                      <a:r>
                        <a:rPr sz="2100" b="0" i="0">
                          <a:solidFill>
                            <a:srgbClr val="1E1E1E"/>
                          </a:solidFill>
                          <a:latin typeface="Times New Roman"/>
                        </a:rPr>
                        <a:t>Búsqueda ≤ 2 s (p95)</a:t>
                      </a:r>
                    </a:p>
                  </a:txBody>
                  <a:tcPr marL="73152" marR="73152" marT="27432" marB="27432" anchor="ctr">
                    <a:solidFill>
                      <a:srgbClr val="F2F6FC"/>
                    </a:solidFill>
                  </a:tcPr>
                </a:tc>
                <a:tc>
                  <a:txBody>
                    <a:bodyPr wrap="square"/>
                    <a:lstStyle/>
                    <a:p>
                      <a:r>
                        <a:rPr sz="2100" b="0" i="0">
                          <a:solidFill>
                            <a:srgbClr val="1E1E1E"/>
                          </a:solidFill>
                          <a:latin typeface="Times New Roman"/>
                        </a:rPr>
                        <a:t>Rendimiento</a:t>
                      </a:r>
                    </a:p>
                  </a:txBody>
                  <a:tcPr marL="73152" marR="73152" marT="27432" marB="27432" anchor="ctr">
                    <a:solidFill>
                      <a:srgbClr val="F2F6FC"/>
                    </a:solidFill>
                  </a:tcPr>
                </a:tc>
              </a:tr>
              <a:tr h="590260">
                <a:tc>
                  <a:txBody>
                    <a:bodyPr wrap="square"/>
                    <a:lstStyle/>
                    <a:p>
                      <a:r>
                        <a:rPr sz="2100" b="0" i="0">
                          <a:solidFill>
                            <a:srgbClr val="1E1E1E"/>
                          </a:solidFill>
                          <a:latin typeface="Times New Roman"/>
                        </a:rPr>
                        <a:t>RNF-02</a:t>
                      </a:r>
                    </a:p>
                  </a:txBody>
                  <a:tcPr marL="73152" marR="73152" marT="27432" marB="27432" anchor="ctr">
                    <a:solidFill>
                      <a:srgbClr val="FFFFFF"/>
                    </a:solidFill>
                  </a:tcPr>
                </a:tc>
                <a:tc>
                  <a:txBody>
                    <a:bodyPr wrap="square"/>
                    <a:lstStyle/>
                    <a:p>
                      <a:r>
                        <a:rPr sz="2100" b="0" i="0">
                          <a:solidFill>
                            <a:srgbClr val="1E1E1E"/>
                          </a:solidFill>
                          <a:latin typeface="Times New Roman"/>
                        </a:rPr>
                        <a:t>Rol del token = perfil activo</a:t>
                      </a:r>
                    </a:p>
                  </a:txBody>
                  <a:tcPr marL="73152" marR="73152" marT="27432" marB="27432" anchor="ctr">
                    <a:solidFill>
                      <a:srgbClr val="FFFFFF"/>
                    </a:solidFill>
                  </a:tcPr>
                </a:tc>
                <a:tc>
                  <a:txBody>
                    <a:bodyPr wrap="square"/>
                    <a:lstStyle/>
                    <a:p>
                      <a:r>
                        <a:rPr sz="2100" b="0" i="0">
                          <a:solidFill>
                            <a:srgbClr val="1E1E1E"/>
                          </a:solidFill>
                          <a:latin typeface="Times New Roman"/>
                        </a:rPr>
                        <a:t>Seguridad</a:t>
                      </a:r>
                    </a:p>
                  </a:txBody>
                  <a:tcPr marL="73152" marR="73152" marT="27432" marB="27432" anchor="ctr">
                    <a:solidFill>
                      <a:srgbClr val="FFFFFF"/>
                    </a:solidFill>
                  </a:tcPr>
                </a:tc>
                <a:tc>
                  <a:txBody>
                    <a:bodyPr wrap="square"/>
                    <a:lstStyle/>
                    <a:p>
                      <a:r>
                        <a:rPr sz="2100" b="0" i="0">
                          <a:solidFill>
                            <a:srgbClr val="1E1E1E"/>
                          </a:solidFill>
                          <a:latin typeface="Times New Roman"/>
                        </a:rPr>
                        <a:t>RNF-10</a:t>
                      </a:r>
                    </a:p>
                  </a:txBody>
                  <a:tcPr marL="73152" marR="73152" marT="27432" marB="27432" anchor="ctr">
                    <a:solidFill>
                      <a:srgbClr val="FFFFFF"/>
                    </a:solidFill>
                  </a:tcPr>
                </a:tc>
                <a:tc>
                  <a:txBody>
                    <a:bodyPr wrap="square"/>
                    <a:lstStyle/>
                    <a:p>
                      <a:r>
                        <a:rPr sz="2100" b="0" i="0">
                          <a:solidFill>
                            <a:srgbClr val="1E1E1E"/>
                          </a:solidFill>
                          <a:latin typeface="Times New Roman"/>
                        </a:rPr>
                        <a:t>Health y logs con request ID</a:t>
                      </a:r>
                    </a:p>
                  </a:txBody>
                  <a:tcPr marL="73152" marR="73152" marT="27432" marB="27432" anchor="ctr">
                    <a:solidFill>
                      <a:srgbClr val="FFFFFF"/>
                    </a:solidFill>
                  </a:tcPr>
                </a:tc>
                <a:tc>
                  <a:txBody>
                    <a:bodyPr wrap="square"/>
                    <a:lstStyle/>
                    <a:p>
                      <a:r>
                        <a:rPr sz="2100" b="0" i="0">
                          <a:solidFill>
                            <a:srgbClr val="1E1E1E"/>
                          </a:solidFill>
                          <a:latin typeface="Times New Roman"/>
                        </a:rPr>
                        <a:t>Disponibilidad</a:t>
                      </a:r>
                    </a:p>
                  </a:txBody>
                  <a:tcPr marL="73152" marR="73152" marT="27432" marB="27432" anchor="ctr">
                    <a:solidFill>
                      <a:srgbClr val="FFFFFF"/>
                    </a:solidFill>
                  </a:tcPr>
                </a:tc>
              </a:tr>
              <a:tr h="590260">
                <a:tc>
                  <a:txBody>
                    <a:bodyPr wrap="square"/>
                    <a:lstStyle/>
                    <a:p>
                      <a:r>
                        <a:rPr sz="2100" b="0" i="0">
                          <a:solidFill>
                            <a:srgbClr val="1E1E1E"/>
                          </a:solidFill>
                          <a:latin typeface="Times New Roman"/>
                        </a:rPr>
                        <a:t>RNF-03</a:t>
                      </a:r>
                    </a:p>
                  </a:txBody>
                  <a:tcPr marL="73152" marR="73152" marT="27432" marB="27432" anchor="ctr">
                    <a:solidFill>
                      <a:srgbClr val="F2F6FC"/>
                    </a:solidFill>
                  </a:tcPr>
                </a:tc>
                <a:tc>
                  <a:txBody>
                    <a:bodyPr wrap="square"/>
                    <a:lstStyle/>
                    <a:p>
                      <a:r>
                        <a:rPr sz="2100" b="0" i="0">
                          <a:solidFill>
                            <a:srgbClr val="1E1E1E"/>
                          </a:solidFill>
                          <a:latin typeface="Times New Roman"/>
                        </a:rPr>
                        <a:t>Sin contraseñas locales</a:t>
                      </a:r>
                    </a:p>
                  </a:txBody>
                  <a:tcPr marL="73152" marR="73152" marT="27432" marB="27432" anchor="ctr">
                    <a:solidFill>
                      <a:srgbClr val="F2F6FC"/>
                    </a:solidFill>
                  </a:tcPr>
                </a:tc>
                <a:tc>
                  <a:txBody>
                    <a:bodyPr wrap="square"/>
                    <a:lstStyle/>
                    <a:p>
                      <a:r>
                        <a:rPr sz="2100" b="0" i="0">
                          <a:solidFill>
                            <a:srgbClr val="1E1E1E"/>
                          </a:solidFill>
                          <a:latin typeface="Times New Roman"/>
                        </a:rPr>
                        <a:t>Seguridad</a:t>
                      </a:r>
                    </a:p>
                  </a:txBody>
                  <a:tcPr marL="73152" marR="73152" marT="27432" marB="27432" anchor="ctr">
                    <a:solidFill>
                      <a:srgbClr val="F2F6FC"/>
                    </a:solidFill>
                  </a:tcPr>
                </a:tc>
                <a:tc>
                  <a:txBody>
                    <a:bodyPr wrap="square"/>
                    <a:lstStyle/>
                    <a:p>
                      <a:r>
                        <a:rPr sz="2100" b="0" i="0">
                          <a:solidFill>
                            <a:srgbClr val="1E1E1E"/>
                          </a:solidFill>
                          <a:latin typeface="Times New Roman"/>
                        </a:rPr>
                        <a:t>RNF-11</a:t>
                      </a:r>
                    </a:p>
                  </a:txBody>
                  <a:tcPr marL="73152" marR="73152" marT="27432" marB="27432" anchor="ctr">
                    <a:solidFill>
                      <a:srgbClr val="F2F6FC"/>
                    </a:solidFill>
                  </a:tcPr>
                </a:tc>
                <a:tc>
                  <a:txBody>
                    <a:bodyPr wrap="square"/>
                    <a:lstStyle/>
                    <a:p>
                      <a:r>
                        <a:rPr sz="2100" b="0" i="0">
                          <a:solidFill>
                            <a:srgbClr val="1E1E1E"/>
                          </a:solidFill>
                          <a:latin typeface="Times New Roman"/>
                        </a:rPr>
                        <a:t>Rollback total y reintentos finitos</a:t>
                      </a:r>
                    </a:p>
                  </a:txBody>
                  <a:tcPr marL="73152" marR="73152" marT="27432" marB="27432" anchor="ctr">
                    <a:solidFill>
                      <a:srgbClr val="F2F6FC"/>
                    </a:solidFill>
                  </a:tcPr>
                </a:tc>
                <a:tc>
                  <a:txBody>
                    <a:bodyPr wrap="square"/>
                    <a:lstStyle/>
                    <a:p>
                      <a:r>
                        <a:rPr sz="2100" b="0" i="0">
                          <a:solidFill>
                            <a:srgbClr val="1E1E1E"/>
                          </a:solidFill>
                          <a:latin typeface="Times New Roman"/>
                        </a:rPr>
                        <a:t>Fiabilidad</a:t>
                      </a:r>
                    </a:p>
                  </a:txBody>
                  <a:tcPr marL="73152" marR="73152" marT="27432" marB="27432" anchor="ctr">
                    <a:solidFill>
                      <a:srgbClr val="F2F6FC"/>
                    </a:solidFill>
                  </a:tcPr>
                </a:tc>
              </a:tr>
              <a:tr h="590260">
                <a:tc>
                  <a:txBody>
                    <a:bodyPr wrap="square"/>
                    <a:lstStyle/>
                    <a:p>
                      <a:r>
                        <a:rPr sz="2100" b="0" i="0">
                          <a:solidFill>
                            <a:srgbClr val="1E1E1E"/>
                          </a:solidFill>
                          <a:latin typeface="Times New Roman"/>
                        </a:rPr>
                        <a:t>RNF-04</a:t>
                      </a:r>
                    </a:p>
                  </a:txBody>
                  <a:tcPr marL="73152" marR="73152" marT="27432" marB="27432" anchor="ctr">
                    <a:solidFill>
                      <a:srgbClr val="FFFFFF"/>
                    </a:solidFill>
                  </a:tcPr>
                </a:tc>
                <a:tc>
                  <a:txBody>
                    <a:bodyPr wrap="square"/>
                    <a:lstStyle/>
                    <a:p>
                      <a:r>
                        <a:rPr sz="2100" b="0" i="0">
                          <a:solidFill>
                            <a:srgbClr val="1E1E1E"/>
                          </a:solidFill>
                          <a:latin typeface="Times New Roman"/>
                        </a:rPr>
                        <a:t>Stock en una transacción, nunca negativo</a:t>
                      </a:r>
                    </a:p>
                  </a:txBody>
                  <a:tcPr marL="73152" marR="73152" marT="27432" marB="27432" anchor="ctr">
                    <a:solidFill>
                      <a:srgbClr val="FFFFFF"/>
                    </a:solidFill>
                  </a:tcPr>
                </a:tc>
                <a:tc>
                  <a:txBody>
                    <a:bodyPr wrap="square"/>
                    <a:lstStyle/>
                    <a:p>
                      <a:r>
                        <a:rPr sz="2100" b="0" i="0">
                          <a:solidFill>
                            <a:srgbClr val="1E1E1E"/>
                          </a:solidFill>
                          <a:latin typeface="Times New Roman"/>
                        </a:rPr>
                        <a:t>Integridad</a:t>
                      </a:r>
                    </a:p>
                  </a:txBody>
                  <a:tcPr marL="73152" marR="73152" marT="27432" marB="27432" anchor="ctr">
                    <a:solidFill>
                      <a:srgbClr val="FFFFFF"/>
                    </a:solidFill>
                  </a:tcPr>
                </a:tc>
                <a:tc>
                  <a:txBody>
                    <a:bodyPr wrap="square"/>
                    <a:lstStyle/>
                    <a:p>
                      <a:r>
                        <a:rPr sz="2100" b="0" i="0">
                          <a:solidFill>
                            <a:srgbClr val="1E1E1E"/>
                          </a:solidFill>
                          <a:latin typeface="Times New Roman"/>
                        </a:rPr>
                        <a:t>RNF-12</a:t>
                      </a:r>
                    </a:p>
                  </a:txBody>
                  <a:tcPr marL="73152" marR="73152" marT="27432" marB="27432" anchor="ctr">
                    <a:solidFill>
                      <a:srgbClr val="FFFFFF"/>
                    </a:solidFill>
                  </a:tcPr>
                </a:tc>
                <a:tc>
                  <a:txBody>
                    <a:bodyPr wrap="square"/>
                    <a:lstStyle/>
                    <a:p>
                      <a:r>
                        <a:rPr sz="2100" b="0" i="0">
                          <a:solidFill>
                            <a:srgbClr val="1E1E1E"/>
                          </a:solidFill>
                          <a:latin typeface="Times New Roman"/>
                        </a:rPr>
                        <a:t>Worker independiente de la API</a:t>
                      </a:r>
                    </a:p>
                  </a:txBody>
                  <a:tcPr marL="73152" marR="73152" marT="27432" marB="27432" anchor="ctr">
                    <a:solidFill>
                      <a:srgbClr val="FFFFFF"/>
                    </a:solidFill>
                  </a:tcPr>
                </a:tc>
                <a:tc>
                  <a:txBody>
                    <a:bodyPr wrap="square"/>
                    <a:lstStyle/>
                    <a:p>
                      <a:r>
                        <a:rPr sz="2100" b="0" i="0">
                          <a:solidFill>
                            <a:srgbClr val="1E1E1E"/>
                          </a:solidFill>
                          <a:latin typeface="Times New Roman"/>
                        </a:rPr>
                        <a:t>Escalabilidad</a:t>
                      </a:r>
                    </a:p>
                  </a:txBody>
                  <a:tcPr marL="73152" marR="73152" marT="27432" marB="27432" anchor="ctr">
                    <a:solidFill>
                      <a:srgbClr val="FFFFFF"/>
                    </a:solidFill>
                  </a:tcPr>
                </a:tc>
              </a:tr>
              <a:tr h="590260">
                <a:tc>
                  <a:txBody>
                    <a:bodyPr wrap="square"/>
                    <a:lstStyle/>
                    <a:p>
                      <a:r>
                        <a:rPr sz="2100" b="0" i="0">
                          <a:solidFill>
                            <a:srgbClr val="1E1E1E"/>
                          </a:solidFill>
                          <a:latin typeface="Times New Roman"/>
                        </a:rPr>
                        <a:t>RNF-05</a:t>
                      </a:r>
                    </a:p>
                  </a:txBody>
                  <a:tcPr marL="73152" marR="73152" marT="27432" marB="27432" anchor="ctr">
                    <a:solidFill>
                      <a:srgbClr val="F2F6FC"/>
                    </a:solidFill>
                  </a:tcPr>
                </a:tc>
                <a:tc>
                  <a:txBody>
                    <a:bodyPr wrap="square"/>
                    <a:lstStyle/>
                    <a:p>
                      <a:r>
                        <a:rPr sz="2100" b="0" i="0">
                          <a:solidFill>
                            <a:srgbClr val="1E1E1E"/>
                          </a:solidFill>
                          <a:latin typeface="Times New Roman"/>
                        </a:rPr>
                        <a:t>Validación estricta con Zod</a:t>
                      </a:r>
                    </a:p>
                  </a:txBody>
                  <a:tcPr marL="73152" marR="73152" marT="27432" marB="27432" anchor="ctr">
                    <a:solidFill>
                      <a:srgbClr val="F2F6FC"/>
                    </a:solidFill>
                  </a:tcPr>
                </a:tc>
                <a:tc>
                  <a:txBody>
                    <a:bodyPr wrap="square"/>
                    <a:lstStyle/>
                    <a:p>
                      <a:r>
                        <a:rPr sz="2100" b="0" i="0">
                          <a:solidFill>
                            <a:srgbClr val="1E1E1E"/>
                          </a:solidFill>
                          <a:latin typeface="Times New Roman"/>
                        </a:rPr>
                        <a:t>Integridad</a:t>
                      </a:r>
                    </a:p>
                  </a:txBody>
                  <a:tcPr marL="73152" marR="73152" marT="27432" marB="27432" anchor="ctr">
                    <a:solidFill>
                      <a:srgbClr val="F2F6FC"/>
                    </a:solidFill>
                  </a:tcPr>
                </a:tc>
                <a:tc>
                  <a:txBody>
                    <a:bodyPr wrap="square"/>
                    <a:lstStyle/>
                    <a:p>
                      <a:r>
                        <a:rPr sz="2100" b="0" i="0">
                          <a:solidFill>
                            <a:srgbClr val="1E1E1E"/>
                          </a:solidFill>
                          <a:latin typeface="Times New Roman"/>
                        </a:rPr>
                        <a:t>RNF-13</a:t>
                      </a:r>
                    </a:p>
                  </a:txBody>
                  <a:tcPr marL="73152" marR="73152" marT="27432" marB="27432" anchor="ctr">
                    <a:solidFill>
                      <a:srgbClr val="F2F6FC"/>
                    </a:solidFill>
                  </a:tcPr>
                </a:tc>
                <a:tc>
                  <a:txBody>
                    <a:bodyPr wrap="square"/>
                    <a:lstStyle/>
                    <a:p>
                      <a:r>
                        <a:rPr sz="2100" b="0" i="0">
                          <a:solidFill>
                            <a:srgbClr val="1E1E1E"/>
                          </a:solidFill>
                          <a:latin typeface="Times New Roman"/>
                        </a:rPr>
                        <a:t>Salida en pocos pasos</a:t>
                      </a:r>
                    </a:p>
                  </a:txBody>
                  <a:tcPr marL="73152" marR="73152" marT="27432" marB="27432" anchor="ctr">
                    <a:solidFill>
                      <a:srgbClr val="F2F6FC"/>
                    </a:solidFill>
                  </a:tcPr>
                </a:tc>
                <a:tc>
                  <a:txBody>
                    <a:bodyPr wrap="square"/>
                    <a:lstStyle/>
                    <a:p>
                      <a:r>
                        <a:rPr sz="2100" b="0" i="0">
                          <a:solidFill>
                            <a:srgbClr val="1E1E1E"/>
                          </a:solidFill>
                          <a:latin typeface="Times New Roman"/>
                        </a:rPr>
                        <a:t>Usabilidad</a:t>
                      </a:r>
                    </a:p>
                  </a:txBody>
                  <a:tcPr marL="73152" marR="73152" marT="27432" marB="27432" anchor="ctr">
                    <a:solidFill>
                      <a:srgbClr val="F2F6FC"/>
                    </a:solidFill>
                  </a:tcPr>
                </a:tc>
              </a:tr>
              <a:tr h="590260">
                <a:tc>
                  <a:txBody>
                    <a:bodyPr wrap="square"/>
                    <a:lstStyle/>
                    <a:p>
                      <a:r>
                        <a:rPr sz="2100" b="0" i="0">
                          <a:solidFill>
                            <a:srgbClr val="1E1E1E"/>
                          </a:solidFill>
                          <a:latin typeface="Times New Roman"/>
                        </a:rPr>
                        <a:t>RNF-06</a:t>
                      </a:r>
                    </a:p>
                  </a:txBody>
                  <a:tcPr marL="73152" marR="73152" marT="27432" marB="27432" anchor="ctr">
                    <a:solidFill>
                      <a:srgbClr val="FFFFFF"/>
                    </a:solidFill>
                  </a:tcPr>
                </a:tc>
                <a:tc>
                  <a:txBody>
                    <a:bodyPr wrap="square"/>
                    <a:lstStyle/>
                    <a:p>
                      <a:r>
                        <a:rPr sz="2100" b="0" i="0">
                          <a:solidFill>
                            <a:srgbClr val="1E1E1E"/>
                          </a:solidFill>
                          <a:latin typeface="Times New Roman"/>
                        </a:rPr>
                        <a:t>Historial y auditoría inmutables</a:t>
                      </a:r>
                    </a:p>
                  </a:txBody>
                  <a:tcPr marL="73152" marR="73152" marT="27432" marB="27432" anchor="ctr">
                    <a:solidFill>
                      <a:srgbClr val="FFFFFF"/>
                    </a:solidFill>
                  </a:tcPr>
                </a:tc>
                <a:tc>
                  <a:txBody>
                    <a:bodyPr wrap="square"/>
                    <a:lstStyle/>
                    <a:p>
                      <a:r>
                        <a:rPr sz="2100" b="0" i="0">
                          <a:solidFill>
                            <a:srgbClr val="1E1E1E"/>
                          </a:solidFill>
                          <a:latin typeface="Times New Roman"/>
                        </a:rPr>
                        <a:t>Auditoría</a:t>
                      </a:r>
                    </a:p>
                  </a:txBody>
                  <a:tcPr marL="73152" marR="73152" marT="27432" marB="27432" anchor="ctr">
                    <a:solidFill>
                      <a:srgbClr val="FFFFFF"/>
                    </a:solidFill>
                  </a:tcPr>
                </a:tc>
                <a:tc>
                  <a:txBody>
                    <a:bodyPr wrap="square"/>
                    <a:lstStyle/>
                    <a:p>
                      <a:r>
                        <a:rPr sz="2100" b="0" i="0">
                          <a:solidFill>
                            <a:srgbClr val="1E1E1E"/>
                          </a:solidFill>
                          <a:latin typeface="Times New Roman"/>
                        </a:rPr>
                        <a:t>RNF-14</a:t>
                      </a:r>
                    </a:p>
                  </a:txBody>
                  <a:tcPr marL="73152" marR="73152" marT="27432" marB="27432" anchor="ctr">
                    <a:solidFill>
                      <a:srgbClr val="FFFFFF"/>
                    </a:solidFill>
                  </a:tcPr>
                </a:tc>
                <a:tc>
                  <a:txBody>
                    <a:bodyPr wrap="square"/>
                    <a:lstStyle/>
                    <a:p>
                      <a:r>
                        <a:rPr sz="2100" b="0" i="0">
                          <a:solidFill>
                            <a:srgbClr val="1E1E1E"/>
                          </a:solidFill>
                          <a:latin typeface="Times New Roman"/>
                        </a:rPr>
                        <a:t>HTTPS, CORS, Helmet, 64 KB</a:t>
                      </a:r>
                    </a:p>
                  </a:txBody>
                  <a:tcPr marL="73152" marR="73152" marT="27432" marB="27432" anchor="ctr">
                    <a:solidFill>
                      <a:srgbClr val="FFFFFF"/>
                    </a:solidFill>
                  </a:tcPr>
                </a:tc>
                <a:tc>
                  <a:txBody>
                    <a:bodyPr wrap="square"/>
                    <a:lstStyle/>
                    <a:p>
                      <a:r>
                        <a:rPr sz="2100" b="0" i="0">
                          <a:solidFill>
                            <a:srgbClr val="1E1E1E"/>
                          </a:solidFill>
                          <a:latin typeface="Times New Roman"/>
                        </a:rPr>
                        <a:t>Seguridad</a:t>
                      </a:r>
                    </a:p>
                  </a:txBody>
                  <a:tcPr marL="73152" marR="73152" marT="27432" marB="27432" anchor="ctr">
                    <a:solidFill>
                      <a:srgbClr val="FFFFFF"/>
                    </a:solidFill>
                  </a:tcPr>
                </a:tc>
              </a:tr>
              <a:tr h="590260">
                <a:tc>
                  <a:txBody>
                    <a:bodyPr wrap="square"/>
                    <a:lstStyle/>
                    <a:p>
                      <a:r>
                        <a:rPr sz="2100" b="0" i="0">
                          <a:solidFill>
                            <a:srgbClr val="1E1E1E"/>
                          </a:solidFill>
                          <a:latin typeface="Times New Roman"/>
                        </a:rPr>
                        <a:t>RNF-07</a:t>
                      </a:r>
                    </a:p>
                  </a:txBody>
                  <a:tcPr marL="73152" marR="73152" marT="27432" marB="27432" anchor="ctr">
                    <a:solidFill>
                      <a:srgbClr val="F2F6FC"/>
                    </a:solidFill>
                  </a:tcPr>
                </a:tc>
                <a:tc>
                  <a:txBody>
                    <a:bodyPr wrap="square"/>
                    <a:lstStyle/>
                    <a:p>
                      <a:r>
                        <a:rPr sz="2100" b="0" i="0">
                          <a:solidFill>
                            <a:srgbClr val="1E1E1E"/>
                          </a:solidFill>
                          <a:latin typeface="Times New Roman"/>
                        </a:rPr>
                        <a:t>Capas y módulos por dominio</a:t>
                      </a:r>
                    </a:p>
                  </a:txBody>
                  <a:tcPr marL="73152" marR="73152" marT="27432" marB="27432" anchor="ctr">
                    <a:solidFill>
                      <a:srgbClr val="F2F6FC"/>
                    </a:solidFill>
                  </a:tcPr>
                </a:tc>
                <a:tc>
                  <a:txBody>
                    <a:bodyPr wrap="square"/>
                    <a:lstStyle/>
                    <a:p>
                      <a:r>
                        <a:rPr sz="2100" b="0" i="0">
                          <a:solidFill>
                            <a:srgbClr val="1E1E1E"/>
                          </a:solidFill>
                          <a:latin typeface="Times New Roman"/>
                        </a:rPr>
                        <a:t>Mantenibilidad</a:t>
                      </a:r>
                    </a:p>
                  </a:txBody>
                  <a:tcPr marL="73152" marR="73152" marT="27432" marB="27432" anchor="ctr">
                    <a:solidFill>
                      <a:srgbClr val="F2F6FC"/>
                    </a:solidFill>
                  </a:tcPr>
                </a:tc>
                <a:tc>
                  <a:txBody>
                    <a:bodyPr wrap="square"/>
                    <a:lstStyle/>
                    <a:p>
                      <a:r>
                        <a:rPr sz="2100" b="0" i="0">
                          <a:solidFill>
                            <a:srgbClr val="1E1E1E"/>
                          </a:solidFill>
                          <a:latin typeface="Times New Roman"/>
                        </a:rPr>
                        <a:t>RNF-15</a:t>
                      </a:r>
                    </a:p>
                  </a:txBody>
                  <a:tcPr marL="73152" marR="73152" marT="27432" marB="27432" anchor="ctr">
                    <a:solidFill>
                      <a:srgbClr val="F2F6FC"/>
                    </a:solidFill>
                  </a:tcPr>
                </a:tc>
                <a:tc>
                  <a:txBody>
                    <a:bodyPr wrap="square"/>
                    <a:lstStyle/>
                    <a:p>
                      <a:r>
                        <a:rPr sz="2100" b="0" i="0">
                          <a:solidFill>
                            <a:srgbClr val="1E1E1E"/>
                          </a:solidFill>
                          <a:latin typeface="Times New Roman"/>
                        </a:rPr>
                        <a:t>Idempotencia de movimientos</a:t>
                      </a:r>
                    </a:p>
                  </a:txBody>
                  <a:tcPr marL="73152" marR="73152" marT="27432" marB="27432" anchor="ctr">
                    <a:solidFill>
                      <a:srgbClr val="F2F6FC"/>
                    </a:solidFill>
                  </a:tcPr>
                </a:tc>
                <a:tc>
                  <a:txBody>
                    <a:bodyPr wrap="square"/>
                    <a:lstStyle/>
                    <a:p>
                      <a:r>
                        <a:rPr sz="2100" b="0" i="0">
                          <a:solidFill>
                            <a:srgbClr val="1E1E1E"/>
                          </a:solidFill>
                          <a:latin typeface="Times New Roman"/>
                        </a:rPr>
                        <a:t>Integridad</a:t>
                      </a:r>
                    </a:p>
                  </a:txBody>
                  <a:tcPr marL="73152" marR="73152" marT="27432" marB="27432" anchor="ctr">
                    <a:solidFill>
                      <a:srgbClr val="F2F6FC"/>
                    </a:solidFill>
                  </a:tcPr>
                </a:tc>
              </a:tr>
              <a:tr h="590260">
                <a:tc>
                  <a:txBody>
                    <a:bodyPr wrap="square"/>
                    <a:lstStyle/>
                    <a:p>
                      <a:r>
                        <a:rPr sz="2100" b="0" i="0">
                          <a:solidFill>
                            <a:srgbClr val="1E1E1E"/>
                          </a:solidFill>
                          <a:latin typeface="Times New Roman"/>
                        </a:rPr>
                        <a:t>RNF-08</a:t>
                      </a:r>
                    </a:p>
                  </a:txBody>
                  <a:tcPr marL="73152" marR="73152" marT="27432" marB="27432" anchor="ctr">
                    <a:solidFill>
                      <a:srgbClr val="FFFFFF"/>
                    </a:solidFill>
                  </a:tcPr>
                </a:tc>
                <a:tc>
                  <a:txBody>
                    <a:bodyPr wrap="square"/>
                    <a:lstStyle/>
                    <a:p>
                      <a:r>
                        <a:rPr sz="2100" b="0" i="0">
                          <a:solidFill>
                            <a:srgbClr val="1E1E1E"/>
                          </a:solidFill>
                          <a:latin typeface="Times New Roman"/>
                        </a:rPr>
                        <a:t>Errores centralizados</a:t>
                      </a:r>
                    </a:p>
                  </a:txBody>
                  <a:tcPr marL="73152" marR="73152" marT="27432" marB="27432" anchor="ctr">
                    <a:solidFill>
                      <a:srgbClr val="FFFFFF"/>
                    </a:solidFill>
                  </a:tcPr>
                </a:tc>
                <a:tc>
                  <a:txBody>
                    <a:bodyPr wrap="square"/>
                    <a:lstStyle/>
                    <a:p>
                      <a:r>
                        <a:rPr sz="2100" b="0" i="0">
                          <a:solidFill>
                            <a:srgbClr val="1E1E1E"/>
                          </a:solidFill>
                          <a:latin typeface="Times New Roman"/>
                        </a:rPr>
                        <a:t>Mantenibilidad</a:t>
                      </a:r>
                    </a:p>
                  </a:txBody>
                  <a:tcPr marL="73152" marR="73152" marT="27432" marB="27432" anchor="ctr">
                    <a:solidFill>
                      <a:srgbClr val="FFFFFF"/>
                    </a:solidFill>
                  </a:tcPr>
                </a:tc>
                <a:tc>
                  <a:txBody>
                    <a:bodyPr wrap="square"/>
                    <a:lstStyle/>
                    <a:p>
                      <a:r>
                        <a:rPr sz="2100" b="0" i="0">
                          <a:solidFill>
                            <a:srgbClr val="1E1E1E"/>
                          </a:solidFill>
                          <a:latin typeface="Times New Roman"/>
                        </a:rPr>
                        <a:t>RNF-16</a:t>
                      </a:r>
                    </a:p>
                  </a:txBody>
                  <a:tcPr marL="73152" marR="73152" marT="27432" marB="27432" anchor="ctr">
                    <a:solidFill>
                      <a:srgbClr val="FFFFFF"/>
                    </a:solidFill>
                  </a:tcPr>
                </a:tc>
                <a:tc>
                  <a:txBody>
                    <a:bodyPr wrap="square"/>
                    <a:lstStyle/>
                    <a:p>
                      <a:r>
                        <a:rPr sz="2100" b="0" i="0">
                          <a:solidFill>
                            <a:srgbClr val="1E1E1E"/>
                          </a:solidFill>
                          <a:latin typeface="Times New Roman"/>
                        </a:rPr>
                        <a:t>ETag / If-Match (412)</a:t>
                      </a:r>
                    </a:p>
                  </a:txBody>
                  <a:tcPr marL="73152" marR="73152" marT="27432" marB="27432" anchor="ctr">
                    <a:solidFill>
                      <a:srgbClr val="FFFFFF"/>
                    </a:solidFill>
                  </a:tcPr>
                </a:tc>
                <a:tc>
                  <a:txBody>
                    <a:bodyPr wrap="square"/>
                    <a:lstStyle/>
                    <a:p>
                      <a:r>
                        <a:rPr sz="2100" b="0" i="0">
                          <a:solidFill>
                            <a:srgbClr val="1E1E1E"/>
                          </a:solidFill>
                          <a:latin typeface="Times New Roman"/>
                        </a:rPr>
                        <a:t>Integridad</a:t>
                      </a:r>
                    </a:p>
                  </a:txBody>
                  <a:tcPr marL="73152" marR="73152" marT="27432" marB="27432" anchor="ctr">
                    <a:solidFill>
                      <a:srgbClr val="FFFFFF"/>
                    </a:solidFill>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5. Arquitectura: del diseño a la implementación</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9</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graphicFrame>
        <p:nvGraphicFramePr>
          <p:cNvPr id="40" name="Table 39"/>
          <p:cNvGraphicFramePr>
            <a:graphicFrameLocks noGrp="1"/>
          </p:cNvGraphicFramePr>
          <p:nvPr/>
        </p:nvGraphicFramePr>
        <p:xfrm>
          <a:off x="685800" y="3145220"/>
          <a:ext cx="16916399" cy="5246760"/>
        </p:xfrm>
        <a:graphic>
          <a:graphicData uri="http://schemas.openxmlformats.org/drawingml/2006/table">
            <a:tbl>
              <a:tblPr firstRow="1" bandRow="1">
                <a:tableStyleId>{5C22544A-7EE6-4342-B048-85BDC9FD1C3A}</a:tableStyleId>
              </a:tblPr>
              <a:tblGrid>
                <a:gridCol w="2385646"/>
                <a:gridCol w="3903784"/>
                <a:gridCol w="4988169"/>
                <a:gridCol w="5638800"/>
              </a:tblGrid>
              <a:tr h="655845">
                <a:tc>
                  <a:txBody>
                    <a:bodyPr wrap="square"/>
                    <a:lstStyle/>
                    <a:p>
                      <a:r>
                        <a:rPr sz="2200" b="1" i="0">
                          <a:solidFill>
                            <a:srgbClr val="FFFFFF"/>
                          </a:solidFill>
                          <a:latin typeface="Times New Roman Bold"/>
                        </a:rPr>
                        <a:t>Aspecto</a:t>
                      </a:r>
                    </a:p>
                  </a:txBody>
                  <a:tcPr marL="73152" marR="73152" marT="27432" marB="27432" anchor="ctr">
                    <a:solidFill>
                      <a:srgbClr val="4285F4"/>
                    </a:solidFill>
                  </a:tcPr>
                </a:tc>
                <a:tc>
                  <a:txBody>
                    <a:bodyPr wrap="square"/>
                    <a:lstStyle/>
                    <a:p>
                      <a:r>
                        <a:rPr sz="2200" b="1" i="0">
                          <a:solidFill>
                            <a:srgbClr val="FFFFFF"/>
                          </a:solidFill>
                          <a:latin typeface="Times New Roman Bold"/>
                        </a:rPr>
                        <a:t>Avance 2 (diseño)</a:t>
                      </a:r>
                    </a:p>
                  </a:txBody>
                  <a:tcPr marL="73152" marR="73152" marT="27432" marB="27432" anchor="ctr">
                    <a:solidFill>
                      <a:srgbClr val="4285F4"/>
                    </a:solidFill>
                  </a:tcPr>
                </a:tc>
                <a:tc>
                  <a:txBody>
                    <a:bodyPr wrap="square"/>
                    <a:lstStyle/>
                    <a:p>
                      <a:r>
                        <a:rPr sz="2200" b="1" i="0">
                          <a:solidFill>
                            <a:srgbClr val="FFFFFF"/>
                          </a:solidFill>
                          <a:latin typeface="Times New Roman Bold"/>
                        </a:rPr>
                        <a:t>Implementación actual</a:t>
                      </a:r>
                    </a:p>
                  </a:txBody>
                  <a:tcPr marL="73152" marR="73152" marT="27432" marB="27432" anchor="ctr">
                    <a:solidFill>
                      <a:srgbClr val="4285F4"/>
                    </a:solidFill>
                  </a:tcPr>
                </a:tc>
                <a:tc>
                  <a:txBody>
                    <a:bodyPr wrap="square"/>
                    <a:lstStyle/>
                    <a:p>
                      <a:r>
                        <a:rPr sz="2200" b="1" i="0">
                          <a:solidFill>
                            <a:srgbClr val="FFFFFF"/>
                          </a:solidFill>
                          <a:latin typeface="Times New Roman Bold"/>
                        </a:rPr>
                        <a:t>Motivo</a:t>
                      </a:r>
                    </a:p>
                  </a:txBody>
                  <a:tcPr marL="73152" marR="73152" marT="27432" marB="27432" anchor="ctr">
                    <a:solidFill>
                      <a:srgbClr val="4285F4"/>
                    </a:solidFill>
                  </a:tcPr>
                </a:tc>
              </a:tr>
              <a:tr h="655845">
                <a:tc>
                  <a:txBody>
                    <a:bodyPr wrap="square"/>
                    <a:lstStyle/>
                    <a:p>
                      <a:r>
                        <a:rPr sz="2100" b="0" i="0">
                          <a:solidFill>
                            <a:srgbClr val="1E1E1E"/>
                          </a:solidFill>
                          <a:latin typeface="Times New Roman"/>
                        </a:rPr>
                        <a:t>Acceso a datos</a:t>
                      </a:r>
                    </a:p>
                  </a:txBody>
                  <a:tcPr marL="73152" marR="73152" marT="27432" marB="27432" anchor="ctr">
                    <a:solidFill>
                      <a:srgbClr val="F2F6FC"/>
                    </a:solidFill>
                  </a:tcPr>
                </a:tc>
                <a:tc>
                  <a:txBody>
                    <a:bodyPr wrap="square"/>
                    <a:lstStyle/>
                    <a:p>
                      <a:r>
                        <a:rPr sz="2100" b="0" i="0">
                          <a:solidFill>
                            <a:srgbClr val="1E1E1E"/>
                          </a:solidFill>
                          <a:latin typeface="Times New Roman"/>
                        </a:rPr>
                        <a:t>Prisma ORM</a:t>
                      </a:r>
                    </a:p>
                  </a:txBody>
                  <a:tcPr marL="73152" marR="73152" marT="27432" marB="27432" anchor="ctr">
                    <a:solidFill>
                      <a:srgbClr val="F2F6FC"/>
                    </a:solidFill>
                  </a:tcPr>
                </a:tc>
                <a:tc>
                  <a:txBody>
                    <a:bodyPr wrap="square"/>
                    <a:lstStyle/>
                    <a:p>
                      <a:r>
                        <a:rPr sz="2100" b="0" i="0">
                          <a:solidFill>
                            <a:srgbClr val="1E1E1E"/>
                          </a:solidFill>
                          <a:latin typeface="Times New Roman"/>
                        </a:rPr>
                        <a:t>node-mssql + T-SQL explícito</a:t>
                      </a:r>
                    </a:p>
                  </a:txBody>
                  <a:tcPr marL="73152" marR="73152" marT="27432" marB="27432" anchor="ctr">
                    <a:solidFill>
                      <a:srgbClr val="F2F6FC"/>
                    </a:solidFill>
                  </a:tcPr>
                </a:tc>
                <a:tc>
                  <a:txBody>
                    <a:bodyPr wrap="square"/>
                    <a:lstStyle/>
                    <a:p>
                      <a:r>
                        <a:rPr sz="2100" b="0" i="0">
                          <a:solidFill>
                            <a:srgbClr val="1E1E1E"/>
                          </a:solidFill>
                          <a:latin typeface="Times New Roman"/>
                        </a:rPr>
                        <a:t>Control de transacciones, bloqueos e identidad administrada</a:t>
                      </a:r>
                    </a:p>
                  </a:txBody>
                  <a:tcPr marL="73152" marR="73152" marT="27432" marB="27432" anchor="ctr">
                    <a:solidFill>
                      <a:srgbClr val="F2F6FC"/>
                    </a:solidFill>
                  </a:tcPr>
                </a:tc>
              </a:tr>
              <a:tr h="655845">
                <a:tc>
                  <a:txBody>
                    <a:bodyPr wrap="square"/>
                    <a:lstStyle/>
                    <a:p>
                      <a:r>
                        <a:rPr sz="2100" b="0" i="0">
                          <a:solidFill>
                            <a:srgbClr val="1E1E1E"/>
                          </a:solidFill>
                          <a:latin typeface="Times New Roman"/>
                        </a:rPr>
                        <a:t>Base de datos</a:t>
                      </a:r>
                    </a:p>
                  </a:txBody>
                  <a:tcPr marL="73152" marR="73152" marT="27432" marB="27432" anchor="ctr">
                    <a:solidFill>
                      <a:srgbClr val="FFFFFF"/>
                    </a:solidFill>
                  </a:tcPr>
                </a:tc>
                <a:tc>
                  <a:txBody>
                    <a:bodyPr wrap="square"/>
                    <a:lstStyle/>
                    <a:p>
                      <a:r>
                        <a:rPr sz="2100" b="0" i="0">
                          <a:solidFill>
                            <a:srgbClr val="1E1E1E"/>
                          </a:solidFill>
                          <a:latin typeface="Times New Roman"/>
                        </a:rPr>
                        <a:t>SQLite / PostgreSQL</a:t>
                      </a:r>
                    </a:p>
                  </a:txBody>
                  <a:tcPr marL="73152" marR="73152" marT="27432" marB="27432" anchor="ctr">
                    <a:solidFill>
                      <a:srgbClr val="FFFFFF"/>
                    </a:solidFill>
                  </a:tcPr>
                </a:tc>
                <a:tc>
                  <a:txBody>
                    <a:bodyPr wrap="square"/>
                    <a:lstStyle/>
                    <a:p>
                      <a:r>
                        <a:rPr sz="2100" b="0" i="0">
                          <a:solidFill>
                            <a:srgbClr val="1E1E1E"/>
                          </a:solidFill>
                          <a:latin typeface="Times New Roman"/>
                        </a:rPr>
                        <a:t>SQL Server 2019 → Azure SQL</a:t>
                      </a:r>
                    </a:p>
                  </a:txBody>
                  <a:tcPr marL="73152" marR="73152" marT="27432" marB="27432" anchor="ctr">
                    <a:solidFill>
                      <a:srgbClr val="FFFFFF"/>
                    </a:solidFill>
                  </a:tcPr>
                </a:tc>
                <a:tc>
                  <a:txBody>
                    <a:bodyPr wrap="square"/>
                    <a:lstStyle/>
                    <a:p>
                      <a:r>
                        <a:rPr sz="2100" b="0" i="0">
                          <a:solidFill>
                            <a:srgbClr val="1E1E1E"/>
                          </a:solidFill>
                          <a:latin typeface="Times New Roman"/>
                        </a:rPr>
                        <a:t>Destino acordado en Azure</a:t>
                      </a:r>
                    </a:p>
                  </a:txBody>
                  <a:tcPr marL="73152" marR="73152" marT="27432" marB="27432" anchor="ctr">
                    <a:solidFill>
                      <a:srgbClr val="FFFFFF"/>
                    </a:solidFill>
                  </a:tcPr>
                </a:tc>
              </a:tr>
              <a:tr h="655845">
                <a:tc>
                  <a:txBody>
                    <a:bodyPr wrap="square"/>
                    <a:lstStyle/>
                    <a:p>
                      <a:r>
                        <a:rPr sz="2100" b="0" i="0">
                          <a:solidFill>
                            <a:srgbClr val="1E1E1E"/>
                          </a:solidFill>
                          <a:latin typeface="Times New Roman"/>
                        </a:rPr>
                        <a:t>Autenticación</a:t>
                      </a:r>
                    </a:p>
                  </a:txBody>
                  <a:tcPr marL="73152" marR="73152" marT="27432" marB="27432" anchor="ctr">
                    <a:solidFill>
                      <a:srgbClr val="F2F6FC"/>
                    </a:solidFill>
                  </a:tcPr>
                </a:tc>
                <a:tc>
                  <a:txBody>
                    <a:bodyPr wrap="square"/>
                    <a:lstStyle/>
                    <a:p>
                      <a:r>
                        <a:rPr sz="2100" b="0" i="0">
                          <a:solidFill>
                            <a:srgbClr val="1E1E1E"/>
                          </a:solidFill>
                          <a:latin typeface="Times New Roman"/>
                        </a:rPr>
                        <a:t>Correo, contraseña y JWT propio</a:t>
                      </a:r>
                    </a:p>
                  </a:txBody>
                  <a:tcPr marL="73152" marR="73152" marT="27432" marB="27432" anchor="ctr">
                    <a:solidFill>
                      <a:srgbClr val="F2F6FC"/>
                    </a:solidFill>
                  </a:tcPr>
                </a:tc>
                <a:tc>
                  <a:txBody>
                    <a:bodyPr wrap="square"/>
                    <a:lstStyle/>
                    <a:p>
                      <a:r>
                        <a:rPr sz="2100" b="0" i="0">
                          <a:solidFill>
                            <a:srgbClr val="1E1E1E"/>
                          </a:solidFill>
                          <a:latin typeface="Times New Roman"/>
                        </a:rPr>
                        <a:t>Microsoft Entra ID (MSAL + PKCE)</a:t>
                      </a:r>
                    </a:p>
                  </a:txBody>
                  <a:tcPr marL="73152" marR="73152" marT="27432" marB="27432" anchor="ctr">
                    <a:solidFill>
                      <a:srgbClr val="F2F6FC"/>
                    </a:solidFill>
                  </a:tcPr>
                </a:tc>
                <a:tc>
                  <a:txBody>
                    <a:bodyPr wrap="square"/>
                    <a:lstStyle/>
                    <a:p>
                      <a:r>
                        <a:rPr sz="2100" b="0" i="0">
                          <a:solidFill>
                            <a:srgbClr val="1E1E1E"/>
                          </a:solidFill>
                          <a:latin typeface="Times New Roman"/>
                        </a:rPr>
                        <a:t>No guardar contraseñas; roles y MFA</a:t>
                      </a:r>
                    </a:p>
                  </a:txBody>
                  <a:tcPr marL="73152" marR="73152" marT="27432" marB="27432" anchor="ctr">
                    <a:solidFill>
                      <a:srgbClr val="F2F6FC"/>
                    </a:solidFill>
                  </a:tcPr>
                </a:tc>
              </a:tr>
              <a:tr h="655845">
                <a:tc>
                  <a:txBody>
                    <a:bodyPr wrap="square"/>
                    <a:lstStyle/>
                    <a:p>
                      <a:r>
                        <a:rPr sz="2100" b="0" i="0">
                          <a:solidFill>
                            <a:srgbClr val="1E1E1E"/>
                          </a:solidFill>
                          <a:latin typeface="Times New Roman"/>
                        </a:rPr>
                        <a:t>Avisos</a:t>
                      </a:r>
                    </a:p>
                  </a:txBody>
                  <a:tcPr marL="73152" marR="73152" marT="27432" marB="27432" anchor="ctr">
                    <a:solidFill>
                      <a:srgbClr val="FFFFFF"/>
                    </a:solidFill>
                  </a:tcPr>
                </a:tc>
                <a:tc>
                  <a:txBody>
                    <a:bodyPr wrap="square"/>
                    <a:lstStyle/>
                    <a:p>
                      <a:r>
                        <a:rPr sz="2100" b="0" i="0">
                          <a:solidFill>
                            <a:srgbClr val="1E1E1E"/>
                          </a:solidFill>
                          <a:latin typeface="Times New Roman"/>
                        </a:rPr>
                        <a:t>Correo, SMS o WhatsApp</a:t>
                      </a:r>
                    </a:p>
                  </a:txBody>
                  <a:tcPr marL="73152" marR="73152" marT="27432" marB="27432" anchor="ctr">
                    <a:solidFill>
                      <a:srgbClr val="FFFFFF"/>
                    </a:solidFill>
                  </a:tcPr>
                </a:tc>
                <a:tc>
                  <a:txBody>
                    <a:bodyPr wrap="square"/>
                    <a:lstStyle/>
                    <a:p>
                      <a:r>
                        <a:rPr sz="2100" b="0" i="0">
                          <a:solidFill>
                            <a:srgbClr val="1E1E1E"/>
                          </a:solidFill>
                          <a:latin typeface="Times New Roman"/>
                        </a:rPr>
                        <a:t>Outbox + worker (correo pendiente)</a:t>
                      </a:r>
                    </a:p>
                  </a:txBody>
                  <a:tcPr marL="73152" marR="73152" marT="27432" marB="27432" anchor="ctr">
                    <a:solidFill>
                      <a:srgbClr val="FFFFFF"/>
                    </a:solidFill>
                  </a:tcPr>
                </a:tc>
                <a:tc>
                  <a:txBody>
                    <a:bodyPr wrap="square"/>
                    <a:lstStyle/>
                    <a:p>
                      <a:r>
                        <a:rPr sz="2100" b="0" i="0">
                          <a:solidFill>
                            <a:srgbClr val="1E1E1E"/>
                          </a:solidFill>
                          <a:latin typeface="Times New Roman"/>
                        </a:rPr>
                        <a:t>No perder avisos ni bloquear movimientos</a:t>
                      </a:r>
                    </a:p>
                  </a:txBody>
                  <a:tcPr marL="73152" marR="73152" marT="27432" marB="27432" anchor="ctr">
                    <a:solidFill>
                      <a:srgbClr val="FFFFFF"/>
                    </a:solidFill>
                  </a:tcPr>
                </a:tc>
              </a:tr>
              <a:tr h="655845">
                <a:tc>
                  <a:txBody>
                    <a:bodyPr wrap="square"/>
                    <a:lstStyle/>
                    <a:p>
                      <a:r>
                        <a:rPr sz="2100" b="0" i="0">
                          <a:solidFill>
                            <a:srgbClr val="1E1E1E"/>
                          </a:solidFill>
                          <a:latin typeface="Times New Roman"/>
                        </a:rPr>
                        <a:t>Strategy</a:t>
                      </a:r>
                    </a:p>
                  </a:txBody>
                  <a:tcPr marL="73152" marR="73152" marT="27432" marB="27432" anchor="ctr">
                    <a:solidFill>
                      <a:srgbClr val="F2F6FC"/>
                    </a:solidFill>
                  </a:tcPr>
                </a:tc>
                <a:tc>
                  <a:txBody>
                    <a:bodyPr wrap="square"/>
                    <a:lstStyle/>
                    <a:p>
                      <a:r>
                        <a:rPr sz="2100" b="0" i="0">
                          <a:solidFill>
                            <a:srgbClr val="1E1E1E"/>
                          </a:solidFill>
                          <a:latin typeface="Times New Roman"/>
                        </a:rPr>
                        <a:t>Canal de aviso</a:t>
                      </a:r>
                    </a:p>
                  </a:txBody>
                  <a:tcPr marL="73152" marR="73152" marT="27432" marB="27432" anchor="ctr">
                    <a:solidFill>
                      <a:srgbClr val="F2F6FC"/>
                    </a:solidFill>
                  </a:tcPr>
                </a:tc>
                <a:tc>
                  <a:txBody>
                    <a:bodyPr wrap="square"/>
                    <a:lstStyle/>
                    <a:p>
                      <a:r>
                        <a:rPr sz="2100" b="0" i="0">
                          <a:solidFill>
                            <a:srgbClr val="1E1E1E"/>
                          </a:solidFill>
                          <a:latin typeface="Times New Roman"/>
                        </a:rPr>
                        <a:t>Formato del reporte PDF / Excel</a:t>
                      </a:r>
                    </a:p>
                  </a:txBody>
                  <a:tcPr marL="73152" marR="73152" marT="27432" marB="27432" anchor="ctr">
                    <a:solidFill>
                      <a:srgbClr val="F2F6FC"/>
                    </a:solidFill>
                  </a:tcPr>
                </a:tc>
                <a:tc>
                  <a:txBody>
                    <a:bodyPr wrap="square"/>
                    <a:lstStyle/>
                    <a:p>
                      <a:r>
                        <a:rPr sz="2100" b="0" i="0">
                          <a:solidFill>
                            <a:srgbClr val="1E1E1E"/>
                          </a:solidFill>
                          <a:latin typeface="Times New Roman"/>
                        </a:rPr>
                        <a:t>Alternativa real implementada en el código</a:t>
                      </a:r>
                    </a:p>
                  </a:txBody>
                  <a:tcPr marL="73152" marR="73152" marT="27432" marB="27432" anchor="ctr">
                    <a:solidFill>
                      <a:srgbClr val="F2F6FC"/>
                    </a:solidFill>
                  </a:tcPr>
                </a:tc>
              </a:tr>
              <a:tr h="655845">
                <a:tc>
                  <a:txBody>
                    <a:bodyPr wrap="square"/>
                    <a:lstStyle/>
                    <a:p>
                      <a:r>
                        <a:rPr sz="2100" b="0" i="0">
                          <a:solidFill>
                            <a:srgbClr val="1E1E1E"/>
                          </a:solidFill>
                          <a:latin typeface="Times New Roman"/>
                        </a:rPr>
                        <a:t>Alcance</a:t>
                      </a:r>
                    </a:p>
                  </a:txBody>
                  <a:tcPr marL="73152" marR="73152" marT="27432" marB="27432" anchor="ctr">
                    <a:solidFill>
                      <a:srgbClr val="FFFFFF"/>
                    </a:solidFill>
                  </a:tcPr>
                </a:tc>
                <a:tc>
                  <a:txBody>
                    <a:bodyPr wrap="square"/>
                    <a:lstStyle/>
                    <a:p>
                      <a:r>
                        <a:rPr sz="2100" b="0" i="0">
                          <a:solidFill>
                            <a:srgbClr val="1E1E1E"/>
                          </a:solidFill>
                          <a:latin typeface="Times New Roman"/>
                        </a:rPr>
                        <a:t>7 tablas</a:t>
                      </a:r>
                    </a:p>
                  </a:txBody>
                  <a:tcPr marL="73152" marR="73152" marT="27432" marB="27432" anchor="ctr">
                    <a:solidFill>
                      <a:srgbClr val="FFFFFF"/>
                    </a:solidFill>
                  </a:tcPr>
                </a:tc>
                <a:tc>
                  <a:txBody>
                    <a:bodyPr wrap="square"/>
                    <a:lstStyle/>
                    <a:p>
                      <a:r>
                        <a:rPr sz="2100" b="0" i="0">
                          <a:solidFill>
                            <a:srgbClr val="1E1E1E"/>
                          </a:solidFill>
                          <a:latin typeface="Times New Roman"/>
                        </a:rPr>
                        <a:t>12 tablas: + compras, adjuntos, auditoría, Outbox</a:t>
                      </a:r>
                    </a:p>
                  </a:txBody>
                  <a:tcPr marL="73152" marR="73152" marT="27432" marB="27432" anchor="ctr">
                    <a:solidFill>
                      <a:srgbClr val="FFFFFF"/>
                    </a:solidFill>
                  </a:tcPr>
                </a:tc>
                <a:tc>
                  <a:txBody>
                    <a:bodyPr wrap="square"/>
                    <a:lstStyle/>
                    <a:p>
                      <a:r>
                        <a:rPr sz="2100" b="0" i="0">
                          <a:solidFill>
                            <a:srgbClr val="1E1E1E"/>
                          </a:solidFill>
                          <a:latin typeface="Times New Roman"/>
                        </a:rPr>
                        <a:t>Recepción de compras y trazabilidad</a:t>
                      </a:r>
                    </a:p>
                  </a:txBody>
                  <a:tcPr marL="73152" marR="73152" marT="27432" marB="27432" anchor="ctr">
                    <a:solidFill>
                      <a:srgbClr val="FFFFFF"/>
                    </a:solidFill>
                  </a:tcPr>
                </a:tc>
              </a:tr>
              <a:tr h="655845">
                <a:tc>
                  <a:txBody>
                    <a:bodyPr wrap="square"/>
                    <a:lstStyle/>
                    <a:p>
                      <a:r>
                        <a:rPr sz="2100" b="0" i="0">
                          <a:solidFill>
                            <a:srgbClr val="1E1E1E"/>
                          </a:solidFill>
                          <a:latin typeface="Times New Roman"/>
                        </a:rPr>
                        <a:t>Estilo</a:t>
                      </a:r>
                    </a:p>
                  </a:txBody>
                  <a:tcPr marL="73152" marR="73152" marT="27432" marB="27432" anchor="ctr">
                    <a:solidFill>
                      <a:srgbClr val="F2F6FC"/>
                    </a:solidFill>
                  </a:tcPr>
                </a:tc>
                <a:tc>
                  <a:txBody>
                    <a:bodyPr wrap="square"/>
                    <a:lstStyle/>
                    <a:p>
                      <a:r>
                        <a:rPr sz="2100" b="0" i="0">
                          <a:solidFill>
                            <a:srgbClr val="1E1E1E"/>
                          </a:solidFill>
                          <a:latin typeface="Times New Roman"/>
                        </a:rPr>
                        <a:t>Capas + monolito modular</a:t>
                      </a:r>
                    </a:p>
                  </a:txBody>
                  <a:tcPr marL="73152" marR="73152" marT="27432" marB="27432" anchor="ctr">
                    <a:solidFill>
                      <a:srgbClr val="F2F6FC"/>
                    </a:solidFill>
                  </a:tcPr>
                </a:tc>
                <a:tc>
                  <a:txBody>
                    <a:bodyPr wrap="square"/>
                    <a:lstStyle/>
                    <a:p>
                      <a:r>
                        <a:rPr sz="2100" b="0" i="0">
                          <a:solidFill>
                            <a:srgbClr val="1E1E1E"/>
                          </a:solidFill>
                          <a:latin typeface="Times New Roman"/>
                        </a:rPr>
                        <a:t>Se mantiene</a:t>
                      </a:r>
                    </a:p>
                  </a:txBody>
                  <a:tcPr marL="73152" marR="73152" marT="27432" marB="27432" anchor="ctr">
                    <a:solidFill>
                      <a:srgbClr val="F2F6FC"/>
                    </a:solidFill>
                  </a:tcPr>
                </a:tc>
                <a:tc>
                  <a:txBody>
                    <a:bodyPr wrap="square"/>
                    <a:lstStyle/>
                    <a:p>
                      <a:r>
                        <a:rPr sz="2100" b="0" i="0">
                          <a:solidFill>
                            <a:srgbClr val="1E1E1E"/>
                          </a:solidFill>
                          <a:latin typeface="Times New Roman"/>
                        </a:rPr>
                        <a:t>—</a:t>
                      </a:r>
                    </a:p>
                  </a:txBody>
                  <a:tcPr marL="73152" marR="73152" marT="27432" marB="27432" anchor="ctr">
                    <a:solidFill>
                      <a:srgbClr val="F2F6FC"/>
                    </a:solidFill>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5. Arquitectura en capas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10</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pic>
        <p:nvPicPr>
          <p:cNvPr id="40" name="Figura 1" descr="Figura_01_arquitectura_capas.png"/>
          <p:cNvPicPr>
            <a:picLocks noChangeAspect="1"/>
          </p:cNvPicPr>
          <p:nvPr/>
        </p:nvPicPr>
        <p:blipFill>
          <a:blip r:embed="rId2"/>
          <a:stretch>
            <a:fillRect/>
          </a:stretch>
        </p:blipFill>
        <p:spPr>
          <a:xfrm>
            <a:off x="2062401" y="2981259"/>
            <a:ext cx="6573677" cy="5719099"/>
          </a:xfrm>
          <a:prstGeom prst="rect">
            <a:avLst/>
          </a:prstGeom>
        </p:spPr>
      </p:pic>
      <p:sp>
        <p:nvSpPr>
          <p:cNvPr id="41" name="TextBox 40"/>
          <p:cNvSpPr txBox="1"/>
          <p:nvPr/>
        </p:nvSpPr>
        <p:spPr>
          <a:xfrm>
            <a:off x="685800" y="8746078"/>
            <a:ext cx="932688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1. Arquitectura en capas y ubicación de cada patrón</a:t>
            </a:r>
          </a:p>
        </p:txBody>
      </p:sp>
      <p:sp>
        <p:nvSpPr>
          <p:cNvPr id="42" name="Rounded Rectangle 41"/>
          <p:cNvSpPr/>
          <p:nvPr/>
        </p:nvSpPr>
        <p:spPr>
          <a:xfrm>
            <a:off x="10287000" y="3063240"/>
            <a:ext cx="7315200" cy="295130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469880" y="3186211"/>
            <a:ext cx="6949440" cy="2705362"/>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Capas</a:t>
            </a:r>
          </a:p>
          <a:p>
            <a:pPr algn="l" marL="256032" indent="-219456">
              <a:spcAft>
                <a:spcPts val="500"/>
              </a:spcAft>
              <a:buChar char="•"/>
            </a:pPr>
            <a:r>
              <a:rPr sz="2200" b="1" i="0">
                <a:solidFill>
                  <a:srgbClr val="1E1E1E"/>
                </a:solidFill>
                <a:latin typeface="Times New Roman Bold"/>
              </a:rPr>
              <a:t>Presentación:</a:t>
            </a:r>
            <a:r>
              <a:rPr sz="2200" b="0" i="0">
                <a:solidFill>
                  <a:srgbClr val="1E1E1E"/>
                </a:solidFill>
                <a:latin typeface="Times New Roman"/>
              </a:rPr>
              <a:t> React 19, vistas por rol y MSAL.</a:t>
            </a:r>
          </a:p>
          <a:p>
            <a:pPr algn="l" marL="256032" indent="-219456">
              <a:spcAft>
                <a:spcPts val="500"/>
              </a:spcAft>
              <a:buChar char="•"/>
            </a:pPr>
            <a:r>
              <a:rPr sz="2200" b="1" i="0">
                <a:solidFill>
                  <a:srgbClr val="1E1E1E"/>
                </a:solidFill>
                <a:latin typeface="Times New Roman Bold"/>
              </a:rPr>
              <a:t>Entrada HTTP:</a:t>
            </a:r>
            <a:r>
              <a:rPr sz="2200" b="0" i="0">
                <a:solidFill>
                  <a:srgbClr val="1E1E1E"/>
                </a:solidFill>
                <a:latin typeface="Times New Roman"/>
              </a:rPr>
              <a:t> rutas y middlewares (Chain of Responsibility).</a:t>
            </a:r>
          </a:p>
          <a:p>
            <a:pPr algn="l" marL="256032" indent="-219456">
              <a:spcAft>
                <a:spcPts val="500"/>
              </a:spcAft>
              <a:buChar char="•"/>
            </a:pPr>
            <a:r>
              <a:rPr sz="2200" b="1" i="0">
                <a:solidFill>
                  <a:srgbClr val="1E1E1E"/>
                </a:solidFill>
                <a:latin typeface="Times New Roman Bold"/>
              </a:rPr>
              <a:t>Aplicación:</a:t>
            </a:r>
            <a:r>
              <a:rPr sz="2200" b="0" i="0">
                <a:solidFill>
                  <a:srgbClr val="1E1E1E"/>
                </a:solidFill>
                <a:latin typeface="Times New Roman"/>
              </a:rPr>
              <a:t> Facades dentro de su Unit of Work.</a:t>
            </a:r>
          </a:p>
          <a:p>
            <a:pPr algn="l" marL="256032" indent="-219456">
              <a:spcAft>
                <a:spcPts val="500"/>
              </a:spcAft>
              <a:buChar char="•"/>
            </a:pPr>
            <a:r>
              <a:rPr sz="2200" b="1" i="0">
                <a:solidFill>
                  <a:srgbClr val="1E1E1E"/>
                </a:solidFill>
                <a:latin typeface="Times New Roman Bold"/>
              </a:rPr>
              <a:t>Dominio:</a:t>
            </a:r>
            <a:r>
              <a:rPr sz="2200" b="0" i="0">
                <a:solidFill>
                  <a:srgbClr val="1E1E1E"/>
                </a:solidFill>
                <a:latin typeface="Times New Roman"/>
              </a:rPr>
              <a:t> reglas puras de stock, alertas y facturas.</a:t>
            </a:r>
          </a:p>
          <a:p>
            <a:pPr algn="l" marL="256032" indent="-219456">
              <a:spcAft>
                <a:spcPts val="500"/>
              </a:spcAft>
              <a:buChar char="•"/>
            </a:pPr>
            <a:r>
              <a:rPr sz="2200" b="1" i="0">
                <a:solidFill>
                  <a:srgbClr val="1E1E1E"/>
                </a:solidFill>
                <a:latin typeface="Times New Roman Bold"/>
              </a:rPr>
              <a:t>Infraestructura:</a:t>
            </a:r>
            <a:r>
              <a:rPr sz="2200" b="0" i="0">
                <a:solidFill>
                  <a:srgbClr val="1E1E1E"/>
                </a:solidFill>
                <a:latin typeface="Times New Roman"/>
              </a:rPr>
              <a:t> repositorios SQL y almacenamiento.</a:t>
            </a:r>
          </a:p>
        </p:txBody>
      </p:sp>
      <p:sp>
        <p:nvSpPr>
          <p:cNvPr id="44" name="Rounded Rectangle 43"/>
          <p:cNvSpPr/>
          <p:nvPr/>
        </p:nvSpPr>
        <p:spPr>
          <a:xfrm>
            <a:off x="10287000" y="6178506"/>
            <a:ext cx="7315200" cy="274635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69880" y="6301477"/>
            <a:ext cx="6949440" cy="2500411"/>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Justificación</a:t>
            </a:r>
          </a:p>
          <a:p>
            <a:pPr algn="l" marL="256032" indent="-219456">
              <a:spcAft>
                <a:spcPts val="500"/>
              </a:spcAft>
              <a:buChar char="•"/>
            </a:pPr>
            <a:r>
              <a:rPr sz="2200" b="0" i="0">
                <a:solidFill>
                  <a:srgbClr val="1E1E1E"/>
                </a:solidFill>
                <a:latin typeface="Times New Roman"/>
              </a:rPr>
              <a:t>Dependencia en un solo sentido: un cambio queda acotado a su capa.</a:t>
            </a:r>
          </a:p>
          <a:p>
            <a:pPr algn="l" marL="256032" indent="-219456">
              <a:spcAft>
                <a:spcPts val="500"/>
              </a:spcAft>
              <a:buChar char="•"/>
            </a:pPr>
            <a:r>
              <a:rPr sz="2200" b="0" i="0">
                <a:solidFill>
                  <a:srgbClr val="1E1E1E"/>
                </a:solidFill>
                <a:latin typeface="Times New Roman"/>
              </a:rPr>
              <a:t>El dominio se prueba sin levantar la interfaz ni Express.</a:t>
            </a:r>
          </a:p>
          <a:p>
            <a:pPr algn="l" marL="256032" indent="-219456">
              <a:spcAft>
                <a:spcPts val="500"/>
              </a:spcAft>
              <a:buChar char="•"/>
            </a:pPr>
            <a:r>
              <a:rPr sz="2200" b="0" i="0">
                <a:solidFill>
                  <a:srgbClr val="1E1E1E"/>
                </a:solidFill>
                <a:latin typeface="Times New Roman"/>
              </a:rPr>
              <a:t>Monolito modular: un solo despliegue, módulos con responsabilidades claras.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5. Patrones arquitectónicos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11</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graphicFrame>
        <p:nvGraphicFramePr>
          <p:cNvPr id="40" name="Table 39"/>
          <p:cNvGraphicFramePr>
            <a:graphicFrameLocks noGrp="1"/>
          </p:cNvGraphicFramePr>
          <p:nvPr/>
        </p:nvGraphicFramePr>
        <p:xfrm>
          <a:off x="685800" y="3145220"/>
          <a:ext cx="16916400" cy="4672896"/>
        </p:xfrm>
        <a:graphic>
          <a:graphicData uri="http://schemas.openxmlformats.org/drawingml/2006/table">
            <a:tbl>
              <a:tblPr firstRow="1" bandRow="1">
                <a:tableStyleId>{5C22544A-7EE6-4342-B048-85BDC9FD1C3A}</a:tableStyleId>
              </a:tblPr>
              <a:tblGrid>
                <a:gridCol w="1097280"/>
                <a:gridCol w="3291840"/>
                <a:gridCol w="12527280"/>
              </a:tblGrid>
              <a:tr h="778816">
                <a:tc>
                  <a:txBody>
                    <a:bodyPr wrap="square"/>
                    <a:lstStyle/>
                    <a:p>
                      <a:r>
                        <a:rPr sz="2400" b="1" i="0">
                          <a:solidFill>
                            <a:srgbClr val="FFFFFF"/>
                          </a:solidFill>
                          <a:latin typeface="Times New Roman Bold"/>
                        </a:rPr>
                        <a:t>ID</a:t>
                      </a:r>
                    </a:p>
                  </a:txBody>
                  <a:tcPr marL="73152" marR="73152" marT="27432" marB="27432" anchor="ctr">
                    <a:solidFill>
                      <a:srgbClr val="4285F4"/>
                    </a:solidFill>
                  </a:tcPr>
                </a:tc>
                <a:tc>
                  <a:txBody>
                    <a:bodyPr wrap="square"/>
                    <a:lstStyle/>
                    <a:p>
                      <a:r>
                        <a:rPr sz="2400" b="1" i="0">
                          <a:solidFill>
                            <a:srgbClr val="FFFFFF"/>
                          </a:solidFill>
                          <a:latin typeface="Times New Roman Bold"/>
                        </a:rPr>
                        <a:t>Patrón</a:t>
                      </a:r>
                    </a:p>
                  </a:txBody>
                  <a:tcPr marL="73152" marR="73152" marT="27432" marB="27432" anchor="ctr">
                    <a:solidFill>
                      <a:srgbClr val="4285F4"/>
                    </a:solidFill>
                  </a:tcPr>
                </a:tc>
                <a:tc>
                  <a:txBody>
                    <a:bodyPr wrap="square"/>
                    <a:lstStyle/>
                    <a:p>
                      <a:r>
                        <a:rPr sz="2400" b="1" i="0">
                          <a:solidFill>
                            <a:srgbClr val="FFFFFF"/>
                          </a:solidFill>
                          <a:latin typeface="Times New Roman Bold"/>
                        </a:rPr>
                        <a:t>Aplicación en el sistema</a:t>
                      </a:r>
                    </a:p>
                  </a:txBody>
                  <a:tcPr marL="73152" marR="73152" marT="27432" marB="27432" anchor="ctr">
                    <a:solidFill>
                      <a:srgbClr val="4285F4"/>
                    </a:solidFill>
                  </a:tcPr>
                </a:tc>
              </a:tr>
              <a:tr h="778816">
                <a:tc>
                  <a:txBody>
                    <a:bodyPr wrap="square"/>
                    <a:lstStyle/>
                    <a:p>
                      <a:r>
                        <a:rPr sz="2200" b="0" i="0">
                          <a:solidFill>
                            <a:srgbClr val="1E1E1E"/>
                          </a:solidFill>
                          <a:latin typeface="Times New Roman"/>
                        </a:rPr>
                        <a:t>PA-01</a:t>
                      </a:r>
                    </a:p>
                  </a:txBody>
                  <a:tcPr marL="73152" marR="73152" marT="27432" marB="27432" anchor="ctr">
                    <a:solidFill>
                      <a:srgbClr val="F2F6FC"/>
                    </a:solidFill>
                  </a:tcPr>
                </a:tc>
                <a:tc>
                  <a:txBody>
                    <a:bodyPr wrap="square"/>
                    <a:lstStyle/>
                    <a:p>
                      <a:r>
                        <a:rPr sz="2200" b="0" i="0">
                          <a:solidFill>
                            <a:srgbClr val="1E1E1E"/>
                          </a:solidFill>
                          <a:latin typeface="Times New Roman"/>
                        </a:rPr>
                        <a:t>Arquitectura en capas</a:t>
                      </a:r>
                    </a:p>
                  </a:txBody>
                  <a:tcPr marL="73152" marR="73152" marT="27432" marB="27432" anchor="ctr">
                    <a:solidFill>
                      <a:srgbClr val="F2F6FC"/>
                    </a:solidFill>
                  </a:tcPr>
                </a:tc>
                <a:tc>
                  <a:txBody>
                    <a:bodyPr wrap="square"/>
                    <a:lstStyle/>
                    <a:p>
                      <a:r>
                        <a:rPr sz="2200" b="0" i="0">
                          <a:solidFill>
                            <a:srgbClr val="1E1E1E"/>
                          </a:solidFill>
                          <a:latin typeface="Times New Roman"/>
                        </a:rPr>
                        <a:t>Presentación, entrada HTTP, aplicación, dominio e infraestructura, con dependencias en un solo sentido</a:t>
                      </a:r>
                    </a:p>
                  </a:txBody>
                  <a:tcPr marL="73152" marR="73152" marT="27432" marB="27432" anchor="ctr">
                    <a:solidFill>
                      <a:srgbClr val="F2F6FC"/>
                    </a:solidFill>
                  </a:tcPr>
                </a:tc>
              </a:tr>
              <a:tr h="778816">
                <a:tc>
                  <a:txBody>
                    <a:bodyPr wrap="square"/>
                    <a:lstStyle/>
                    <a:p>
                      <a:r>
                        <a:rPr sz="2200" b="0" i="0">
                          <a:solidFill>
                            <a:srgbClr val="1E1E1E"/>
                          </a:solidFill>
                          <a:latin typeface="Times New Roman"/>
                        </a:rPr>
                        <a:t>PA-02</a:t>
                      </a:r>
                    </a:p>
                  </a:txBody>
                  <a:tcPr marL="73152" marR="73152" marT="27432" marB="27432" anchor="ctr">
                    <a:solidFill>
                      <a:srgbClr val="FFFFFF"/>
                    </a:solidFill>
                  </a:tcPr>
                </a:tc>
                <a:tc>
                  <a:txBody>
                    <a:bodyPr wrap="square"/>
                    <a:lstStyle/>
                    <a:p>
                      <a:r>
                        <a:rPr sz="2200" b="0" i="0">
                          <a:solidFill>
                            <a:srgbClr val="1E1E1E"/>
                          </a:solidFill>
                          <a:latin typeface="Times New Roman"/>
                        </a:rPr>
                        <a:t>Monolito modular</a:t>
                      </a:r>
                    </a:p>
                  </a:txBody>
                  <a:tcPr marL="73152" marR="73152" marT="27432" marB="27432" anchor="ctr">
                    <a:solidFill>
                      <a:srgbClr val="FFFFFF"/>
                    </a:solidFill>
                  </a:tcPr>
                </a:tc>
                <a:tc>
                  <a:txBody>
                    <a:bodyPr wrap="square"/>
                    <a:lstStyle/>
                    <a:p>
                      <a:r>
                        <a:rPr sz="2200" b="0" i="0">
                          <a:solidFill>
                            <a:srgbClr val="1E1E1E"/>
                          </a:solidFill>
                          <a:latin typeface="Times New Roman"/>
                        </a:rPr>
                        <a:t>Módulos por dominio en backend/src/modules/; el worker reutiliza el mismo código</a:t>
                      </a:r>
                    </a:p>
                  </a:txBody>
                  <a:tcPr marL="73152" marR="73152" marT="27432" marB="27432" anchor="ctr">
                    <a:solidFill>
                      <a:srgbClr val="FFFFFF"/>
                    </a:solidFill>
                  </a:tcPr>
                </a:tc>
              </a:tr>
              <a:tr h="778816">
                <a:tc>
                  <a:txBody>
                    <a:bodyPr wrap="square"/>
                    <a:lstStyle/>
                    <a:p>
                      <a:r>
                        <a:rPr sz="2200" b="0" i="0">
                          <a:solidFill>
                            <a:srgbClr val="1E1E1E"/>
                          </a:solidFill>
                          <a:latin typeface="Times New Roman"/>
                        </a:rPr>
                        <a:t>PA-03</a:t>
                      </a:r>
                    </a:p>
                  </a:txBody>
                  <a:tcPr marL="73152" marR="73152" marT="27432" marB="27432" anchor="ctr">
                    <a:solidFill>
                      <a:srgbClr val="F2F6FC"/>
                    </a:solidFill>
                  </a:tcPr>
                </a:tc>
                <a:tc>
                  <a:txBody>
                    <a:bodyPr wrap="square"/>
                    <a:lstStyle/>
                    <a:p>
                      <a:r>
                        <a:rPr sz="2200" b="0" i="0">
                          <a:solidFill>
                            <a:srgbClr val="1E1E1E"/>
                          </a:solidFill>
                          <a:latin typeface="Times New Roman"/>
                        </a:rPr>
                        <a:t>Cliente-servidor / REST</a:t>
                      </a:r>
                    </a:p>
                  </a:txBody>
                  <a:tcPr marL="73152" marR="73152" marT="27432" marB="27432" anchor="ctr">
                    <a:solidFill>
                      <a:srgbClr val="F2F6FC"/>
                    </a:solidFill>
                  </a:tcPr>
                </a:tc>
                <a:tc>
                  <a:txBody>
                    <a:bodyPr wrap="square"/>
                    <a:lstStyle/>
                    <a:p>
                      <a:r>
                        <a:rPr sz="2200" b="0" i="0">
                          <a:solidFill>
                            <a:srgbClr val="1E1E1E"/>
                          </a:solidFill>
                          <a:latin typeface="Times New Roman"/>
                        </a:rPr>
                        <a:t>La SPA solo consume /api/v1; nunca accede a SQL ni tiene credenciales de servicios</a:t>
                      </a:r>
                    </a:p>
                  </a:txBody>
                  <a:tcPr marL="73152" marR="73152" marT="27432" marB="27432" anchor="ctr">
                    <a:solidFill>
                      <a:srgbClr val="F2F6FC"/>
                    </a:solidFill>
                  </a:tcPr>
                </a:tc>
              </a:tr>
              <a:tr h="778816">
                <a:tc>
                  <a:txBody>
                    <a:bodyPr wrap="square"/>
                    <a:lstStyle/>
                    <a:p>
                      <a:r>
                        <a:rPr sz="2200" b="0" i="0">
                          <a:solidFill>
                            <a:srgbClr val="1E1E1E"/>
                          </a:solidFill>
                          <a:latin typeface="Times New Roman"/>
                        </a:rPr>
                        <a:t>PA-04</a:t>
                      </a:r>
                    </a:p>
                  </a:txBody>
                  <a:tcPr marL="73152" marR="73152" marT="27432" marB="27432" anchor="ctr">
                    <a:solidFill>
                      <a:srgbClr val="FFFFFF"/>
                    </a:solidFill>
                  </a:tcPr>
                </a:tc>
                <a:tc>
                  <a:txBody>
                    <a:bodyPr wrap="square"/>
                    <a:lstStyle/>
                    <a:p>
                      <a:r>
                        <a:rPr sz="2200" b="0" i="0">
                          <a:solidFill>
                            <a:srgbClr val="1E1E1E"/>
                          </a:solidFill>
                          <a:latin typeface="Times New Roman"/>
                        </a:rPr>
                        <a:t>Repository + Unit of Work</a:t>
                      </a:r>
                    </a:p>
                  </a:txBody>
                  <a:tcPr marL="73152" marR="73152" marT="27432" marB="27432" anchor="ctr">
                    <a:solidFill>
                      <a:srgbClr val="FFFFFF"/>
                    </a:solidFill>
                  </a:tcPr>
                </a:tc>
                <a:tc>
                  <a:txBody>
                    <a:bodyPr wrap="square"/>
                    <a:lstStyle/>
                    <a:p>
                      <a:r>
                        <a:rPr sz="2200" b="0" i="0">
                          <a:solidFill>
                            <a:srgbClr val="1E1E1E"/>
                          </a:solidFill>
                          <a:latin typeface="Times New Roman"/>
                        </a:rPr>
                        <a:t>Casos de uso sobre contratos; la unidad de trabajo abre la transacción y entrega los repositorios</a:t>
                      </a:r>
                    </a:p>
                  </a:txBody>
                  <a:tcPr marL="73152" marR="73152" marT="27432" marB="27432" anchor="ctr">
                    <a:solidFill>
                      <a:srgbClr val="FFFFFF"/>
                    </a:solidFill>
                  </a:tcPr>
                </a:tc>
              </a:tr>
              <a:tr h="778816">
                <a:tc>
                  <a:txBody>
                    <a:bodyPr wrap="square"/>
                    <a:lstStyle/>
                    <a:p>
                      <a:r>
                        <a:rPr sz="2200" b="0" i="0">
                          <a:solidFill>
                            <a:srgbClr val="1E1E1E"/>
                          </a:solidFill>
                          <a:latin typeface="Times New Roman"/>
                        </a:rPr>
                        <a:t>PA-05</a:t>
                      </a:r>
                    </a:p>
                  </a:txBody>
                  <a:tcPr marL="73152" marR="73152" marT="27432" marB="27432" anchor="ctr">
                    <a:solidFill>
                      <a:srgbClr val="F2F6FC"/>
                    </a:solidFill>
                  </a:tcPr>
                </a:tc>
                <a:tc>
                  <a:txBody>
                    <a:bodyPr wrap="square"/>
                    <a:lstStyle/>
                    <a:p>
                      <a:r>
                        <a:rPr sz="2200" b="0" i="0">
                          <a:solidFill>
                            <a:srgbClr val="1E1E1E"/>
                          </a:solidFill>
                          <a:latin typeface="Times New Roman"/>
                        </a:rPr>
                        <a:t>Transactional Outbox</a:t>
                      </a:r>
                    </a:p>
                  </a:txBody>
                  <a:tcPr marL="73152" marR="73152" marT="27432" marB="27432" anchor="ctr">
                    <a:solidFill>
                      <a:srgbClr val="F2F6FC"/>
                    </a:solidFill>
                  </a:tcPr>
                </a:tc>
                <a:tc>
                  <a:txBody>
                    <a:bodyPr wrap="square"/>
                    <a:lstStyle/>
                    <a:p>
                      <a:r>
                        <a:rPr sz="2200" b="0" i="0">
                          <a:solidFill>
                            <a:srgbClr val="1E1E1E"/>
                          </a:solidFill>
                          <a:latin typeface="Times New Roman"/>
                        </a:rPr>
                        <a:t>Alerta y tarea de aviso en la misma transacción; un worker las procesa con reservas y reintentos</a:t>
                      </a:r>
                    </a:p>
                  </a:txBody>
                  <a:tcPr marL="73152" marR="73152" marT="27432" marB="27432" anchor="ctr">
                    <a:solidFill>
                      <a:srgbClr val="F2F6FC"/>
                    </a:solidFill>
                  </a:tcPr>
                </a:tc>
              </a:tr>
            </a:tbl>
          </a:graphicData>
        </a:graphic>
      </p:graphicFrame>
      <p:sp>
        <p:nvSpPr>
          <p:cNvPr id="41" name="TextBox 40"/>
          <p:cNvSpPr txBox="1"/>
          <p:nvPr/>
        </p:nvSpPr>
        <p:spPr>
          <a:xfrm>
            <a:off x="685800" y="8064062"/>
            <a:ext cx="16916400" cy="737826"/>
          </a:xfrm>
          <a:prstGeom prst="rect">
            <a:avLst/>
          </a:prstGeom>
          <a:noFill/>
        </p:spPr>
        <p:txBody>
          <a:bodyPr wrap="square" anchor="t" lIns="45720" rIns="45720">
            <a:spAutoFit/>
          </a:bodyPr>
          <a:lstStyle/>
          <a:p>
            <a:pPr algn="l">
              <a:spcAft>
                <a:spcPts val="600"/>
              </a:spcAft>
            </a:pPr>
            <a:r>
              <a:rPr sz="2200" b="0" i="0">
                <a:solidFill>
                  <a:srgbClr val="555555"/>
                </a:solidFill>
                <a:latin typeface="Times New Roman"/>
              </a:rPr>
              <a:t>No se declara </a:t>
            </a:r>
            <a:r>
              <a:rPr sz="2200" b="1" i="0">
                <a:solidFill>
                  <a:srgbClr val="555555"/>
                </a:solidFill>
                <a:latin typeface="Times New Roman Bold"/>
              </a:rPr>
              <a:t>Pipe and Filter</a:t>
            </a:r>
            <a:r>
              <a:rPr sz="2200" b="0" i="0">
                <a:solidFill>
                  <a:srgbClr val="555555"/>
                </a:solidFill>
                <a:latin typeface="Times New Roman"/>
              </a:rPr>
              <a:t>: repetir la cadena HTTP no es una implementación distinta. </a:t>
            </a:r>
            <a:r>
              <a:rPr sz="2200" b="1" i="0">
                <a:solidFill>
                  <a:srgbClr val="555555"/>
                </a:solidFill>
                <a:latin typeface="Times New Roman Bold"/>
              </a:rPr>
              <a:t>Adapter</a:t>
            </a:r>
            <a:r>
              <a:rPr sz="2200" b="0" i="0">
                <a:solidFill>
                  <a:srgbClr val="555555"/>
                </a:solidFill>
                <a:latin typeface="Times New Roman"/>
              </a:rPr>
              <a:t> se aplica en el almacenamiento de adjuntos y el transporte de correo.</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6. Patrones de diseño GoF implementados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12</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685800" y="3063240"/>
            <a:ext cx="5486400" cy="282833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85800" y="3063240"/>
            <a:ext cx="5486400" cy="614855"/>
          </a:xfrm>
          <a:prstGeom prst="roundRect">
            <a:avLst>
              <a:gd name="adj" fmla="val 12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3063240"/>
            <a:ext cx="5486400" cy="614855"/>
          </a:xfrm>
          <a:prstGeom prst="rect">
            <a:avLst/>
          </a:prstGeom>
          <a:noFill/>
        </p:spPr>
        <p:txBody>
          <a:bodyPr wrap="square" anchor="ctr" lIns="45720" rIns="45720">
            <a:spAutoFit/>
          </a:bodyPr>
          <a:lstStyle/>
          <a:p>
            <a:pPr algn="ctr">
              <a:spcAft>
                <a:spcPts val="0"/>
              </a:spcAft>
            </a:pPr>
            <a:r>
              <a:rPr sz="2600" b="0" i="0">
                <a:solidFill>
                  <a:srgbClr val="FFFFFF"/>
                </a:solidFill>
                <a:latin typeface="Times New Roman"/>
              </a:rPr>
              <a:t>PG-01 · Singleton</a:t>
            </a:r>
          </a:p>
        </p:txBody>
      </p:sp>
      <p:sp>
        <p:nvSpPr>
          <p:cNvPr id="43" name="TextBox 42"/>
          <p:cNvSpPr txBox="1"/>
          <p:nvPr/>
        </p:nvSpPr>
        <p:spPr>
          <a:xfrm>
            <a:off x="868680" y="3801066"/>
            <a:ext cx="5120640" cy="2008526"/>
          </a:xfrm>
          <a:prstGeom prst="rect">
            <a:avLst/>
          </a:prstGeom>
          <a:noFill/>
        </p:spPr>
        <p:txBody>
          <a:bodyPr wrap="square" anchor="t" lIns="45720" rIns="45720">
            <a:spAutoFit/>
          </a:bodyPr>
          <a:lstStyle/>
          <a:p>
            <a:pPr algn="l">
              <a:spcAft>
                <a:spcPts val="600"/>
              </a:spcAft>
            </a:pPr>
            <a:r>
              <a:rPr sz="2000" b="0" i="1">
                <a:solidFill>
                  <a:srgbClr val="555555"/>
                </a:solidFill>
                <a:latin typeface="Times New Roman"/>
              </a:rPr>
              <a:t>Creacional</a:t>
            </a:r>
          </a:p>
          <a:p>
            <a:pPr algn="l">
              <a:spcAft>
                <a:spcPts val="600"/>
              </a:spcAft>
            </a:pPr>
            <a:r>
              <a:rPr sz="2200" b="0" i="0">
                <a:solidFill>
                  <a:srgbClr val="1E1E1E"/>
                </a:solidFill>
                <a:latin typeface="Times New Roman"/>
              </a:rPr>
              <a:t>Un pool de conexiones SQL por proceso</a:t>
            </a:r>
          </a:p>
          <a:p>
            <a:pPr algn="l">
              <a:spcAft>
                <a:spcPts val="600"/>
              </a:spcAft>
            </a:pPr>
            <a:r>
              <a:rPr sz="2000" b="1" i="0">
                <a:solidFill>
                  <a:srgbClr val="1A56B0"/>
                </a:solidFill>
                <a:latin typeface="Times New Roman Bold"/>
              </a:rPr>
              <a:t>SqlPoolSingleton</a:t>
            </a:r>
          </a:p>
        </p:txBody>
      </p:sp>
      <p:sp>
        <p:nvSpPr>
          <p:cNvPr id="44" name="Rounded Rectangle 43"/>
          <p:cNvSpPr/>
          <p:nvPr/>
        </p:nvSpPr>
        <p:spPr>
          <a:xfrm>
            <a:off x="6400800" y="3063240"/>
            <a:ext cx="5486400" cy="282833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400800" y="3063240"/>
            <a:ext cx="5486400" cy="614855"/>
          </a:xfrm>
          <a:prstGeom prst="roundRect">
            <a:avLst>
              <a:gd name="adj" fmla="val 12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0" y="3063240"/>
            <a:ext cx="5486400" cy="614855"/>
          </a:xfrm>
          <a:prstGeom prst="rect">
            <a:avLst/>
          </a:prstGeom>
          <a:noFill/>
        </p:spPr>
        <p:txBody>
          <a:bodyPr wrap="square" anchor="ctr" lIns="45720" rIns="45720">
            <a:spAutoFit/>
          </a:bodyPr>
          <a:lstStyle/>
          <a:p>
            <a:pPr algn="ctr">
              <a:spcAft>
                <a:spcPts val="0"/>
              </a:spcAft>
            </a:pPr>
            <a:r>
              <a:rPr sz="2600" b="0" i="0">
                <a:solidFill>
                  <a:srgbClr val="FFFFFF"/>
                </a:solidFill>
                <a:latin typeface="Times New Roman"/>
              </a:rPr>
              <a:t>PG-02 · Facade</a:t>
            </a:r>
          </a:p>
        </p:txBody>
      </p:sp>
      <p:sp>
        <p:nvSpPr>
          <p:cNvPr id="47" name="TextBox 46"/>
          <p:cNvSpPr txBox="1"/>
          <p:nvPr/>
        </p:nvSpPr>
        <p:spPr>
          <a:xfrm>
            <a:off x="6583680" y="3801066"/>
            <a:ext cx="5120640" cy="2008526"/>
          </a:xfrm>
          <a:prstGeom prst="rect">
            <a:avLst/>
          </a:prstGeom>
          <a:noFill/>
        </p:spPr>
        <p:txBody>
          <a:bodyPr wrap="square" anchor="t" lIns="45720" rIns="45720">
            <a:spAutoFit/>
          </a:bodyPr>
          <a:lstStyle/>
          <a:p>
            <a:pPr algn="l">
              <a:spcAft>
                <a:spcPts val="600"/>
              </a:spcAft>
            </a:pPr>
            <a:r>
              <a:rPr sz="2000" b="0" i="1">
                <a:solidFill>
                  <a:srgbClr val="555555"/>
                </a:solidFill>
                <a:latin typeface="Times New Roman"/>
              </a:rPr>
              <a:t>Estructural</a:t>
            </a:r>
          </a:p>
          <a:p>
            <a:pPr algn="l">
              <a:spcAft>
                <a:spcPts val="600"/>
              </a:spcAft>
            </a:pPr>
            <a:r>
              <a:rPr sz="2200" b="0" i="0">
                <a:solidFill>
                  <a:srgbClr val="1E1E1E"/>
                </a:solidFill>
                <a:latin typeface="Times New Roman"/>
              </a:rPr>
              <a:t>Un movimiento coordina validación, stock, historial y auditoría</a:t>
            </a:r>
          </a:p>
          <a:p>
            <a:pPr algn="l">
              <a:spcAft>
                <a:spcPts val="600"/>
              </a:spcAft>
            </a:pPr>
            <a:r>
              <a:rPr sz="2000" b="1" i="0">
                <a:solidFill>
                  <a:srgbClr val="1A56B0"/>
                </a:solidFill>
                <a:latin typeface="Times New Roman Bold"/>
              </a:rPr>
              <a:t>InventarioFacade</a:t>
            </a:r>
          </a:p>
        </p:txBody>
      </p:sp>
      <p:sp>
        <p:nvSpPr>
          <p:cNvPr id="48" name="Rounded Rectangle 47"/>
          <p:cNvSpPr/>
          <p:nvPr/>
        </p:nvSpPr>
        <p:spPr>
          <a:xfrm>
            <a:off x="12115800" y="3063240"/>
            <a:ext cx="5486400" cy="282833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12115800" y="3063240"/>
            <a:ext cx="5486400" cy="614855"/>
          </a:xfrm>
          <a:prstGeom prst="roundRect">
            <a:avLst>
              <a:gd name="adj" fmla="val 12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2115800" y="3063240"/>
            <a:ext cx="5486400" cy="614855"/>
          </a:xfrm>
          <a:prstGeom prst="rect">
            <a:avLst/>
          </a:prstGeom>
          <a:noFill/>
        </p:spPr>
        <p:txBody>
          <a:bodyPr wrap="square" anchor="ctr" lIns="45720" rIns="45720">
            <a:spAutoFit/>
          </a:bodyPr>
          <a:lstStyle/>
          <a:p>
            <a:pPr algn="ctr">
              <a:spcAft>
                <a:spcPts val="0"/>
              </a:spcAft>
            </a:pPr>
            <a:r>
              <a:rPr sz="2600" b="0" i="0">
                <a:solidFill>
                  <a:srgbClr val="FFFFFF"/>
                </a:solidFill>
                <a:latin typeface="Times New Roman"/>
              </a:rPr>
              <a:t>PG-03 · Observer</a:t>
            </a:r>
          </a:p>
        </p:txBody>
      </p:sp>
      <p:sp>
        <p:nvSpPr>
          <p:cNvPr id="51" name="TextBox 50"/>
          <p:cNvSpPr txBox="1"/>
          <p:nvPr/>
        </p:nvSpPr>
        <p:spPr>
          <a:xfrm>
            <a:off x="12298680" y="3801066"/>
            <a:ext cx="5120640" cy="2008526"/>
          </a:xfrm>
          <a:prstGeom prst="rect">
            <a:avLst/>
          </a:prstGeom>
          <a:noFill/>
        </p:spPr>
        <p:txBody>
          <a:bodyPr wrap="square" anchor="t" lIns="45720" rIns="45720">
            <a:spAutoFit/>
          </a:bodyPr>
          <a:lstStyle/>
          <a:p>
            <a:pPr algn="l">
              <a:spcAft>
                <a:spcPts val="600"/>
              </a:spcAft>
            </a:pPr>
            <a:r>
              <a:rPr sz="2000" b="0" i="1">
                <a:solidFill>
                  <a:srgbClr val="555555"/>
                </a:solidFill>
                <a:latin typeface="Times New Roman"/>
              </a:rPr>
              <a:t>Comportamiento</a:t>
            </a:r>
          </a:p>
          <a:p>
            <a:pPr algn="l">
              <a:spcAft>
                <a:spcPts val="600"/>
              </a:spcAft>
            </a:pPr>
            <a:r>
              <a:rPr sz="2200" b="0" i="0">
                <a:solidFill>
                  <a:srgbClr val="1E1E1E"/>
                </a:solidFill>
                <a:latin typeface="Times New Roman"/>
              </a:rPr>
              <a:t>Alertas desacopladas del inventario</a:t>
            </a:r>
          </a:p>
          <a:p>
            <a:pPr algn="l">
              <a:spcAft>
                <a:spcPts val="600"/>
              </a:spcAft>
            </a:pPr>
            <a:r>
              <a:rPr sz="2000" b="1" i="0">
                <a:solidFill>
                  <a:srgbClr val="1A56B0"/>
                </a:solidFill>
                <a:latin typeface="Times New Roman Bold"/>
              </a:rPr>
              <a:t>TransactionalPublisher · StockAlertObserver</a:t>
            </a:r>
          </a:p>
        </p:txBody>
      </p:sp>
      <p:sp>
        <p:nvSpPr>
          <p:cNvPr id="52" name="Rounded Rectangle 51"/>
          <p:cNvSpPr/>
          <p:nvPr/>
        </p:nvSpPr>
        <p:spPr>
          <a:xfrm>
            <a:off x="685800" y="6055535"/>
            <a:ext cx="5486400" cy="282833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685800" y="6055535"/>
            <a:ext cx="5486400" cy="614855"/>
          </a:xfrm>
          <a:prstGeom prst="roundRect">
            <a:avLst>
              <a:gd name="adj" fmla="val 12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 y="6055535"/>
            <a:ext cx="5486400" cy="614855"/>
          </a:xfrm>
          <a:prstGeom prst="rect">
            <a:avLst/>
          </a:prstGeom>
          <a:noFill/>
        </p:spPr>
        <p:txBody>
          <a:bodyPr wrap="square" anchor="ctr" lIns="45720" rIns="45720">
            <a:spAutoFit/>
          </a:bodyPr>
          <a:lstStyle/>
          <a:p>
            <a:pPr algn="ctr">
              <a:spcAft>
                <a:spcPts val="0"/>
              </a:spcAft>
            </a:pPr>
            <a:r>
              <a:rPr sz="2600" b="0" i="0">
                <a:solidFill>
                  <a:srgbClr val="FFFFFF"/>
                </a:solidFill>
                <a:latin typeface="Times New Roman"/>
              </a:rPr>
              <a:t>PG-04 · State</a:t>
            </a:r>
          </a:p>
        </p:txBody>
      </p:sp>
      <p:sp>
        <p:nvSpPr>
          <p:cNvPr id="55" name="TextBox 54"/>
          <p:cNvSpPr txBox="1"/>
          <p:nvPr/>
        </p:nvSpPr>
        <p:spPr>
          <a:xfrm>
            <a:off x="868680" y="6793361"/>
            <a:ext cx="5120640" cy="2008526"/>
          </a:xfrm>
          <a:prstGeom prst="rect">
            <a:avLst/>
          </a:prstGeom>
          <a:noFill/>
        </p:spPr>
        <p:txBody>
          <a:bodyPr wrap="square" anchor="t" lIns="45720" rIns="45720">
            <a:spAutoFit/>
          </a:bodyPr>
          <a:lstStyle/>
          <a:p>
            <a:pPr algn="l">
              <a:spcAft>
                <a:spcPts val="600"/>
              </a:spcAft>
            </a:pPr>
            <a:r>
              <a:rPr sz="2000" b="0" i="1">
                <a:solidFill>
                  <a:srgbClr val="555555"/>
                </a:solidFill>
                <a:latin typeface="Times New Roman"/>
              </a:rPr>
              <a:t>Comportamiento</a:t>
            </a:r>
          </a:p>
          <a:p>
            <a:pPr algn="l">
              <a:spcAft>
                <a:spcPts val="600"/>
              </a:spcAft>
            </a:pPr>
            <a:r>
              <a:rPr sz="2200" b="0" i="0">
                <a:solidFill>
                  <a:srgbClr val="1E1E1E"/>
                </a:solidFill>
                <a:latin typeface="Times New Roman"/>
              </a:rPr>
              <a:t>Transiciones válidas de la alerta</a:t>
            </a:r>
          </a:p>
          <a:p>
            <a:pPr algn="l">
              <a:spcAft>
                <a:spcPts val="600"/>
              </a:spcAft>
            </a:pPr>
            <a:r>
              <a:rPr sz="2000" b="1" i="0">
                <a:solidFill>
                  <a:srgbClr val="1A56B0"/>
                </a:solidFill>
                <a:latin typeface="Times New Roman Bold"/>
              </a:rPr>
              <a:t>Alerta · Pendiente · Enviada · Atendida</a:t>
            </a:r>
          </a:p>
        </p:txBody>
      </p:sp>
      <p:sp>
        <p:nvSpPr>
          <p:cNvPr id="56" name="Rounded Rectangle 55"/>
          <p:cNvSpPr/>
          <p:nvPr/>
        </p:nvSpPr>
        <p:spPr>
          <a:xfrm>
            <a:off x="6400800" y="6055535"/>
            <a:ext cx="5486400" cy="282833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6400800" y="6055535"/>
            <a:ext cx="5486400" cy="614855"/>
          </a:xfrm>
          <a:prstGeom prst="roundRect">
            <a:avLst>
              <a:gd name="adj" fmla="val 12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00800" y="6055535"/>
            <a:ext cx="5486400" cy="614855"/>
          </a:xfrm>
          <a:prstGeom prst="rect">
            <a:avLst/>
          </a:prstGeom>
          <a:noFill/>
        </p:spPr>
        <p:txBody>
          <a:bodyPr wrap="square" anchor="ctr" lIns="45720" rIns="45720">
            <a:spAutoFit/>
          </a:bodyPr>
          <a:lstStyle/>
          <a:p>
            <a:pPr algn="ctr">
              <a:spcAft>
                <a:spcPts val="0"/>
              </a:spcAft>
            </a:pPr>
            <a:r>
              <a:rPr sz="2600" b="0" i="0">
                <a:solidFill>
                  <a:srgbClr val="FFFFFF"/>
                </a:solidFill>
                <a:latin typeface="Times New Roman"/>
              </a:rPr>
              <a:t>PG-05 · Strategy</a:t>
            </a:r>
          </a:p>
        </p:txBody>
      </p:sp>
      <p:sp>
        <p:nvSpPr>
          <p:cNvPr id="59" name="TextBox 58"/>
          <p:cNvSpPr txBox="1"/>
          <p:nvPr/>
        </p:nvSpPr>
        <p:spPr>
          <a:xfrm>
            <a:off x="6583680" y="6793361"/>
            <a:ext cx="5120640" cy="2008526"/>
          </a:xfrm>
          <a:prstGeom prst="rect">
            <a:avLst/>
          </a:prstGeom>
          <a:noFill/>
        </p:spPr>
        <p:txBody>
          <a:bodyPr wrap="square" anchor="t" lIns="45720" rIns="45720">
            <a:spAutoFit/>
          </a:bodyPr>
          <a:lstStyle/>
          <a:p>
            <a:pPr algn="l">
              <a:spcAft>
                <a:spcPts val="600"/>
              </a:spcAft>
            </a:pPr>
            <a:r>
              <a:rPr sz="2000" b="0" i="1">
                <a:solidFill>
                  <a:srgbClr val="555555"/>
                </a:solidFill>
                <a:latin typeface="Times New Roman"/>
              </a:rPr>
              <a:t>Comportamiento</a:t>
            </a:r>
          </a:p>
          <a:p>
            <a:pPr algn="l">
              <a:spcAft>
                <a:spcPts val="600"/>
              </a:spcAft>
            </a:pPr>
            <a:r>
              <a:rPr sz="2200" b="0" i="0">
                <a:solidFill>
                  <a:srgbClr val="1E1E1E"/>
                </a:solidFill>
                <a:latin typeface="Times New Roman"/>
              </a:rPr>
              <a:t>Exportar el reporte en distintos formatos</a:t>
            </a:r>
          </a:p>
          <a:p>
            <a:pPr algn="l">
              <a:spcAft>
                <a:spcPts val="600"/>
              </a:spcAft>
            </a:pPr>
            <a:r>
              <a:rPr sz="2000" b="1" i="0">
                <a:solidFill>
                  <a:srgbClr val="1A56B0"/>
                </a:solidFill>
                <a:latin typeface="Times New Roman Bold"/>
              </a:rPr>
              <a:t>PdfInventoryStrategy · ExcelInventoryStrategy</a:t>
            </a:r>
          </a:p>
        </p:txBody>
      </p:sp>
      <p:sp>
        <p:nvSpPr>
          <p:cNvPr id="60" name="Rounded Rectangle 59"/>
          <p:cNvSpPr/>
          <p:nvPr/>
        </p:nvSpPr>
        <p:spPr>
          <a:xfrm>
            <a:off x="12115800" y="6055535"/>
            <a:ext cx="5486400" cy="282833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2115800" y="6055535"/>
            <a:ext cx="5486400" cy="614855"/>
          </a:xfrm>
          <a:prstGeom prst="roundRect">
            <a:avLst>
              <a:gd name="adj" fmla="val 12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2115800" y="6055535"/>
            <a:ext cx="5486400" cy="614855"/>
          </a:xfrm>
          <a:prstGeom prst="rect">
            <a:avLst/>
          </a:prstGeom>
          <a:noFill/>
        </p:spPr>
        <p:txBody>
          <a:bodyPr wrap="square" anchor="ctr" lIns="45720" rIns="45720">
            <a:spAutoFit/>
          </a:bodyPr>
          <a:lstStyle/>
          <a:p>
            <a:pPr algn="ctr">
              <a:spcAft>
                <a:spcPts val="0"/>
              </a:spcAft>
            </a:pPr>
            <a:r>
              <a:rPr sz="2600" b="0" i="0">
                <a:solidFill>
                  <a:srgbClr val="FFFFFF"/>
                </a:solidFill>
                <a:latin typeface="Times New Roman"/>
              </a:rPr>
              <a:t>PG-06 · Chain of Responsibility</a:t>
            </a:r>
          </a:p>
        </p:txBody>
      </p:sp>
      <p:sp>
        <p:nvSpPr>
          <p:cNvPr id="63" name="TextBox 62"/>
          <p:cNvSpPr txBox="1"/>
          <p:nvPr/>
        </p:nvSpPr>
        <p:spPr>
          <a:xfrm>
            <a:off x="12298680" y="6793361"/>
            <a:ext cx="5120640" cy="2008526"/>
          </a:xfrm>
          <a:prstGeom prst="rect">
            <a:avLst/>
          </a:prstGeom>
          <a:noFill/>
        </p:spPr>
        <p:txBody>
          <a:bodyPr wrap="square" anchor="t" lIns="45720" rIns="45720">
            <a:spAutoFit/>
          </a:bodyPr>
          <a:lstStyle/>
          <a:p>
            <a:pPr algn="l">
              <a:spcAft>
                <a:spcPts val="600"/>
              </a:spcAft>
            </a:pPr>
            <a:r>
              <a:rPr sz="2000" b="0" i="1">
                <a:solidFill>
                  <a:srgbClr val="555555"/>
                </a:solidFill>
                <a:latin typeface="Times New Roman"/>
              </a:rPr>
              <a:t>Comportamiento</a:t>
            </a:r>
          </a:p>
          <a:p>
            <a:pPr algn="l">
              <a:spcAft>
                <a:spcPts val="600"/>
              </a:spcAft>
            </a:pPr>
            <a:r>
              <a:rPr sz="2200" b="0" i="0">
                <a:solidFill>
                  <a:srgbClr val="1E1E1E"/>
                </a:solidFill>
                <a:latin typeface="Times New Roman"/>
              </a:rPr>
              <a:t>Reglas HTTP en orden que pueden detener la petición</a:t>
            </a:r>
          </a:p>
          <a:p>
            <a:pPr algn="l">
              <a:spcAft>
                <a:spcPts val="600"/>
              </a:spcAft>
            </a:pPr>
            <a:r>
              <a:rPr sz="2000" b="1" i="0">
                <a:solidFill>
                  <a:srgbClr val="1A56B0"/>
                </a:solidFill>
                <a:latin typeface="Times New Roman Bold"/>
              </a:rPr>
              <a:t>authenticate → resolveUser → requireRole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6. Patrones GoF: Singleton</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13</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10332719" y="3063240"/>
            <a:ext cx="7269480" cy="143466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599" y="3186211"/>
            <a:ext cx="6903720" cy="1188720"/>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Problema</a:t>
            </a:r>
          </a:p>
          <a:p>
            <a:pPr algn="l">
              <a:spcAft>
                <a:spcPts val="500"/>
              </a:spcAft>
            </a:pPr>
            <a:r>
              <a:rPr sz="2100" b="0" i="0">
                <a:solidFill>
                  <a:srgbClr val="1E1E1E"/>
                </a:solidFill>
                <a:latin typeface="Times New Roman"/>
              </a:rPr>
              <a:t>Crear un pool de conexiones en cada operación desperdicia conexiones y puede saturar SQL Server.</a:t>
            </a:r>
          </a:p>
        </p:txBody>
      </p:sp>
      <p:sp>
        <p:nvSpPr>
          <p:cNvPr id="42" name="Rounded Rectangle 41"/>
          <p:cNvSpPr/>
          <p:nvPr/>
        </p:nvSpPr>
        <p:spPr>
          <a:xfrm>
            <a:off x="10332719" y="4620873"/>
            <a:ext cx="7269480" cy="2541401"/>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599" y="4743844"/>
            <a:ext cx="6903720" cy="2295459"/>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Solución</a:t>
            </a:r>
          </a:p>
          <a:p>
            <a:pPr algn="l">
              <a:spcAft>
                <a:spcPts val="500"/>
              </a:spcAft>
            </a:pPr>
            <a:r>
              <a:rPr sz="2100" b="0" i="0">
                <a:solidFill>
                  <a:srgbClr val="1E1E1E"/>
                </a:solidFill>
                <a:latin typeface="Times New Roman"/>
              </a:rPr>
              <a:t>Constructor privado e instancia estática con getInstance(). getConnection() comparte la misma promesa; ante un fallo se limpia para reintentar y close() cierra el pool al apagar.</a:t>
            </a:r>
          </a:p>
        </p:txBody>
      </p:sp>
      <p:sp>
        <p:nvSpPr>
          <p:cNvPr id="44" name="Rounded Rectangle 43"/>
          <p:cNvSpPr/>
          <p:nvPr/>
        </p:nvSpPr>
        <p:spPr>
          <a:xfrm>
            <a:off x="10332719" y="7285245"/>
            <a:ext cx="7269480" cy="1721594"/>
          </a:xfrm>
          <a:prstGeom prst="roundRect">
            <a:avLst>
              <a:gd name="adj" fmla="val 6000"/>
            </a:avLst>
          </a:prstGeom>
          <a:solidFill>
            <a:srgbClr val="E8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599" y="7408216"/>
            <a:ext cx="6903720" cy="1475652"/>
          </a:xfrm>
          <a:prstGeom prst="rect">
            <a:avLst/>
          </a:prstGeom>
          <a:noFill/>
        </p:spPr>
        <p:txBody>
          <a:bodyPr wrap="square" anchor="t" lIns="45720" rIns="45720">
            <a:spAutoFit/>
          </a:bodyPr>
          <a:lstStyle/>
          <a:p>
            <a:pPr algn="l">
              <a:spcAft>
                <a:spcPts val="500"/>
              </a:spcAft>
            </a:pPr>
            <a:r>
              <a:rPr sz="2400" b="1" i="0">
                <a:solidFill>
                  <a:srgbClr val="2D7A2D"/>
                </a:solidFill>
                <a:latin typeface="Times New Roman Bold"/>
              </a:rPr>
              <a:t>Evidencia</a:t>
            </a:r>
          </a:p>
          <a:p>
            <a:pPr algn="l">
              <a:spcAft>
                <a:spcPts val="500"/>
              </a:spcAft>
            </a:pPr>
            <a:r>
              <a:rPr sz="2100" b="0" i="0">
                <a:solidFill>
                  <a:srgbClr val="1E1E1E"/>
                </a:solidFill>
                <a:latin typeface="Times New Roman"/>
              </a:rPr>
              <a:t>Pruebas: misma instancia y promesa, una sola conexión inicial y reintento tras fallo.</a:t>
            </a:r>
          </a:p>
        </p:txBody>
      </p:sp>
      <p:pic>
        <p:nvPicPr>
          <p:cNvPr id="46" name="Figura 2" descr="Figura_02_singleton_SqlPoolSingleton.png"/>
          <p:cNvPicPr>
            <a:picLocks noChangeAspect="1"/>
          </p:cNvPicPr>
          <p:nvPr/>
        </p:nvPicPr>
        <p:blipFill>
          <a:blip r:embed="rId2"/>
          <a:stretch>
            <a:fillRect/>
          </a:stretch>
        </p:blipFill>
        <p:spPr>
          <a:xfrm>
            <a:off x="1454692" y="3063240"/>
            <a:ext cx="7789095" cy="5596128"/>
          </a:xfrm>
          <a:prstGeom prst="rect">
            <a:avLst/>
          </a:prstGeom>
        </p:spPr>
      </p:pic>
      <p:sp>
        <p:nvSpPr>
          <p:cNvPr id="47" name="TextBox 46"/>
          <p:cNvSpPr txBox="1"/>
          <p:nvPr/>
        </p:nvSpPr>
        <p:spPr>
          <a:xfrm>
            <a:off x="685800" y="8705088"/>
            <a:ext cx="932688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2. sql-pool.ts · SqlPoolSingleton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6. Patrones GoF: Facade</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14</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10332719" y="3063240"/>
            <a:ext cx="7269480" cy="143466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599" y="3186211"/>
            <a:ext cx="6903720" cy="1188720"/>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Problema</a:t>
            </a:r>
          </a:p>
          <a:p>
            <a:pPr algn="l">
              <a:spcAft>
                <a:spcPts val="500"/>
              </a:spcAft>
            </a:pPr>
            <a:r>
              <a:rPr sz="2100" b="0" i="0">
                <a:solidFill>
                  <a:srgbClr val="1E1E1E"/>
                </a:solidFill>
                <a:latin typeface="Times New Roman"/>
              </a:rPr>
              <a:t>Un movimiento coordina validación, permisos, idempotencia, stock, historial, alertas y auditoría.</a:t>
            </a:r>
          </a:p>
        </p:txBody>
      </p:sp>
      <p:sp>
        <p:nvSpPr>
          <p:cNvPr id="42" name="Rounded Rectangle 41"/>
          <p:cNvSpPr/>
          <p:nvPr/>
        </p:nvSpPr>
        <p:spPr>
          <a:xfrm>
            <a:off x="10332719" y="4620873"/>
            <a:ext cx="7269480" cy="2541401"/>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599" y="4743844"/>
            <a:ext cx="6903720" cy="2295459"/>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Solución</a:t>
            </a:r>
          </a:p>
          <a:p>
            <a:pPr algn="l">
              <a:spcAft>
                <a:spcPts val="500"/>
              </a:spcAft>
            </a:pPr>
            <a:r>
              <a:rPr sz="2100" b="0" i="0">
                <a:solidFill>
                  <a:srgbClr val="1E1E1E"/>
                </a:solidFill>
                <a:latin typeface="Times New Roman"/>
              </a:rPr>
              <a:t>registrarSalida() y registrarEntrada() validan con Zod y ejecutan todo el caso de uso dentro de unitOfWork.ejecutar(), en una sola transacción. El mismo enfoque usan Catálogo, Proveedores, Facturas, Adjuntos y Reportes.</a:t>
            </a:r>
          </a:p>
        </p:txBody>
      </p:sp>
      <p:sp>
        <p:nvSpPr>
          <p:cNvPr id="44" name="Rounded Rectangle 43"/>
          <p:cNvSpPr/>
          <p:nvPr/>
        </p:nvSpPr>
        <p:spPr>
          <a:xfrm>
            <a:off x="10332719" y="7285245"/>
            <a:ext cx="7269480" cy="1721594"/>
          </a:xfrm>
          <a:prstGeom prst="roundRect">
            <a:avLst>
              <a:gd name="adj" fmla="val 6000"/>
            </a:avLst>
          </a:prstGeom>
          <a:solidFill>
            <a:srgbClr val="E8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599" y="7408216"/>
            <a:ext cx="6903720" cy="1475652"/>
          </a:xfrm>
          <a:prstGeom prst="rect">
            <a:avLst/>
          </a:prstGeom>
          <a:noFill/>
        </p:spPr>
        <p:txBody>
          <a:bodyPr wrap="square" anchor="t" lIns="45720" rIns="45720">
            <a:spAutoFit/>
          </a:bodyPr>
          <a:lstStyle/>
          <a:p>
            <a:pPr algn="l">
              <a:spcAft>
                <a:spcPts val="500"/>
              </a:spcAft>
            </a:pPr>
            <a:r>
              <a:rPr sz="2400" b="1" i="0">
                <a:solidFill>
                  <a:srgbClr val="2D7A2D"/>
                </a:solidFill>
                <a:latin typeface="Times New Roman Bold"/>
              </a:rPr>
              <a:t>Evidencia</a:t>
            </a:r>
          </a:p>
          <a:p>
            <a:pPr algn="l">
              <a:spcAft>
                <a:spcPts val="500"/>
              </a:spcAft>
            </a:pPr>
            <a:r>
              <a:rPr sz="2100" b="0" i="0">
                <a:solidFill>
                  <a:srgbClr val="1E1E1E"/>
                </a:solidFill>
                <a:latin typeface="Times New Roman"/>
              </a:rPr>
              <a:t>Dos salidas simultáneas sobre stock 3 confirman solo una; un fallo en el historial revierte el descuento.</a:t>
            </a:r>
          </a:p>
        </p:txBody>
      </p:sp>
      <p:pic>
        <p:nvPicPr>
          <p:cNvPr id="46" name="Figura 3" descr="Figura_03_facade_InventarioFacade.png"/>
          <p:cNvPicPr>
            <a:picLocks noChangeAspect="1"/>
          </p:cNvPicPr>
          <p:nvPr/>
        </p:nvPicPr>
        <p:blipFill>
          <a:blip r:embed="rId2"/>
          <a:stretch>
            <a:fillRect/>
          </a:stretch>
        </p:blipFill>
        <p:spPr>
          <a:xfrm>
            <a:off x="1167566" y="3063240"/>
            <a:ext cx="8363347" cy="5596128"/>
          </a:xfrm>
          <a:prstGeom prst="rect">
            <a:avLst/>
          </a:prstGeom>
        </p:spPr>
      </p:pic>
      <p:sp>
        <p:nvSpPr>
          <p:cNvPr id="47" name="TextBox 46"/>
          <p:cNvSpPr txBox="1"/>
          <p:nvPr/>
        </p:nvSpPr>
        <p:spPr>
          <a:xfrm>
            <a:off x="685800" y="8705088"/>
            <a:ext cx="932688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3. inventario.facade.ts · InventarioFacade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6. Patrones GoF: Observer</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15</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10332719" y="3063240"/>
            <a:ext cx="7269480" cy="143466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599" y="3186211"/>
            <a:ext cx="6903720" cy="1188720"/>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Problema</a:t>
            </a:r>
          </a:p>
          <a:p>
            <a:pPr algn="l">
              <a:spcAft>
                <a:spcPts val="500"/>
              </a:spcAft>
            </a:pPr>
            <a:r>
              <a:rPr sz="2100" b="0" i="0">
                <a:solidFill>
                  <a:srgbClr val="1E1E1E"/>
                </a:solidFill>
                <a:latin typeface="Times New Roman"/>
              </a:rPr>
              <a:t>Inventario no debe conocer al módulo de alertas para crear o atender una alerta.</a:t>
            </a:r>
          </a:p>
        </p:txBody>
      </p:sp>
      <p:sp>
        <p:nvSpPr>
          <p:cNvPr id="42" name="Rounded Rectangle 41"/>
          <p:cNvSpPr/>
          <p:nvPr/>
        </p:nvSpPr>
        <p:spPr>
          <a:xfrm>
            <a:off x="10332719" y="4620873"/>
            <a:ext cx="7269480" cy="2541401"/>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599" y="4743844"/>
            <a:ext cx="6903720" cy="2295459"/>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Solución</a:t>
            </a:r>
          </a:p>
          <a:p>
            <a:pPr algn="l">
              <a:spcAft>
                <a:spcPts val="500"/>
              </a:spcAft>
            </a:pPr>
            <a:r>
              <a:rPr sz="2100" b="0" i="0">
                <a:solidFill>
                  <a:srgbClr val="1E1E1E"/>
                </a:solidFill>
                <a:latin typeface="Times New Roman"/>
              </a:rPr>
              <a:t>TransactionalPublisher (sujeto) suscribe observadores y publica StockCambiado. StockAlertObserver (observador) crea la alerta + Outbox o atiende la abierta. Se ejecuta antes del commit, en la misma transacción.</a:t>
            </a:r>
          </a:p>
        </p:txBody>
      </p:sp>
      <p:sp>
        <p:nvSpPr>
          <p:cNvPr id="44" name="Rounded Rectangle 43"/>
          <p:cNvSpPr/>
          <p:nvPr/>
        </p:nvSpPr>
        <p:spPr>
          <a:xfrm>
            <a:off x="10332719" y="7285245"/>
            <a:ext cx="7269480" cy="1721594"/>
          </a:xfrm>
          <a:prstGeom prst="roundRect">
            <a:avLst>
              <a:gd name="adj" fmla="val 6000"/>
            </a:avLst>
          </a:prstGeom>
          <a:solidFill>
            <a:srgbClr val="E8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599" y="7408216"/>
            <a:ext cx="6903720" cy="1475652"/>
          </a:xfrm>
          <a:prstGeom prst="rect">
            <a:avLst/>
          </a:prstGeom>
          <a:noFill/>
        </p:spPr>
        <p:txBody>
          <a:bodyPr wrap="square" anchor="t" lIns="45720" rIns="45720">
            <a:spAutoFit/>
          </a:bodyPr>
          <a:lstStyle/>
          <a:p>
            <a:pPr algn="l">
              <a:spcAft>
                <a:spcPts val="500"/>
              </a:spcAft>
            </a:pPr>
            <a:r>
              <a:rPr sz="2400" b="1" i="0">
                <a:solidFill>
                  <a:srgbClr val="2D7A2D"/>
                </a:solidFill>
                <a:latin typeface="Times New Roman Bold"/>
              </a:rPr>
              <a:t>Evidencia</a:t>
            </a:r>
          </a:p>
          <a:p>
            <a:pPr algn="l">
              <a:spcAft>
                <a:spcPts val="500"/>
              </a:spcAft>
            </a:pPr>
            <a:r>
              <a:rPr sz="2100" b="0" i="0">
                <a:solidFill>
                  <a:srgbClr val="1E1E1E"/>
                </a:solidFill>
                <a:latin typeface="Times New Roman"/>
              </a:rPr>
              <a:t>Umbral inclusivo, sin alertas duplicadas, atención al reponer y rollback si falla el Outbox.</a:t>
            </a:r>
          </a:p>
        </p:txBody>
      </p:sp>
      <p:pic>
        <p:nvPicPr>
          <p:cNvPr id="46" name="Figura 4" descr="Figura_04_observer_TransactionalPublisher.png"/>
          <p:cNvPicPr>
            <a:picLocks noChangeAspect="1"/>
          </p:cNvPicPr>
          <p:nvPr/>
        </p:nvPicPr>
        <p:blipFill>
          <a:blip r:embed="rId2"/>
          <a:stretch>
            <a:fillRect/>
          </a:stretch>
        </p:blipFill>
        <p:spPr>
          <a:xfrm>
            <a:off x="3366719" y="3063240"/>
            <a:ext cx="3965041" cy="2562842"/>
          </a:xfrm>
          <a:prstGeom prst="rect">
            <a:avLst/>
          </a:prstGeom>
        </p:spPr>
      </p:pic>
      <p:sp>
        <p:nvSpPr>
          <p:cNvPr id="47" name="TextBox 46"/>
          <p:cNvSpPr txBox="1"/>
          <p:nvPr/>
        </p:nvSpPr>
        <p:spPr>
          <a:xfrm>
            <a:off x="685800" y="5671802"/>
            <a:ext cx="932688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4. transactional-publisher.ts · sujeto</a:t>
            </a:r>
          </a:p>
        </p:txBody>
      </p:sp>
      <p:pic>
        <p:nvPicPr>
          <p:cNvPr id="48" name="Figura 5" descr="Figura_05_observer_StockAlertObserver.png"/>
          <p:cNvPicPr>
            <a:picLocks noChangeAspect="1"/>
          </p:cNvPicPr>
          <p:nvPr/>
        </p:nvPicPr>
        <p:blipFill>
          <a:blip r:embed="rId6"/>
          <a:stretch>
            <a:fillRect/>
          </a:stretch>
        </p:blipFill>
        <p:spPr>
          <a:xfrm>
            <a:off x="3837076" y="6055535"/>
            <a:ext cx="3024327" cy="2603832"/>
          </a:xfrm>
          <a:prstGeom prst="rect">
            <a:avLst/>
          </a:prstGeom>
        </p:spPr>
      </p:pic>
      <p:sp>
        <p:nvSpPr>
          <p:cNvPr id="49" name="TextBox 48"/>
          <p:cNvSpPr txBox="1"/>
          <p:nvPr/>
        </p:nvSpPr>
        <p:spPr>
          <a:xfrm>
            <a:off x="685800" y="8705088"/>
            <a:ext cx="932688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5. stock-alert.observer.ts · observador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6. Patrones GoF: State</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16</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10332719" y="3063240"/>
            <a:ext cx="7269480" cy="143466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599" y="3186211"/>
            <a:ext cx="6903720" cy="1188720"/>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Problema</a:t>
            </a:r>
          </a:p>
          <a:p>
            <a:pPr algn="l">
              <a:spcAft>
                <a:spcPts val="500"/>
              </a:spcAft>
            </a:pPr>
            <a:r>
              <a:rPr sz="2100" b="0" i="0">
                <a:solidFill>
                  <a:srgbClr val="1E1E1E"/>
                </a:solidFill>
                <a:latin typeface="Times New Roman"/>
              </a:rPr>
              <a:t>Cada estado de la alerta admite acciones distintas: una alerta atendida no puede volver a enviarse.</a:t>
            </a:r>
          </a:p>
        </p:txBody>
      </p:sp>
      <p:sp>
        <p:nvSpPr>
          <p:cNvPr id="42" name="Rounded Rectangle 41"/>
          <p:cNvSpPr/>
          <p:nvPr/>
        </p:nvSpPr>
        <p:spPr>
          <a:xfrm>
            <a:off x="10332719" y="4620873"/>
            <a:ext cx="7269480" cy="2541401"/>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599" y="4743844"/>
            <a:ext cx="6903720" cy="2295459"/>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Solución</a:t>
            </a:r>
          </a:p>
          <a:p>
            <a:pPr algn="l">
              <a:spcAft>
                <a:spcPts val="500"/>
              </a:spcAft>
            </a:pPr>
            <a:r>
              <a:rPr sz="2100" b="0" i="0">
                <a:solidFill>
                  <a:srgbClr val="1E1E1E"/>
                </a:solidFill>
                <a:latin typeface="Times New Roman"/>
              </a:rPr>
              <a:t>Interfaz EstadoAlerta con notificacionAceptada() y atender(). Las clases Pendiente, Enviada y Atendida devuelven el siguiente estado o rechazan la transición. El contexto Alerta delega en su estado.</a:t>
            </a:r>
          </a:p>
        </p:txBody>
      </p:sp>
      <p:sp>
        <p:nvSpPr>
          <p:cNvPr id="44" name="Rounded Rectangle 43"/>
          <p:cNvSpPr/>
          <p:nvPr/>
        </p:nvSpPr>
        <p:spPr>
          <a:xfrm>
            <a:off x="10332719" y="7285245"/>
            <a:ext cx="7269480" cy="1721594"/>
          </a:xfrm>
          <a:prstGeom prst="roundRect">
            <a:avLst>
              <a:gd name="adj" fmla="val 6000"/>
            </a:avLst>
          </a:prstGeom>
          <a:solidFill>
            <a:srgbClr val="E8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599" y="7408216"/>
            <a:ext cx="6903720" cy="1475652"/>
          </a:xfrm>
          <a:prstGeom prst="rect">
            <a:avLst/>
          </a:prstGeom>
          <a:noFill/>
        </p:spPr>
        <p:txBody>
          <a:bodyPr wrap="square" anchor="t" lIns="45720" rIns="45720">
            <a:spAutoFit/>
          </a:bodyPr>
          <a:lstStyle/>
          <a:p>
            <a:pPr algn="l">
              <a:spcAft>
                <a:spcPts val="500"/>
              </a:spcAft>
            </a:pPr>
            <a:r>
              <a:rPr sz="2400" b="1" i="0">
                <a:solidFill>
                  <a:srgbClr val="2D7A2D"/>
                </a:solidFill>
                <a:latin typeface="Times New Roman Bold"/>
              </a:rPr>
              <a:t>Evidencia</a:t>
            </a:r>
          </a:p>
          <a:p>
            <a:pPr algn="l">
              <a:spcAft>
                <a:spcPts val="500"/>
              </a:spcAft>
            </a:pPr>
            <a:r>
              <a:rPr sz="2100" b="0" i="0">
                <a:solidFill>
                  <a:srgbClr val="1E1E1E"/>
                </a:solidFill>
                <a:latin typeface="Times New Roman"/>
              </a:rPr>
              <a:t>Pruebas de transiciones válidas e inválidas; CHECK en la base como segunda barrera.</a:t>
            </a:r>
          </a:p>
        </p:txBody>
      </p:sp>
      <p:pic>
        <p:nvPicPr>
          <p:cNvPr id="46" name="Figura 6" descr="Figura_06_state_Alerta.png"/>
          <p:cNvPicPr>
            <a:picLocks noChangeAspect="1"/>
          </p:cNvPicPr>
          <p:nvPr/>
        </p:nvPicPr>
        <p:blipFill>
          <a:blip r:embed="rId2"/>
          <a:stretch>
            <a:fillRect/>
          </a:stretch>
        </p:blipFill>
        <p:spPr>
          <a:xfrm>
            <a:off x="2485183" y="3063240"/>
            <a:ext cx="5728112" cy="5596128"/>
          </a:xfrm>
          <a:prstGeom prst="rect">
            <a:avLst/>
          </a:prstGeom>
        </p:spPr>
      </p:pic>
      <p:sp>
        <p:nvSpPr>
          <p:cNvPr id="47" name="TextBox 46"/>
          <p:cNvSpPr txBox="1"/>
          <p:nvPr/>
        </p:nvSpPr>
        <p:spPr>
          <a:xfrm>
            <a:off x="685800" y="8705088"/>
            <a:ext cx="932688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6. alerta.ts · Pendiente → Enviada → Atendida</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6. Patrones GoF: Strategy</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17</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10332719" y="3063240"/>
            <a:ext cx="7269480" cy="143466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599" y="3186211"/>
            <a:ext cx="6903720" cy="1188720"/>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Problema</a:t>
            </a:r>
          </a:p>
          <a:p>
            <a:pPr algn="l">
              <a:spcAft>
                <a:spcPts val="500"/>
              </a:spcAft>
            </a:pPr>
            <a:r>
              <a:rPr sz="2100" b="0" i="0">
                <a:solidFill>
                  <a:srgbClr val="1E1E1E"/>
                </a:solidFill>
                <a:latin typeface="Times New Roman"/>
              </a:rPr>
              <a:t>Exportar el reporte en PDF y Excel sin condicionales repartidos ni dependencia de las bibliotecas.</a:t>
            </a:r>
          </a:p>
        </p:txBody>
      </p:sp>
      <p:sp>
        <p:nvSpPr>
          <p:cNvPr id="42" name="Rounded Rectangle 41"/>
          <p:cNvSpPr/>
          <p:nvPr/>
        </p:nvSpPr>
        <p:spPr>
          <a:xfrm>
            <a:off x="10332719" y="4620873"/>
            <a:ext cx="7269480" cy="2541401"/>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599" y="4743844"/>
            <a:ext cx="6903720" cy="2295459"/>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Solución</a:t>
            </a:r>
          </a:p>
          <a:p>
            <a:pPr algn="l">
              <a:spcAft>
                <a:spcPts val="500"/>
              </a:spcAft>
            </a:pPr>
            <a:r>
              <a:rPr sz="2100" b="0" i="0">
                <a:solidFill>
                  <a:srgbClr val="1E1E1E"/>
                </a:solidFill>
                <a:latin typeface="Times New Roman"/>
              </a:rPr>
              <a:t>Contrato InventoryReportStrategy.generar(). Estrategias concretas Pdf y Excel. ReportesFacade.exportarInventario() es el contexto: valida, lee los datos, elige la estrategia por formato y audita.</a:t>
            </a:r>
          </a:p>
        </p:txBody>
      </p:sp>
      <p:sp>
        <p:nvSpPr>
          <p:cNvPr id="44" name="Rounded Rectangle 43"/>
          <p:cNvSpPr/>
          <p:nvPr/>
        </p:nvSpPr>
        <p:spPr>
          <a:xfrm>
            <a:off x="10332719" y="7285245"/>
            <a:ext cx="7269480" cy="1721594"/>
          </a:xfrm>
          <a:prstGeom prst="roundRect">
            <a:avLst>
              <a:gd name="adj" fmla="val 6000"/>
            </a:avLst>
          </a:prstGeom>
          <a:solidFill>
            <a:srgbClr val="E8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599" y="7408216"/>
            <a:ext cx="6903720" cy="1475652"/>
          </a:xfrm>
          <a:prstGeom prst="rect">
            <a:avLst/>
          </a:prstGeom>
          <a:noFill/>
        </p:spPr>
        <p:txBody>
          <a:bodyPr wrap="square" anchor="t" lIns="45720" rIns="45720">
            <a:spAutoFit/>
          </a:bodyPr>
          <a:lstStyle/>
          <a:p>
            <a:pPr algn="l">
              <a:spcAft>
                <a:spcPts val="500"/>
              </a:spcAft>
            </a:pPr>
            <a:r>
              <a:rPr sz="2400" b="1" i="0">
                <a:solidFill>
                  <a:srgbClr val="2D7A2D"/>
                </a:solidFill>
                <a:latin typeface="Times New Roman Bold"/>
              </a:rPr>
              <a:t>Evidencia</a:t>
            </a:r>
          </a:p>
          <a:p>
            <a:pPr algn="l">
              <a:spcAft>
                <a:spcPts val="500"/>
              </a:spcAft>
            </a:pPr>
            <a:r>
              <a:rPr sz="2100" b="0" i="0">
                <a:solidFill>
                  <a:srgbClr val="1E1E1E"/>
                </a:solidFill>
                <a:latin typeface="Times New Roman"/>
              </a:rPr>
              <a:t>El mismo caso de uso funciona con las dos estrategias reales y con estrategias simuladas.</a:t>
            </a:r>
          </a:p>
        </p:txBody>
      </p:sp>
      <p:pic>
        <p:nvPicPr>
          <p:cNvPr id="46" name="Figura 7" descr="Figura_07_strategy_InventoryReportStrategy.png"/>
          <p:cNvPicPr>
            <a:picLocks noChangeAspect="1"/>
          </p:cNvPicPr>
          <p:nvPr/>
        </p:nvPicPr>
        <p:blipFill>
          <a:blip r:embed="rId2"/>
          <a:stretch>
            <a:fillRect/>
          </a:stretch>
        </p:blipFill>
        <p:spPr>
          <a:xfrm>
            <a:off x="685800" y="3561697"/>
            <a:ext cx="9326880" cy="1565926"/>
          </a:xfrm>
          <a:prstGeom prst="rect">
            <a:avLst/>
          </a:prstGeom>
        </p:spPr>
      </p:pic>
      <p:sp>
        <p:nvSpPr>
          <p:cNvPr id="47" name="TextBox 46"/>
          <p:cNvSpPr txBox="1"/>
          <p:nvPr/>
        </p:nvSpPr>
        <p:spPr>
          <a:xfrm>
            <a:off x="685800" y="5173344"/>
            <a:ext cx="932688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7. inventory-report.ts · contrato</a:t>
            </a:r>
          </a:p>
        </p:txBody>
      </p:sp>
      <p:pic>
        <p:nvPicPr>
          <p:cNvPr id="48" name="Figura 8" descr="Figura_08_strategy_ExcelInventoryStrategy.png"/>
          <p:cNvPicPr>
            <a:picLocks noChangeAspect="1"/>
          </p:cNvPicPr>
          <p:nvPr/>
        </p:nvPicPr>
        <p:blipFill>
          <a:blip r:embed="rId6"/>
          <a:stretch>
            <a:fillRect/>
          </a:stretch>
        </p:blipFill>
        <p:spPr>
          <a:xfrm>
            <a:off x="3885348" y="6055535"/>
            <a:ext cx="2927783" cy="2603832"/>
          </a:xfrm>
          <a:prstGeom prst="rect">
            <a:avLst/>
          </a:prstGeom>
        </p:spPr>
      </p:pic>
      <p:sp>
        <p:nvSpPr>
          <p:cNvPr id="49" name="TextBox 48"/>
          <p:cNvSpPr txBox="1"/>
          <p:nvPr/>
        </p:nvSpPr>
        <p:spPr>
          <a:xfrm>
            <a:off x="685800" y="8705088"/>
            <a:ext cx="932688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8. report-strategies.ts · ExcelInventoryStrategy</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6. Patrones GoF: Chain of Responsibility</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18</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10332719" y="3063240"/>
            <a:ext cx="7269480" cy="143466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599" y="3186211"/>
            <a:ext cx="6903720" cy="1188720"/>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Problema</a:t>
            </a:r>
          </a:p>
          <a:p>
            <a:pPr algn="l">
              <a:spcAft>
                <a:spcPts val="500"/>
              </a:spcAft>
            </a:pPr>
            <a:r>
              <a:rPr sz="2100" b="0" i="0">
                <a:solidFill>
                  <a:srgbClr val="1E1E1E"/>
                </a:solidFill>
                <a:latin typeface="Times New Roman"/>
              </a:rPr>
              <a:t>Aplicar reglas HTTP en orden y detener la petición en cuanto una falla.</a:t>
            </a:r>
          </a:p>
        </p:txBody>
      </p:sp>
      <p:sp>
        <p:nvSpPr>
          <p:cNvPr id="42" name="Rounded Rectangle 41"/>
          <p:cNvSpPr/>
          <p:nvPr/>
        </p:nvSpPr>
        <p:spPr>
          <a:xfrm>
            <a:off x="10332719" y="4620873"/>
            <a:ext cx="7269480" cy="2541401"/>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599" y="4743844"/>
            <a:ext cx="6903720" cy="2295459"/>
          </a:xfrm>
          <a:prstGeom prst="rect">
            <a:avLst/>
          </a:prstGeom>
          <a:noFill/>
        </p:spPr>
        <p:txBody>
          <a:bodyPr wrap="square" anchor="t" lIns="45720" rIns="45720">
            <a:spAutoFit/>
          </a:bodyPr>
          <a:lstStyle/>
          <a:p>
            <a:pPr algn="l">
              <a:spcAft>
                <a:spcPts val="500"/>
              </a:spcAft>
            </a:pPr>
            <a:r>
              <a:rPr sz="2400" b="1" i="0">
                <a:solidFill>
                  <a:srgbClr val="1A56B0"/>
                </a:solidFill>
                <a:latin typeface="Times New Roman Bold"/>
              </a:rPr>
              <a:t>Solución</a:t>
            </a:r>
          </a:p>
          <a:p>
            <a:pPr algn="l">
              <a:spcAft>
                <a:spcPts val="500"/>
              </a:spcAft>
            </a:pPr>
            <a:r>
              <a:rPr sz="2100" b="0" i="0">
                <a:solidFill>
                  <a:srgbClr val="1E1E1E"/>
                </a:solidFill>
                <a:latin typeface="Times New Roman"/>
              </a:rPr>
              <a:t>Cada middleware llama a next() o lanza un error. Cadena: requestContext → helmet → cors → JSON 64 KB → authenticate → resolveUser → requireRole → Zod → controlador → errorHandler.</a:t>
            </a:r>
          </a:p>
        </p:txBody>
      </p:sp>
      <p:sp>
        <p:nvSpPr>
          <p:cNvPr id="44" name="Rounded Rectangle 43"/>
          <p:cNvSpPr/>
          <p:nvPr/>
        </p:nvSpPr>
        <p:spPr>
          <a:xfrm>
            <a:off x="10332719" y="7285245"/>
            <a:ext cx="7269480" cy="1721594"/>
          </a:xfrm>
          <a:prstGeom prst="roundRect">
            <a:avLst>
              <a:gd name="adj" fmla="val 6000"/>
            </a:avLst>
          </a:prstGeom>
          <a:solidFill>
            <a:srgbClr val="E8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599" y="7408216"/>
            <a:ext cx="6903720" cy="1475652"/>
          </a:xfrm>
          <a:prstGeom prst="rect">
            <a:avLst/>
          </a:prstGeom>
          <a:noFill/>
        </p:spPr>
        <p:txBody>
          <a:bodyPr wrap="square" anchor="t" lIns="45720" rIns="45720">
            <a:spAutoFit/>
          </a:bodyPr>
          <a:lstStyle/>
          <a:p>
            <a:pPr algn="l">
              <a:spcAft>
                <a:spcPts val="500"/>
              </a:spcAft>
            </a:pPr>
            <a:r>
              <a:rPr sz="2400" b="1" i="0">
                <a:solidFill>
                  <a:srgbClr val="2D7A2D"/>
                </a:solidFill>
                <a:latin typeface="Times New Roman Bold"/>
              </a:rPr>
              <a:t>Evidencia</a:t>
            </a:r>
          </a:p>
          <a:p>
            <a:pPr algn="l">
              <a:spcAft>
                <a:spcPts val="500"/>
              </a:spcAft>
            </a:pPr>
            <a:r>
              <a:rPr sz="2100" b="0" i="0">
                <a:solidFill>
                  <a:srgbClr val="1E1E1E"/>
                </a:solidFill>
                <a:latin typeface="Times New Roman"/>
              </a:rPr>
              <a:t>Origen no permitido → 403; token inválido no llega al repositorio; entrada del mecánico → 403 ROLE_FORBIDDEN.</a:t>
            </a:r>
          </a:p>
        </p:txBody>
      </p:sp>
      <p:pic>
        <p:nvPicPr>
          <p:cNvPr id="46" name="Figura 9" descr="Figura_09_chain_app_ts.png"/>
          <p:cNvPicPr>
            <a:picLocks noChangeAspect="1"/>
          </p:cNvPicPr>
          <p:nvPr/>
        </p:nvPicPr>
        <p:blipFill>
          <a:blip r:embed="rId2"/>
          <a:stretch>
            <a:fillRect/>
          </a:stretch>
        </p:blipFill>
        <p:spPr>
          <a:xfrm>
            <a:off x="3674800" y="3063240"/>
            <a:ext cx="3348878" cy="2562842"/>
          </a:xfrm>
          <a:prstGeom prst="rect">
            <a:avLst/>
          </a:prstGeom>
        </p:spPr>
      </p:pic>
      <p:sp>
        <p:nvSpPr>
          <p:cNvPr id="47" name="TextBox 46"/>
          <p:cNvSpPr txBox="1"/>
          <p:nvPr/>
        </p:nvSpPr>
        <p:spPr>
          <a:xfrm>
            <a:off x="685800" y="5671802"/>
            <a:ext cx="932688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9. app.ts · composición de la cadena</a:t>
            </a:r>
          </a:p>
        </p:txBody>
      </p:sp>
      <p:pic>
        <p:nvPicPr>
          <p:cNvPr id="48" name="Figura 10" descr="Figura_10_chain_authentication_ts.png"/>
          <p:cNvPicPr>
            <a:picLocks noChangeAspect="1"/>
          </p:cNvPicPr>
          <p:nvPr/>
        </p:nvPicPr>
        <p:blipFill>
          <a:blip r:embed="rId6"/>
          <a:stretch>
            <a:fillRect/>
          </a:stretch>
        </p:blipFill>
        <p:spPr>
          <a:xfrm>
            <a:off x="3897220" y="6055535"/>
            <a:ext cx="2904039" cy="2603832"/>
          </a:xfrm>
          <a:prstGeom prst="rect">
            <a:avLst/>
          </a:prstGeom>
        </p:spPr>
      </p:pic>
      <p:sp>
        <p:nvSpPr>
          <p:cNvPr id="49" name="TextBox 48"/>
          <p:cNvSpPr txBox="1"/>
          <p:nvPr/>
        </p:nvSpPr>
        <p:spPr>
          <a:xfrm>
            <a:off x="685800" y="8705088"/>
            <a:ext cx="932688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10. authentication.ts · eslabones de seguridad</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6. Matriz de trazabilidad</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19</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graphicFrame>
        <p:nvGraphicFramePr>
          <p:cNvPr id="40" name="Table 39"/>
          <p:cNvGraphicFramePr>
            <a:graphicFrameLocks noGrp="1"/>
          </p:cNvGraphicFramePr>
          <p:nvPr/>
        </p:nvGraphicFramePr>
        <p:xfrm>
          <a:off x="685800" y="3104230"/>
          <a:ext cx="16916400" cy="5738640"/>
        </p:xfrm>
        <a:graphic>
          <a:graphicData uri="http://schemas.openxmlformats.org/drawingml/2006/table">
            <a:tbl>
              <a:tblPr firstRow="1" bandRow="1">
                <a:tableStyleId>{5C22544A-7EE6-4342-B048-85BDC9FD1C3A}</a:tableStyleId>
              </a:tblPr>
              <a:tblGrid>
                <a:gridCol w="3383280"/>
                <a:gridCol w="2725420"/>
                <a:gridCol w="4135120"/>
                <a:gridCol w="3571240"/>
                <a:gridCol w="3101340"/>
              </a:tblGrid>
              <a:tr h="573864">
                <a:tc>
                  <a:txBody>
                    <a:bodyPr wrap="square"/>
                    <a:lstStyle/>
                    <a:p>
                      <a:r>
                        <a:rPr sz="2100" b="1" i="0">
                          <a:solidFill>
                            <a:srgbClr val="FFFFFF"/>
                          </a:solidFill>
                          <a:latin typeface="Times New Roman Bold"/>
                        </a:rPr>
                        <a:t>Patrón</a:t>
                      </a:r>
                    </a:p>
                  </a:txBody>
                  <a:tcPr marL="73152" marR="73152" marT="27432" marB="27432" anchor="ctr">
                    <a:solidFill>
                      <a:srgbClr val="4285F4"/>
                    </a:solidFill>
                  </a:tcPr>
                </a:tc>
                <a:tc>
                  <a:txBody>
                    <a:bodyPr wrap="square"/>
                    <a:lstStyle/>
                    <a:p>
                      <a:r>
                        <a:rPr sz="2100" b="1" i="0">
                          <a:solidFill>
                            <a:srgbClr val="FFFFFF"/>
                          </a:solidFill>
                          <a:latin typeface="Times New Roman Bold"/>
                        </a:rPr>
                        <a:t>Requerimiento</a:t>
                      </a:r>
                    </a:p>
                  </a:txBody>
                  <a:tcPr marL="73152" marR="73152" marT="27432" marB="27432" anchor="ctr">
                    <a:solidFill>
                      <a:srgbClr val="4285F4"/>
                    </a:solidFill>
                  </a:tcPr>
                </a:tc>
                <a:tc>
                  <a:txBody>
                    <a:bodyPr wrap="square"/>
                    <a:lstStyle/>
                    <a:p>
                      <a:r>
                        <a:rPr sz="2100" b="1" i="0">
                          <a:solidFill>
                            <a:srgbClr val="FFFFFF"/>
                          </a:solidFill>
                          <a:latin typeface="Times New Roman Bold"/>
                        </a:rPr>
                        <a:t>Código</a:t>
                      </a:r>
                    </a:p>
                  </a:txBody>
                  <a:tcPr marL="73152" marR="73152" marT="27432" marB="27432" anchor="ctr">
                    <a:solidFill>
                      <a:srgbClr val="4285F4"/>
                    </a:solidFill>
                  </a:tcPr>
                </a:tc>
                <a:tc>
                  <a:txBody>
                    <a:bodyPr wrap="square"/>
                    <a:lstStyle/>
                    <a:p>
                      <a:r>
                        <a:rPr sz="2100" b="1" i="0">
                          <a:solidFill>
                            <a:srgbClr val="FFFFFF"/>
                          </a:solidFill>
                          <a:latin typeface="Times New Roman Bold"/>
                        </a:rPr>
                        <a:t>Prueba</a:t>
                      </a:r>
                    </a:p>
                  </a:txBody>
                  <a:tcPr marL="73152" marR="73152" marT="27432" marB="27432" anchor="ctr">
                    <a:solidFill>
                      <a:srgbClr val="4285F4"/>
                    </a:solidFill>
                  </a:tcPr>
                </a:tc>
                <a:tc>
                  <a:txBody>
                    <a:bodyPr wrap="square"/>
                    <a:lstStyle/>
                    <a:p>
                      <a:r>
                        <a:rPr sz="2100" b="1" i="0">
                          <a:solidFill>
                            <a:srgbClr val="FFFFFF"/>
                          </a:solidFill>
                          <a:latin typeface="Times New Roman Bold"/>
                        </a:rPr>
                        <a:t>Estado</a:t>
                      </a:r>
                    </a:p>
                  </a:txBody>
                  <a:tcPr marL="73152" marR="73152" marT="27432" marB="27432" anchor="ctr">
                    <a:solidFill>
                      <a:srgbClr val="4285F4"/>
                    </a:solidFill>
                  </a:tcPr>
                </a:tc>
              </a:tr>
              <a:tr h="573864">
                <a:tc>
                  <a:txBody>
                    <a:bodyPr wrap="square"/>
                    <a:lstStyle/>
                    <a:p>
                      <a:r>
                        <a:rPr sz="2000" b="0" i="0">
                          <a:solidFill>
                            <a:srgbClr val="1E1E1E"/>
                          </a:solidFill>
                          <a:latin typeface="Times New Roman"/>
                        </a:rPr>
                        <a:t>Capas / monolito modular</a:t>
                      </a:r>
                    </a:p>
                  </a:txBody>
                  <a:tcPr marL="73152" marR="73152" marT="27432" marB="27432" anchor="ctr">
                    <a:solidFill>
                      <a:srgbClr val="F2F6FC"/>
                    </a:solidFill>
                  </a:tcPr>
                </a:tc>
                <a:tc>
                  <a:txBody>
                    <a:bodyPr wrap="square"/>
                    <a:lstStyle/>
                    <a:p>
                      <a:r>
                        <a:rPr sz="2000" b="0" i="0">
                          <a:solidFill>
                            <a:srgbClr val="1E1E1E"/>
                          </a:solidFill>
                          <a:latin typeface="Times New Roman"/>
                        </a:rPr>
                        <a:t>RNF-07, RNF-12</a:t>
                      </a:r>
                    </a:p>
                  </a:txBody>
                  <a:tcPr marL="73152" marR="73152" marT="27432" marB="27432" anchor="ctr">
                    <a:solidFill>
                      <a:srgbClr val="F2F6FC"/>
                    </a:solidFill>
                  </a:tcPr>
                </a:tc>
                <a:tc>
                  <a:txBody>
                    <a:bodyPr wrap="square"/>
                    <a:lstStyle/>
                    <a:p>
                      <a:r>
                        <a:rPr sz="2000" b="0" i="0">
                          <a:solidFill>
                            <a:srgbClr val="1E1E1E"/>
                          </a:solidFill>
                          <a:latin typeface="Times New Roman"/>
                        </a:rPr>
                        <a:t>modules/, infrastructure/</a:t>
                      </a:r>
                    </a:p>
                  </a:txBody>
                  <a:tcPr marL="73152" marR="73152" marT="27432" marB="27432" anchor="ctr">
                    <a:solidFill>
                      <a:srgbClr val="F2F6FC"/>
                    </a:solidFill>
                  </a:tcPr>
                </a:tc>
                <a:tc>
                  <a:txBody>
                    <a:bodyPr wrap="square"/>
                    <a:lstStyle/>
                    <a:p>
                      <a:r>
                        <a:rPr sz="2000" b="0" i="0">
                          <a:solidFill>
                            <a:srgbClr val="1E1E1E"/>
                          </a:solidFill>
                          <a:latin typeface="Times New Roman"/>
                        </a:rPr>
                        <a:t>Casos de uso sin interfaz</a:t>
                      </a:r>
                    </a:p>
                  </a:txBody>
                  <a:tcPr marL="73152" marR="73152" marT="27432" marB="27432" anchor="ctr">
                    <a:solidFill>
                      <a:srgbClr val="F2F6FC"/>
                    </a:solidFill>
                  </a:tcPr>
                </a:tc>
                <a:tc>
                  <a:txBody>
                    <a:bodyPr wrap="square"/>
                    <a:lstStyle/>
                    <a:p>
                      <a:r>
                        <a:rPr sz="2000" b="0" i="0">
                          <a:solidFill>
                            <a:srgbClr val="2D7A2D"/>
                          </a:solidFill>
                          <a:latin typeface="Times New Roman"/>
                        </a:rPr>
                        <a:t>Implementado</a:t>
                      </a:r>
                    </a:p>
                  </a:txBody>
                  <a:tcPr marL="73152" marR="73152" marT="27432" marB="27432" anchor="ctr">
                    <a:solidFill>
                      <a:srgbClr val="F2F6FC"/>
                    </a:solidFill>
                  </a:tcPr>
                </a:tc>
              </a:tr>
              <a:tr h="573864">
                <a:tc>
                  <a:txBody>
                    <a:bodyPr wrap="square"/>
                    <a:lstStyle/>
                    <a:p>
                      <a:r>
                        <a:rPr sz="2000" b="0" i="0">
                          <a:solidFill>
                            <a:srgbClr val="1E1E1E"/>
                          </a:solidFill>
                          <a:latin typeface="Times New Roman"/>
                        </a:rPr>
                        <a:t>Repository + Unit of Work</a:t>
                      </a:r>
                    </a:p>
                  </a:txBody>
                  <a:tcPr marL="73152" marR="73152" marT="27432" marB="27432" anchor="ctr">
                    <a:solidFill>
                      <a:srgbClr val="FFFFFF"/>
                    </a:solidFill>
                  </a:tcPr>
                </a:tc>
                <a:tc>
                  <a:txBody>
                    <a:bodyPr wrap="square"/>
                    <a:lstStyle/>
                    <a:p>
                      <a:r>
                        <a:rPr sz="2000" b="0" i="0">
                          <a:solidFill>
                            <a:srgbClr val="1E1E1E"/>
                          </a:solidFill>
                          <a:latin typeface="Times New Roman"/>
                        </a:rPr>
                        <a:t>RNF-04, RNF-07</a:t>
                      </a:r>
                    </a:p>
                  </a:txBody>
                  <a:tcPr marL="73152" marR="73152" marT="27432" marB="27432" anchor="ctr">
                    <a:solidFill>
                      <a:srgbClr val="FFFFFF"/>
                    </a:solidFill>
                  </a:tcPr>
                </a:tc>
                <a:tc>
                  <a:txBody>
                    <a:bodyPr wrap="square"/>
                    <a:lstStyle/>
                    <a:p>
                      <a:r>
                        <a:rPr sz="2000" b="0" i="0">
                          <a:solidFill>
                            <a:srgbClr val="1E1E1E"/>
                          </a:solidFill>
                          <a:latin typeface="Times New Roman"/>
                        </a:rPr>
                        <a:t>contracts.ts, sql-*.ts</a:t>
                      </a:r>
                    </a:p>
                  </a:txBody>
                  <a:tcPr marL="73152" marR="73152" marT="27432" marB="27432" anchor="ctr">
                    <a:solidFill>
                      <a:srgbClr val="FFFFFF"/>
                    </a:solidFill>
                  </a:tcPr>
                </a:tc>
                <a:tc>
                  <a:txBody>
                    <a:bodyPr wrap="square"/>
                    <a:lstStyle/>
                    <a:p>
                      <a:r>
                        <a:rPr sz="2000" b="0" i="0">
                          <a:solidFill>
                            <a:srgbClr val="1E1E1E"/>
                          </a:solidFill>
                          <a:latin typeface="Times New Roman"/>
                        </a:rPr>
                        <a:t>Integración SQL (base efímera)</a:t>
                      </a:r>
                    </a:p>
                  </a:txBody>
                  <a:tcPr marL="73152" marR="73152" marT="27432" marB="27432" anchor="ctr">
                    <a:solidFill>
                      <a:srgbClr val="FFFFFF"/>
                    </a:solidFill>
                  </a:tcPr>
                </a:tc>
                <a:tc>
                  <a:txBody>
                    <a:bodyPr wrap="square"/>
                    <a:lstStyle/>
                    <a:p>
                      <a:r>
                        <a:rPr sz="2000" b="0" i="0">
                          <a:solidFill>
                            <a:srgbClr val="2D7A2D"/>
                          </a:solidFill>
                          <a:latin typeface="Times New Roman"/>
                        </a:rPr>
                        <a:t>Implementado</a:t>
                      </a:r>
                    </a:p>
                  </a:txBody>
                  <a:tcPr marL="73152" marR="73152" marT="27432" marB="27432" anchor="ctr">
                    <a:solidFill>
                      <a:srgbClr val="FFFFFF"/>
                    </a:solidFill>
                  </a:tcPr>
                </a:tc>
              </a:tr>
              <a:tr h="573864">
                <a:tc>
                  <a:txBody>
                    <a:bodyPr wrap="square"/>
                    <a:lstStyle/>
                    <a:p>
                      <a:r>
                        <a:rPr sz="2000" b="0" i="0">
                          <a:solidFill>
                            <a:srgbClr val="1E1E1E"/>
                          </a:solidFill>
                          <a:latin typeface="Times New Roman"/>
                        </a:rPr>
                        <a:t>Transactional Outbox</a:t>
                      </a:r>
                    </a:p>
                  </a:txBody>
                  <a:tcPr marL="73152" marR="73152" marT="27432" marB="27432" anchor="ctr">
                    <a:solidFill>
                      <a:srgbClr val="F2F6FC"/>
                    </a:solidFill>
                  </a:tcPr>
                </a:tc>
                <a:tc>
                  <a:txBody>
                    <a:bodyPr wrap="square"/>
                    <a:lstStyle/>
                    <a:p>
                      <a:r>
                        <a:rPr sz="2000" b="0" i="0">
                          <a:solidFill>
                            <a:srgbClr val="1E1E1E"/>
                          </a:solidFill>
                          <a:latin typeface="Times New Roman"/>
                        </a:rPr>
                        <a:t>RF-13, RNF-11</a:t>
                      </a:r>
                    </a:p>
                  </a:txBody>
                  <a:tcPr marL="73152" marR="73152" marT="27432" marB="27432" anchor="ctr">
                    <a:solidFill>
                      <a:srgbClr val="F2F6FC"/>
                    </a:solidFill>
                  </a:tcPr>
                </a:tc>
                <a:tc>
                  <a:txBody>
                    <a:bodyPr wrap="square"/>
                    <a:lstStyle/>
                    <a:p>
                      <a:r>
                        <a:rPr sz="2000" b="0" i="0">
                          <a:solidFill>
                            <a:srgbClr val="1E1E1E"/>
                          </a:solidFill>
                          <a:latin typeface="Times New Roman"/>
                        </a:rPr>
                        <a:t>sql-alerts.ts, notification-worker.ts</a:t>
                      </a:r>
                    </a:p>
                  </a:txBody>
                  <a:tcPr marL="73152" marR="73152" marT="27432" marB="27432" anchor="ctr">
                    <a:solidFill>
                      <a:srgbClr val="F2F6FC"/>
                    </a:solidFill>
                  </a:tcPr>
                </a:tc>
                <a:tc>
                  <a:txBody>
                    <a:bodyPr wrap="square"/>
                    <a:lstStyle/>
                    <a:p>
                      <a:r>
                        <a:rPr sz="2000" b="0" i="0">
                          <a:solidFill>
                            <a:srgbClr val="1E1E1E"/>
                          </a:solidFill>
                          <a:latin typeface="Times New Roman"/>
                        </a:rPr>
                        <a:t>Reservas y reintentos (18)</a:t>
                      </a:r>
                    </a:p>
                  </a:txBody>
                  <a:tcPr marL="73152" marR="73152" marT="27432" marB="27432" anchor="ctr">
                    <a:solidFill>
                      <a:srgbClr val="F2F6FC"/>
                    </a:solidFill>
                  </a:tcPr>
                </a:tc>
                <a:tc>
                  <a:txBody>
                    <a:bodyPr wrap="square"/>
                    <a:lstStyle/>
                    <a:p>
                      <a:r>
                        <a:rPr sz="2000" b="0" i="0">
                          <a:solidFill>
                            <a:srgbClr val="1E1E1E"/>
                          </a:solidFill>
                          <a:latin typeface="Times New Roman"/>
                        </a:rPr>
                        <a:t>Implementado; correo pendiente</a:t>
                      </a:r>
                    </a:p>
                  </a:txBody>
                  <a:tcPr marL="73152" marR="73152" marT="27432" marB="27432" anchor="ctr">
                    <a:solidFill>
                      <a:srgbClr val="F2F6FC"/>
                    </a:solidFill>
                  </a:tcPr>
                </a:tc>
              </a:tr>
              <a:tr h="573864">
                <a:tc>
                  <a:txBody>
                    <a:bodyPr wrap="square"/>
                    <a:lstStyle/>
                    <a:p>
                      <a:r>
                        <a:rPr sz="2000" b="0" i="0">
                          <a:solidFill>
                            <a:srgbClr val="1E1E1E"/>
                          </a:solidFill>
                          <a:latin typeface="Times New Roman"/>
                        </a:rPr>
                        <a:t>Singleton</a:t>
                      </a:r>
                    </a:p>
                  </a:txBody>
                  <a:tcPr marL="73152" marR="73152" marT="27432" marB="27432" anchor="ctr">
                    <a:solidFill>
                      <a:srgbClr val="FFFFFF"/>
                    </a:solidFill>
                  </a:tcPr>
                </a:tc>
                <a:tc>
                  <a:txBody>
                    <a:bodyPr wrap="square"/>
                    <a:lstStyle/>
                    <a:p>
                      <a:r>
                        <a:rPr sz="2000" b="0" i="0">
                          <a:solidFill>
                            <a:srgbClr val="1E1E1E"/>
                          </a:solidFill>
                          <a:latin typeface="Times New Roman"/>
                        </a:rPr>
                        <a:t>RNF-09</a:t>
                      </a:r>
                    </a:p>
                  </a:txBody>
                  <a:tcPr marL="73152" marR="73152" marT="27432" marB="27432" anchor="ctr">
                    <a:solidFill>
                      <a:srgbClr val="FFFFFF"/>
                    </a:solidFill>
                  </a:tcPr>
                </a:tc>
                <a:tc>
                  <a:txBody>
                    <a:bodyPr wrap="square"/>
                    <a:lstStyle/>
                    <a:p>
                      <a:r>
                        <a:rPr sz="2000" b="0" i="0">
                          <a:solidFill>
                            <a:srgbClr val="1E1E1E"/>
                          </a:solidFill>
                          <a:latin typeface="Times New Roman"/>
                        </a:rPr>
                        <a:t>sql-pool.ts</a:t>
                      </a:r>
                    </a:p>
                  </a:txBody>
                  <a:tcPr marL="73152" marR="73152" marT="27432" marB="27432" anchor="ctr">
                    <a:solidFill>
                      <a:srgbClr val="FFFFFF"/>
                    </a:solidFill>
                  </a:tcPr>
                </a:tc>
                <a:tc>
                  <a:txBody>
                    <a:bodyPr wrap="square"/>
                    <a:lstStyle/>
                    <a:p>
                      <a:r>
                        <a:rPr sz="2000" b="0" i="0">
                          <a:solidFill>
                            <a:srgbClr val="1E1E1E"/>
                          </a:solidFill>
                          <a:latin typeface="Times New Roman"/>
                        </a:rPr>
                        <a:t>Misma instancia y reintento</a:t>
                      </a:r>
                    </a:p>
                  </a:txBody>
                  <a:tcPr marL="73152" marR="73152" marT="27432" marB="27432" anchor="ctr">
                    <a:solidFill>
                      <a:srgbClr val="FFFFFF"/>
                    </a:solidFill>
                  </a:tcPr>
                </a:tc>
                <a:tc>
                  <a:txBody>
                    <a:bodyPr wrap="square"/>
                    <a:lstStyle/>
                    <a:p>
                      <a:r>
                        <a:rPr sz="2000" b="0" i="0">
                          <a:solidFill>
                            <a:srgbClr val="2D7A2D"/>
                          </a:solidFill>
                          <a:latin typeface="Times New Roman"/>
                        </a:rPr>
                        <a:t>Implementado</a:t>
                      </a:r>
                    </a:p>
                  </a:txBody>
                  <a:tcPr marL="73152" marR="73152" marT="27432" marB="27432" anchor="ctr">
                    <a:solidFill>
                      <a:srgbClr val="FFFFFF"/>
                    </a:solidFill>
                  </a:tcPr>
                </a:tc>
              </a:tr>
              <a:tr h="573864">
                <a:tc>
                  <a:txBody>
                    <a:bodyPr wrap="square"/>
                    <a:lstStyle/>
                    <a:p>
                      <a:r>
                        <a:rPr sz="2000" b="0" i="0">
                          <a:solidFill>
                            <a:srgbClr val="1E1E1E"/>
                          </a:solidFill>
                          <a:latin typeface="Times New Roman"/>
                        </a:rPr>
                        <a:t>Facade</a:t>
                      </a:r>
                    </a:p>
                  </a:txBody>
                  <a:tcPr marL="73152" marR="73152" marT="27432" marB="27432" anchor="ctr">
                    <a:solidFill>
                      <a:srgbClr val="F2F6FC"/>
                    </a:solidFill>
                  </a:tcPr>
                </a:tc>
                <a:tc>
                  <a:txBody>
                    <a:bodyPr wrap="square"/>
                    <a:lstStyle/>
                    <a:p>
                      <a:r>
                        <a:rPr sz="2000" b="0" i="0">
                          <a:solidFill>
                            <a:srgbClr val="1E1E1E"/>
                          </a:solidFill>
                          <a:latin typeface="Times New Roman"/>
                        </a:rPr>
                        <a:t>RF-08, RF-09, RNF-04</a:t>
                      </a:r>
                    </a:p>
                  </a:txBody>
                  <a:tcPr marL="73152" marR="73152" marT="27432" marB="27432" anchor="ctr">
                    <a:solidFill>
                      <a:srgbClr val="F2F6FC"/>
                    </a:solidFill>
                  </a:tcPr>
                </a:tc>
                <a:tc>
                  <a:txBody>
                    <a:bodyPr wrap="square"/>
                    <a:lstStyle/>
                    <a:p>
                      <a:r>
                        <a:rPr sz="2000" b="0" i="0">
                          <a:solidFill>
                            <a:srgbClr val="1E1E1E"/>
                          </a:solidFill>
                          <a:latin typeface="Times New Roman"/>
                        </a:rPr>
                        <a:t>inventario.facade.ts</a:t>
                      </a:r>
                    </a:p>
                  </a:txBody>
                  <a:tcPr marL="73152" marR="73152" marT="27432" marB="27432" anchor="ctr">
                    <a:solidFill>
                      <a:srgbClr val="F2F6FC"/>
                    </a:solidFill>
                  </a:tcPr>
                </a:tc>
                <a:tc>
                  <a:txBody>
                    <a:bodyPr wrap="square"/>
                    <a:lstStyle/>
                    <a:p>
                      <a:r>
                        <a:rPr sz="2000" b="0" i="0">
                          <a:solidFill>
                            <a:srgbClr val="1E1E1E"/>
                          </a:solidFill>
                          <a:latin typeface="Times New Roman"/>
                        </a:rPr>
                        <a:t>Concurrencia y rollback</a:t>
                      </a:r>
                    </a:p>
                  </a:txBody>
                  <a:tcPr marL="73152" marR="73152" marT="27432" marB="27432" anchor="ctr">
                    <a:solidFill>
                      <a:srgbClr val="F2F6FC"/>
                    </a:solidFill>
                  </a:tcPr>
                </a:tc>
                <a:tc>
                  <a:txBody>
                    <a:bodyPr wrap="square"/>
                    <a:lstStyle/>
                    <a:p>
                      <a:r>
                        <a:rPr sz="2000" b="0" i="0">
                          <a:solidFill>
                            <a:srgbClr val="2D7A2D"/>
                          </a:solidFill>
                          <a:latin typeface="Times New Roman"/>
                        </a:rPr>
                        <a:t>Implementado</a:t>
                      </a:r>
                    </a:p>
                  </a:txBody>
                  <a:tcPr marL="73152" marR="73152" marT="27432" marB="27432" anchor="ctr">
                    <a:solidFill>
                      <a:srgbClr val="F2F6FC"/>
                    </a:solidFill>
                  </a:tcPr>
                </a:tc>
              </a:tr>
              <a:tr h="573864">
                <a:tc>
                  <a:txBody>
                    <a:bodyPr wrap="square"/>
                    <a:lstStyle/>
                    <a:p>
                      <a:r>
                        <a:rPr sz="2000" b="0" i="0">
                          <a:solidFill>
                            <a:srgbClr val="1E1E1E"/>
                          </a:solidFill>
                          <a:latin typeface="Times New Roman"/>
                        </a:rPr>
                        <a:t>Observer</a:t>
                      </a:r>
                    </a:p>
                  </a:txBody>
                  <a:tcPr marL="73152" marR="73152" marT="27432" marB="27432" anchor="ctr">
                    <a:solidFill>
                      <a:srgbClr val="FFFFFF"/>
                    </a:solidFill>
                  </a:tcPr>
                </a:tc>
                <a:tc>
                  <a:txBody>
                    <a:bodyPr wrap="square"/>
                    <a:lstStyle/>
                    <a:p>
                      <a:r>
                        <a:rPr sz="2000" b="0" i="0">
                          <a:solidFill>
                            <a:srgbClr val="1E1E1E"/>
                          </a:solidFill>
                          <a:latin typeface="Times New Roman"/>
                        </a:rPr>
                        <a:t>RF-12</a:t>
                      </a:r>
                    </a:p>
                  </a:txBody>
                  <a:tcPr marL="73152" marR="73152" marT="27432" marB="27432" anchor="ctr">
                    <a:solidFill>
                      <a:srgbClr val="FFFFFF"/>
                    </a:solidFill>
                  </a:tcPr>
                </a:tc>
                <a:tc>
                  <a:txBody>
                    <a:bodyPr wrap="square"/>
                    <a:lstStyle/>
                    <a:p>
                      <a:r>
                        <a:rPr sz="2000" b="0" i="0">
                          <a:solidFill>
                            <a:srgbClr val="1E1E1E"/>
                          </a:solidFill>
                          <a:latin typeface="Times New Roman"/>
                        </a:rPr>
                        <a:t>transactional-publisher.ts</a:t>
                      </a:r>
                    </a:p>
                  </a:txBody>
                  <a:tcPr marL="73152" marR="73152" marT="27432" marB="27432" anchor="ctr">
                    <a:solidFill>
                      <a:srgbClr val="FFFFFF"/>
                    </a:solidFill>
                  </a:tcPr>
                </a:tc>
                <a:tc>
                  <a:txBody>
                    <a:bodyPr wrap="square"/>
                    <a:lstStyle/>
                    <a:p>
                      <a:r>
                        <a:rPr sz="2000" b="0" i="0">
                          <a:solidFill>
                            <a:srgbClr val="1E1E1E"/>
                          </a:solidFill>
                          <a:latin typeface="Times New Roman"/>
                        </a:rPr>
                        <a:t>Umbral y no duplicados</a:t>
                      </a:r>
                    </a:p>
                  </a:txBody>
                  <a:tcPr marL="73152" marR="73152" marT="27432" marB="27432" anchor="ctr">
                    <a:solidFill>
                      <a:srgbClr val="FFFFFF"/>
                    </a:solidFill>
                  </a:tcPr>
                </a:tc>
                <a:tc>
                  <a:txBody>
                    <a:bodyPr wrap="square"/>
                    <a:lstStyle/>
                    <a:p>
                      <a:r>
                        <a:rPr sz="2000" b="0" i="0">
                          <a:solidFill>
                            <a:srgbClr val="2D7A2D"/>
                          </a:solidFill>
                          <a:latin typeface="Times New Roman"/>
                        </a:rPr>
                        <a:t>Implementado</a:t>
                      </a:r>
                    </a:p>
                  </a:txBody>
                  <a:tcPr marL="73152" marR="73152" marT="27432" marB="27432" anchor="ctr">
                    <a:solidFill>
                      <a:srgbClr val="FFFFFF"/>
                    </a:solidFill>
                  </a:tcPr>
                </a:tc>
              </a:tr>
              <a:tr h="573864">
                <a:tc>
                  <a:txBody>
                    <a:bodyPr wrap="square"/>
                    <a:lstStyle/>
                    <a:p>
                      <a:r>
                        <a:rPr sz="2000" b="0" i="0">
                          <a:solidFill>
                            <a:srgbClr val="1E1E1E"/>
                          </a:solidFill>
                          <a:latin typeface="Times New Roman"/>
                        </a:rPr>
                        <a:t>State</a:t>
                      </a:r>
                    </a:p>
                  </a:txBody>
                  <a:tcPr marL="73152" marR="73152" marT="27432" marB="27432" anchor="ctr">
                    <a:solidFill>
                      <a:srgbClr val="F2F6FC"/>
                    </a:solidFill>
                  </a:tcPr>
                </a:tc>
                <a:tc>
                  <a:txBody>
                    <a:bodyPr wrap="square"/>
                    <a:lstStyle/>
                    <a:p>
                      <a:r>
                        <a:rPr sz="2000" b="0" i="0">
                          <a:solidFill>
                            <a:srgbClr val="1E1E1E"/>
                          </a:solidFill>
                          <a:latin typeface="Times New Roman"/>
                        </a:rPr>
                        <a:t>RF-12, RF-13</a:t>
                      </a:r>
                    </a:p>
                  </a:txBody>
                  <a:tcPr marL="73152" marR="73152" marT="27432" marB="27432" anchor="ctr">
                    <a:solidFill>
                      <a:srgbClr val="F2F6FC"/>
                    </a:solidFill>
                  </a:tcPr>
                </a:tc>
                <a:tc>
                  <a:txBody>
                    <a:bodyPr wrap="square"/>
                    <a:lstStyle/>
                    <a:p>
                      <a:r>
                        <a:rPr sz="2000" b="0" i="0">
                          <a:solidFill>
                            <a:srgbClr val="1E1E1E"/>
                          </a:solidFill>
                          <a:latin typeface="Times New Roman"/>
                        </a:rPr>
                        <a:t>alerta.ts</a:t>
                      </a:r>
                    </a:p>
                  </a:txBody>
                  <a:tcPr marL="73152" marR="73152" marT="27432" marB="27432" anchor="ctr">
                    <a:solidFill>
                      <a:srgbClr val="F2F6FC"/>
                    </a:solidFill>
                  </a:tcPr>
                </a:tc>
                <a:tc>
                  <a:txBody>
                    <a:bodyPr wrap="square"/>
                    <a:lstStyle/>
                    <a:p>
                      <a:r>
                        <a:rPr sz="2000" b="0" i="0">
                          <a:solidFill>
                            <a:srgbClr val="1E1E1E"/>
                          </a:solidFill>
                          <a:latin typeface="Times New Roman"/>
                        </a:rPr>
                        <a:t>Transiciones</a:t>
                      </a:r>
                    </a:p>
                  </a:txBody>
                  <a:tcPr marL="73152" marR="73152" marT="27432" marB="27432" anchor="ctr">
                    <a:solidFill>
                      <a:srgbClr val="F2F6FC"/>
                    </a:solidFill>
                  </a:tcPr>
                </a:tc>
                <a:tc>
                  <a:txBody>
                    <a:bodyPr wrap="square"/>
                    <a:lstStyle/>
                    <a:p>
                      <a:r>
                        <a:rPr sz="2000" b="0" i="0">
                          <a:solidFill>
                            <a:srgbClr val="2D7A2D"/>
                          </a:solidFill>
                          <a:latin typeface="Times New Roman"/>
                        </a:rPr>
                        <a:t>Implementado</a:t>
                      </a:r>
                    </a:p>
                  </a:txBody>
                  <a:tcPr marL="73152" marR="73152" marT="27432" marB="27432" anchor="ctr">
                    <a:solidFill>
                      <a:srgbClr val="F2F6FC"/>
                    </a:solidFill>
                  </a:tcPr>
                </a:tc>
              </a:tr>
              <a:tr h="573864">
                <a:tc>
                  <a:txBody>
                    <a:bodyPr wrap="square"/>
                    <a:lstStyle/>
                    <a:p>
                      <a:r>
                        <a:rPr sz="2000" b="0" i="0">
                          <a:solidFill>
                            <a:srgbClr val="1E1E1E"/>
                          </a:solidFill>
                          <a:latin typeface="Times New Roman"/>
                        </a:rPr>
                        <a:t>Strategy</a:t>
                      </a:r>
                    </a:p>
                  </a:txBody>
                  <a:tcPr marL="73152" marR="73152" marT="27432" marB="27432" anchor="ctr">
                    <a:solidFill>
                      <a:srgbClr val="FFFFFF"/>
                    </a:solidFill>
                  </a:tcPr>
                </a:tc>
                <a:tc>
                  <a:txBody>
                    <a:bodyPr wrap="square"/>
                    <a:lstStyle/>
                    <a:p>
                      <a:r>
                        <a:rPr sz="2000" b="0" i="0">
                          <a:solidFill>
                            <a:srgbClr val="1E1E1E"/>
                          </a:solidFill>
                          <a:latin typeface="Times New Roman"/>
                        </a:rPr>
                        <a:t>RF-11</a:t>
                      </a:r>
                    </a:p>
                  </a:txBody>
                  <a:tcPr marL="73152" marR="73152" marT="27432" marB="27432" anchor="ctr">
                    <a:solidFill>
                      <a:srgbClr val="FFFFFF"/>
                    </a:solidFill>
                  </a:tcPr>
                </a:tc>
                <a:tc>
                  <a:txBody>
                    <a:bodyPr wrap="square"/>
                    <a:lstStyle/>
                    <a:p>
                      <a:r>
                        <a:rPr sz="2000" b="0" i="0">
                          <a:solidFill>
                            <a:srgbClr val="1E1E1E"/>
                          </a:solidFill>
                          <a:latin typeface="Times New Roman"/>
                        </a:rPr>
                        <a:t>report-strategies.ts</a:t>
                      </a:r>
                    </a:p>
                  </a:txBody>
                  <a:tcPr marL="73152" marR="73152" marT="27432" marB="27432" anchor="ctr">
                    <a:solidFill>
                      <a:srgbClr val="FFFFFF"/>
                    </a:solidFill>
                  </a:tcPr>
                </a:tc>
                <a:tc>
                  <a:txBody>
                    <a:bodyPr wrap="square"/>
                    <a:lstStyle/>
                    <a:p>
                      <a:r>
                        <a:rPr sz="2000" b="0" i="0">
                          <a:solidFill>
                            <a:srgbClr val="1E1E1E"/>
                          </a:solidFill>
                          <a:latin typeface="Times New Roman"/>
                        </a:rPr>
                        <a:t>PDF y Excel</a:t>
                      </a:r>
                    </a:p>
                  </a:txBody>
                  <a:tcPr marL="73152" marR="73152" marT="27432" marB="27432" anchor="ctr">
                    <a:solidFill>
                      <a:srgbClr val="FFFFFF"/>
                    </a:solidFill>
                  </a:tcPr>
                </a:tc>
                <a:tc>
                  <a:txBody>
                    <a:bodyPr wrap="square"/>
                    <a:lstStyle/>
                    <a:p>
                      <a:r>
                        <a:rPr sz="2000" b="0" i="0">
                          <a:solidFill>
                            <a:srgbClr val="2D7A2D"/>
                          </a:solidFill>
                          <a:latin typeface="Times New Roman"/>
                        </a:rPr>
                        <a:t>Implementado</a:t>
                      </a:r>
                    </a:p>
                  </a:txBody>
                  <a:tcPr marL="73152" marR="73152" marT="27432" marB="27432" anchor="ctr">
                    <a:solidFill>
                      <a:srgbClr val="FFFFFF"/>
                    </a:solidFill>
                  </a:tcPr>
                </a:tc>
              </a:tr>
              <a:tr h="573864">
                <a:tc>
                  <a:txBody>
                    <a:bodyPr wrap="square"/>
                    <a:lstStyle/>
                    <a:p>
                      <a:r>
                        <a:rPr sz="2000" b="0" i="0">
                          <a:solidFill>
                            <a:srgbClr val="1E1E1E"/>
                          </a:solidFill>
                          <a:latin typeface="Times New Roman"/>
                        </a:rPr>
                        <a:t>Chain of Responsibility</a:t>
                      </a:r>
                    </a:p>
                  </a:txBody>
                  <a:tcPr marL="73152" marR="73152" marT="27432" marB="27432" anchor="ctr">
                    <a:solidFill>
                      <a:srgbClr val="F2F6FC"/>
                    </a:solidFill>
                  </a:tcPr>
                </a:tc>
                <a:tc>
                  <a:txBody>
                    <a:bodyPr wrap="square"/>
                    <a:lstStyle/>
                    <a:p>
                      <a:r>
                        <a:rPr sz="2000" b="0" i="0">
                          <a:solidFill>
                            <a:srgbClr val="1E1E1E"/>
                          </a:solidFill>
                          <a:latin typeface="Times New Roman"/>
                        </a:rPr>
                        <a:t>RF-02, RF-03, RNF-01</a:t>
                      </a:r>
                    </a:p>
                  </a:txBody>
                  <a:tcPr marL="73152" marR="73152" marT="27432" marB="27432" anchor="ctr">
                    <a:solidFill>
                      <a:srgbClr val="F2F6FC"/>
                    </a:solidFill>
                  </a:tcPr>
                </a:tc>
                <a:tc>
                  <a:txBody>
                    <a:bodyPr wrap="square"/>
                    <a:lstStyle/>
                    <a:p>
                      <a:r>
                        <a:rPr sz="2000" b="0" i="0">
                          <a:solidFill>
                            <a:srgbClr val="1E1E1E"/>
                          </a:solidFill>
                          <a:latin typeface="Times New Roman"/>
                        </a:rPr>
                        <a:t>app.ts, authentication.ts</a:t>
                      </a:r>
                    </a:p>
                  </a:txBody>
                  <a:tcPr marL="73152" marR="73152" marT="27432" marB="27432" anchor="ctr">
                    <a:solidFill>
                      <a:srgbClr val="F2F6FC"/>
                    </a:solidFill>
                  </a:tcPr>
                </a:tc>
                <a:tc>
                  <a:txBody>
                    <a:bodyPr wrap="square"/>
                    <a:lstStyle/>
                    <a:p>
                      <a:r>
                        <a:rPr sz="2000" b="0" i="0">
                          <a:solidFill>
                            <a:srgbClr val="1E1E1E"/>
                          </a:solidFill>
                          <a:latin typeface="Times New Roman"/>
                        </a:rPr>
                        <a:t>Rechazo 401 / 403</a:t>
                      </a:r>
                    </a:p>
                  </a:txBody>
                  <a:tcPr marL="73152" marR="73152" marT="27432" marB="27432" anchor="ctr">
                    <a:solidFill>
                      <a:srgbClr val="F2F6FC"/>
                    </a:solidFill>
                  </a:tcPr>
                </a:tc>
                <a:tc>
                  <a:txBody>
                    <a:bodyPr wrap="square"/>
                    <a:lstStyle/>
                    <a:p>
                      <a:r>
                        <a:rPr sz="2000" b="0" i="0">
                          <a:solidFill>
                            <a:srgbClr val="2D7A2D"/>
                          </a:solidFill>
                          <a:latin typeface="Times New Roman"/>
                        </a:rPr>
                        <a:t>Implementado</a:t>
                      </a:r>
                    </a:p>
                  </a:txBody>
                  <a:tcPr marL="73152" marR="73152" marT="27432" marB="27432" anchor="ctr">
                    <a:solidFill>
                      <a:srgbClr val="F2F6FC"/>
                    </a:solidFill>
                  </a:tcPr>
                </a:tc>
              </a:tr>
            </a:tbl>
          </a:graphicData>
        </a:graphic>
      </p:graphicFrame>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7. Modelo C4: nivel 1 – Contexto</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20</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pic>
        <p:nvPicPr>
          <p:cNvPr id="40" name="Figura 11" descr="Figura_11_c4_contexto.png"/>
          <p:cNvPicPr>
            <a:picLocks noChangeAspect="1"/>
          </p:cNvPicPr>
          <p:nvPr/>
        </p:nvPicPr>
        <p:blipFill>
          <a:blip r:embed="rId2"/>
          <a:stretch>
            <a:fillRect/>
          </a:stretch>
        </p:blipFill>
        <p:spPr>
          <a:xfrm>
            <a:off x="1925235" y="2981259"/>
            <a:ext cx="7579528" cy="5719099"/>
          </a:xfrm>
          <a:prstGeom prst="rect">
            <a:avLst/>
          </a:prstGeom>
        </p:spPr>
      </p:pic>
      <p:sp>
        <p:nvSpPr>
          <p:cNvPr id="41" name="TextBox 40"/>
          <p:cNvSpPr txBox="1"/>
          <p:nvPr/>
        </p:nvSpPr>
        <p:spPr>
          <a:xfrm>
            <a:off x="685800" y="8746078"/>
            <a:ext cx="1005840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11. Vista de contexto (C4 – Nivel 1)</a:t>
            </a:r>
          </a:p>
        </p:txBody>
      </p:sp>
      <p:sp>
        <p:nvSpPr>
          <p:cNvPr id="42" name="Rounded Rectangle 41"/>
          <p:cNvSpPr/>
          <p:nvPr/>
        </p:nvSpPr>
        <p:spPr>
          <a:xfrm>
            <a:off x="11018520" y="3063240"/>
            <a:ext cx="6583680" cy="278734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201400" y="3186211"/>
            <a:ext cx="6217920" cy="2541401"/>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Elementos</a:t>
            </a:r>
          </a:p>
          <a:p>
            <a:pPr algn="l" marL="256032" indent="-219456">
              <a:spcAft>
                <a:spcPts val="500"/>
              </a:spcAft>
              <a:buChar char="•"/>
            </a:pPr>
            <a:r>
              <a:rPr sz="2200" b="1" i="0">
                <a:solidFill>
                  <a:srgbClr val="1E1E1E"/>
                </a:solidFill>
                <a:latin typeface="Times New Roman Bold"/>
              </a:rPr>
              <a:t>Personas:</a:t>
            </a:r>
            <a:r>
              <a:rPr sz="2200" b="0" i="0">
                <a:solidFill>
                  <a:srgbClr val="1E1E1E"/>
                </a:solidFill>
                <a:latin typeface="Times New Roman"/>
              </a:rPr>
              <a:t> Administrador y Mecánico.</a:t>
            </a:r>
          </a:p>
          <a:p>
            <a:pPr algn="l" marL="256032" indent="-219456">
              <a:spcAft>
                <a:spcPts val="500"/>
              </a:spcAft>
              <a:buChar char="•"/>
            </a:pPr>
            <a:r>
              <a:rPr sz="2200" b="1" i="0">
                <a:solidFill>
                  <a:srgbClr val="1E1E1E"/>
                </a:solidFill>
                <a:latin typeface="Times New Roman Bold"/>
              </a:rPr>
              <a:t>Externos:</a:t>
            </a:r>
            <a:r>
              <a:rPr sz="2200" b="0" i="0">
                <a:solidFill>
                  <a:srgbClr val="1E1E1E"/>
                </a:solidFill>
                <a:latin typeface="Times New Roman"/>
              </a:rPr>
              <a:t> Microsoft Entra ID y servicio de correo (pendiente).</a:t>
            </a:r>
          </a:p>
          <a:p>
            <a:pPr algn="l" marL="256032" indent="-219456">
              <a:spcAft>
                <a:spcPts val="500"/>
              </a:spcAft>
              <a:buChar char="•"/>
            </a:pPr>
            <a:r>
              <a:rPr sz="2200" b="1" i="0">
                <a:solidFill>
                  <a:srgbClr val="1E1E1E"/>
                </a:solidFill>
                <a:latin typeface="Times New Roman Bold"/>
              </a:rPr>
              <a:t>Proveedor:</a:t>
            </a:r>
            <a:r>
              <a:rPr sz="2200" b="0" i="0">
                <a:solidFill>
                  <a:srgbClr val="1E1E1E"/>
                </a:solidFill>
                <a:latin typeface="Times New Roman"/>
              </a:rPr>
              <a:t> recibe avisos; no tiene cuenta.</a:t>
            </a:r>
          </a:p>
          <a:p>
            <a:pPr algn="l" marL="256032" indent="-219456">
              <a:spcAft>
                <a:spcPts val="500"/>
              </a:spcAft>
              <a:buChar char="•"/>
            </a:pPr>
            <a:r>
              <a:rPr sz="2200" b="1" i="0">
                <a:solidFill>
                  <a:srgbClr val="1E1E1E"/>
                </a:solidFill>
                <a:latin typeface="Times New Roman Bold"/>
              </a:rPr>
              <a:t>Cliente del taller:</a:t>
            </a:r>
            <a:r>
              <a:rPr sz="2200" b="0" i="0">
                <a:solidFill>
                  <a:srgbClr val="1E1E1E"/>
                </a:solidFill>
                <a:latin typeface="Times New Roman"/>
              </a:rPr>
              <a:t> beneficio indirecto.</a:t>
            </a:r>
          </a:p>
        </p:txBody>
      </p:sp>
      <p:sp>
        <p:nvSpPr>
          <p:cNvPr id="44" name="Rounded Rectangle 43"/>
          <p:cNvSpPr/>
          <p:nvPr/>
        </p:nvSpPr>
        <p:spPr>
          <a:xfrm>
            <a:off x="11018520" y="6014544"/>
            <a:ext cx="6583680" cy="291031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201400" y="6137515"/>
            <a:ext cx="6217920" cy="2664372"/>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Decisiones que muestra</a:t>
            </a:r>
          </a:p>
          <a:p>
            <a:pPr algn="l" marL="256032" indent="-219456">
              <a:spcAft>
                <a:spcPts val="500"/>
              </a:spcAft>
              <a:buChar char="•"/>
            </a:pPr>
            <a:r>
              <a:rPr sz="2200" b="0" i="0">
                <a:solidFill>
                  <a:srgbClr val="1E1E1E"/>
                </a:solidFill>
                <a:latin typeface="Times New Roman"/>
              </a:rPr>
              <a:t>La identidad se delega a Entra ID: el sistema no administra contraseñas.</a:t>
            </a:r>
          </a:p>
          <a:p>
            <a:pPr algn="l" marL="256032" indent="-219456">
              <a:spcAft>
                <a:spcPts val="500"/>
              </a:spcAft>
              <a:buChar char="•"/>
            </a:pPr>
            <a:r>
              <a:rPr sz="2200" b="0" i="0">
                <a:solidFill>
                  <a:srgbClr val="1E1E1E"/>
                </a:solidFill>
                <a:latin typeface="Times New Roman"/>
              </a:rPr>
              <a:t>La relación con el proveedor es de salida: el aviso queda encolado de forma durable.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7. Modelo C4: nivel 2 – Contenedores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21</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pic>
        <p:nvPicPr>
          <p:cNvPr id="40" name="Figura 12" descr="Figura_12_c4_contenedores.png"/>
          <p:cNvPicPr>
            <a:picLocks noChangeAspect="1"/>
          </p:cNvPicPr>
          <p:nvPr/>
        </p:nvPicPr>
        <p:blipFill>
          <a:blip r:embed="rId2"/>
          <a:stretch>
            <a:fillRect/>
          </a:stretch>
        </p:blipFill>
        <p:spPr>
          <a:xfrm>
            <a:off x="1686228" y="2981259"/>
            <a:ext cx="8240422" cy="5719099"/>
          </a:xfrm>
          <a:prstGeom prst="rect">
            <a:avLst/>
          </a:prstGeom>
        </p:spPr>
      </p:pic>
      <p:sp>
        <p:nvSpPr>
          <p:cNvPr id="41" name="TextBox 40"/>
          <p:cNvSpPr txBox="1"/>
          <p:nvPr/>
        </p:nvSpPr>
        <p:spPr>
          <a:xfrm>
            <a:off x="685800" y="8746078"/>
            <a:ext cx="1024128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12. Vista de contenedores (C4 – Nivel 2)</a:t>
            </a:r>
          </a:p>
        </p:txBody>
      </p:sp>
      <p:graphicFrame>
        <p:nvGraphicFramePr>
          <p:cNvPr id="42" name="Table 41"/>
          <p:cNvGraphicFramePr>
            <a:graphicFrameLocks noGrp="1"/>
          </p:cNvGraphicFramePr>
          <p:nvPr/>
        </p:nvGraphicFramePr>
        <p:xfrm>
          <a:off x="11201400" y="3063240"/>
          <a:ext cx="6400800" cy="2951304"/>
        </p:xfrm>
        <a:graphic>
          <a:graphicData uri="http://schemas.openxmlformats.org/drawingml/2006/table">
            <a:tbl>
              <a:tblPr firstRow="1" bandRow="1">
                <a:tableStyleId>{5C22544A-7EE6-4342-B048-85BDC9FD1C3A}</a:tableStyleId>
              </a:tblPr>
              <a:tblGrid>
                <a:gridCol w="2377440"/>
                <a:gridCol w="4023360"/>
              </a:tblGrid>
              <a:tr h="491884">
                <a:tc>
                  <a:txBody>
                    <a:bodyPr wrap="square"/>
                    <a:lstStyle/>
                    <a:p>
                      <a:r>
                        <a:rPr sz="2100" b="1" i="0">
                          <a:solidFill>
                            <a:srgbClr val="FFFFFF"/>
                          </a:solidFill>
                          <a:latin typeface="Times New Roman Bold"/>
                        </a:rPr>
                        <a:t>Contenedor</a:t>
                      </a:r>
                    </a:p>
                  </a:txBody>
                  <a:tcPr marL="73152" marR="73152" marT="27432" marB="27432" anchor="ctr">
                    <a:solidFill>
                      <a:srgbClr val="4285F4"/>
                    </a:solidFill>
                  </a:tcPr>
                </a:tc>
                <a:tc>
                  <a:txBody>
                    <a:bodyPr wrap="square"/>
                    <a:lstStyle/>
                    <a:p>
                      <a:r>
                        <a:rPr sz="2100" b="1" i="0">
                          <a:solidFill>
                            <a:srgbClr val="FFFFFF"/>
                          </a:solidFill>
                          <a:latin typeface="Times New Roman Bold"/>
                        </a:rPr>
                        <a:t>Tecnología</a:t>
                      </a:r>
                    </a:p>
                  </a:txBody>
                  <a:tcPr marL="73152" marR="73152" marT="27432" marB="27432" anchor="ctr">
                    <a:solidFill>
                      <a:srgbClr val="4285F4"/>
                    </a:solidFill>
                  </a:tcPr>
                </a:tc>
              </a:tr>
              <a:tr h="491884">
                <a:tc>
                  <a:txBody>
                    <a:bodyPr wrap="square"/>
                    <a:lstStyle/>
                    <a:p>
                      <a:r>
                        <a:rPr sz="2000" b="0" i="0">
                          <a:solidFill>
                            <a:srgbClr val="1E1E1E"/>
                          </a:solidFill>
                          <a:latin typeface="Times New Roman"/>
                        </a:rPr>
                        <a:t>Aplicación web</a:t>
                      </a:r>
                    </a:p>
                  </a:txBody>
                  <a:tcPr marL="73152" marR="73152" marT="27432" marB="27432" anchor="ctr">
                    <a:solidFill>
                      <a:srgbClr val="F2F6FC"/>
                    </a:solidFill>
                  </a:tcPr>
                </a:tc>
                <a:tc>
                  <a:txBody>
                    <a:bodyPr wrap="square"/>
                    <a:lstStyle/>
                    <a:p>
                      <a:r>
                        <a:rPr sz="2000" b="0" i="0">
                          <a:solidFill>
                            <a:srgbClr val="1E1E1E"/>
                          </a:solidFill>
                          <a:latin typeface="Times New Roman"/>
                        </a:rPr>
                        <a:t>React 19 + Vite + MSAL</a:t>
                      </a:r>
                    </a:p>
                  </a:txBody>
                  <a:tcPr marL="73152" marR="73152" marT="27432" marB="27432" anchor="ctr">
                    <a:solidFill>
                      <a:srgbClr val="F2F6FC"/>
                    </a:solidFill>
                  </a:tcPr>
                </a:tc>
              </a:tr>
              <a:tr h="491884">
                <a:tc>
                  <a:txBody>
                    <a:bodyPr wrap="square"/>
                    <a:lstStyle/>
                    <a:p>
                      <a:r>
                        <a:rPr sz="2000" b="0" i="0">
                          <a:solidFill>
                            <a:srgbClr val="1E1E1E"/>
                          </a:solidFill>
                          <a:latin typeface="Times New Roman"/>
                        </a:rPr>
                        <a:t>API REST</a:t>
                      </a:r>
                    </a:p>
                  </a:txBody>
                  <a:tcPr marL="73152" marR="73152" marT="27432" marB="27432" anchor="ctr">
                    <a:solidFill>
                      <a:srgbClr val="FFFFFF"/>
                    </a:solidFill>
                  </a:tcPr>
                </a:tc>
                <a:tc>
                  <a:txBody>
                    <a:bodyPr wrap="square"/>
                    <a:lstStyle/>
                    <a:p>
                      <a:r>
                        <a:rPr sz="2000" b="0" i="0">
                          <a:solidFill>
                            <a:srgbClr val="1E1E1E"/>
                          </a:solidFill>
                          <a:latin typeface="Times New Roman"/>
                        </a:rPr>
                        <a:t>Node.js 24 + Express 5 + Zod</a:t>
                      </a:r>
                    </a:p>
                  </a:txBody>
                  <a:tcPr marL="73152" marR="73152" marT="27432" marB="27432" anchor="ctr">
                    <a:solidFill>
                      <a:srgbClr val="FFFFFF"/>
                    </a:solidFill>
                  </a:tcPr>
                </a:tc>
              </a:tr>
              <a:tr h="491884">
                <a:tc>
                  <a:txBody>
                    <a:bodyPr wrap="square"/>
                    <a:lstStyle/>
                    <a:p>
                      <a:r>
                        <a:rPr sz="2000" b="0" i="0">
                          <a:solidFill>
                            <a:srgbClr val="1E1E1E"/>
                          </a:solidFill>
                          <a:latin typeface="Times New Roman"/>
                        </a:rPr>
                        <a:t>Base de datos</a:t>
                      </a:r>
                    </a:p>
                  </a:txBody>
                  <a:tcPr marL="73152" marR="73152" marT="27432" marB="27432" anchor="ctr">
                    <a:solidFill>
                      <a:srgbClr val="F2F6FC"/>
                    </a:solidFill>
                  </a:tcPr>
                </a:tc>
                <a:tc>
                  <a:txBody>
                    <a:bodyPr wrap="square"/>
                    <a:lstStyle/>
                    <a:p>
                      <a:r>
                        <a:rPr sz="2000" b="0" i="0">
                          <a:solidFill>
                            <a:srgbClr val="1E1E1E"/>
                          </a:solidFill>
                          <a:latin typeface="Times New Roman"/>
                        </a:rPr>
                        <a:t>SQL Server / Azure SQL</a:t>
                      </a:r>
                    </a:p>
                  </a:txBody>
                  <a:tcPr marL="73152" marR="73152" marT="27432" marB="27432" anchor="ctr">
                    <a:solidFill>
                      <a:srgbClr val="F2F6FC"/>
                    </a:solidFill>
                  </a:tcPr>
                </a:tc>
              </a:tr>
              <a:tr h="491884">
                <a:tc>
                  <a:txBody>
                    <a:bodyPr wrap="square"/>
                    <a:lstStyle/>
                    <a:p>
                      <a:r>
                        <a:rPr sz="2000" b="0" i="0">
                          <a:solidFill>
                            <a:srgbClr val="1E1E1E"/>
                          </a:solidFill>
                          <a:latin typeface="Times New Roman"/>
                        </a:rPr>
                        <a:t>Adjuntos</a:t>
                      </a:r>
                    </a:p>
                  </a:txBody>
                  <a:tcPr marL="73152" marR="73152" marT="27432" marB="27432" anchor="ctr">
                    <a:solidFill>
                      <a:srgbClr val="FFFFFF"/>
                    </a:solidFill>
                  </a:tcPr>
                </a:tc>
                <a:tc>
                  <a:txBody>
                    <a:bodyPr wrap="square"/>
                    <a:lstStyle/>
                    <a:p>
                      <a:r>
                        <a:rPr sz="2000" b="0" i="0">
                          <a:solidFill>
                            <a:srgbClr val="1E1E1E"/>
                          </a:solidFill>
                          <a:latin typeface="Times New Roman"/>
                        </a:rPr>
                        <a:t>Archivos locales → Blob</a:t>
                      </a:r>
                    </a:p>
                  </a:txBody>
                  <a:tcPr marL="73152" marR="73152" marT="27432" marB="27432" anchor="ctr">
                    <a:solidFill>
                      <a:srgbClr val="FFFFFF"/>
                    </a:solidFill>
                  </a:tcPr>
                </a:tc>
              </a:tr>
              <a:tr h="491884">
                <a:tc>
                  <a:txBody>
                    <a:bodyPr wrap="square"/>
                    <a:lstStyle/>
                    <a:p>
                      <a:r>
                        <a:rPr sz="2000" b="0" i="0">
                          <a:solidFill>
                            <a:srgbClr val="1E1E1E"/>
                          </a:solidFill>
                          <a:latin typeface="Times New Roman"/>
                        </a:rPr>
                        <a:t>Worker</a:t>
                      </a:r>
                    </a:p>
                  </a:txBody>
                  <a:tcPr marL="73152" marR="73152" marT="27432" marB="27432" anchor="ctr">
                    <a:solidFill>
                      <a:srgbClr val="F2F6FC"/>
                    </a:solidFill>
                  </a:tcPr>
                </a:tc>
                <a:tc>
                  <a:txBody>
                    <a:bodyPr wrap="square"/>
                    <a:lstStyle/>
                    <a:p>
                      <a:r>
                        <a:rPr sz="2000" b="0" i="0">
                          <a:solidFill>
                            <a:srgbClr val="1E1E1E"/>
                          </a:solidFill>
                          <a:latin typeface="Times New Roman"/>
                        </a:rPr>
                        <a:t>Node.js, mismo código</a:t>
                      </a:r>
                    </a:p>
                  </a:txBody>
                  <a:tcPr marL="73152" marR="73152" marT="27432" marB="27432" anchor="ctr">
                    <a:solidFill>
                      <a:srgbClr val="F2F6FC"/>
                    </a:solidFill>
                  </a:tcPr>
                </a:tc>
              </a:tr>
            </a:tbl>
          </a:graphicData>
        </a:graphic>
      </p:graphicFrame>
      <p:sp>
        <p:nvSpPr>
          <p:cNvPr id="43" name="Rounded Rectangle 42"/>
          <p:cNvSpPr/>
          <p:nvPr/>
        </p:nvSpPr>
        <p:spPr>
          <a:xfrm>
            <a:off x="11201400" y="6219496"/>
            <a:ext cx="6400800" cy="270536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384280" y="6342467"/>
            <a:ext cx="6035040" cy="2459420"/>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Decisiones que muestra</a:t>
            </a:r>
          </a:p>
          <a:p>
            <a:pPr algn="l" marL="256032" indent="-219456">
              <a:spcAft>
                <a:spcPts val="500"/>
              </a:spcAft>
              <a:buChar char="•"/>
            </a:pPr>
            <a:r>
              <a:rPr sz="2200" b="0" i="0">
                <a:solidFill>
                  <a:srgbClr val="1E1E1E"/>
                </a:solidFill>
                <a:latin typeface="Times New Roman"/>
              </a:rPr>
              <a:t>Solo la API accede a la base de datos.</a:t>
            </a:r>
          </a:p>
          <a:p>
            <a:pPr algn="l" marL="256032" indent="-219456">
              <a:spcAft>
                <a:spcPts val="500"/>
              </a:spcAft>
              <a:buChar char="•"/>
            </a:pPr>
            <a:r>
              <a:rPr sz="2200" b="0" i="0">
                <a:solidFill>
                  <a:srgbClr val="1E1E1E"/>
                </a:solidFill>
                <a:latin typeface="Times New Roman"/>
              </a:rPr>
              <a:t>El envío de avisos está separado en el worker: si falla el correo, el movimiento no se revierte.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7. Modelo C4: nivel 3 – Componentes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22</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pic>
        <p:nvPicPr>
          <p:cNvPr id="40" name="Figura 13" descr="Figura_13_c4_componentes.png"/>
          <p:cNvPicPr>
            <a:picLocks noChangeAspect="1"/>
          </p:cNvPicPr>
          <p:nvPr/>
        </p:nvPicPr>
        <p:blipFill>
          <a:blip r:embed="rId2"/>
          <a:stretch>
            <a:fillRect/>
          </a:stretch>
        </p:blipFill>
        <p:spPr>
          <a:xfrm>
            <a:off x="2452605" y="2981259"/>
            <a:ext cx="6159029" cy="5719099"/>
          </a:xfrm>
          <a:prstGeom prst="rect">
            <a:avLst/>
          </a:prstGeom>
        </p:spPr>
      </p:pic>
      <p:sp>
        <p:nvSpPr>
          <p:cNvPr id="41" name="TextBox 40"/>
          <p:cNvSpPr txBox="1"/>
          <p:nvPr/>
        </p:nvSpPr>
        <p:spPr>
          <a:xfrm>
            <a:off x="685800" y="8746078"/>
            <a:ext cx="969264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13. Componentes de la API REST (C4 – Nivel 3)</a:t>
            </a:r>
          </a:p>
        </p:txBody>
      </p:sp>
      <p:sp>
        <p:nvSpPr>
          <p:cNvPr id="42" name="Rounded Rectangle 41"/>
          <p:cNvSpPr/>
          <p:nvPr/>
        </p:nvSpPr>
        <p:spPr>
          <a:xfrm>
            <a:off x="10652760" y="3063240"/>
            <a:ext cx="6949440" cy="1967536"/>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835640" y="3186211"/>
            <a:ext cx="6583679" cy="1721594"/>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Cadena de middlewares</a:t>
            </a:r>
          </a:p>
          <a:p>
            <a:pPr algn="l">
              <a:spcAft>
                <a:spcPts val="500"/>
              </a:spcAft>
            </a:pPr>
            <a:r>
              <a:rPr sz="2100" b="0" i="0">
                <a:solidFill>
                  <a:srgbClr val="1E1E1E"/>
                </a:solidFill>
                <a:latin typeface="Times New Roman"/>
              </a:rPr>
              <a:t>Contexto → seguridad HTTP → authenticate → resolveUser → requireRole → Zod → controlador → errorHandler.</a:t>
            </a:r>
          </a:p>
        </p:txBody>
      </p:sp>
      <p:sp>
        <p:nvSpPr>
          <p:cNvPr id="44" name="Rounded Rectangle 43"/>
          <p:cNvSpPr/>
          <p:nvPr/>
        </p:nvSpPr>
        <p:spPr>
          <a:xfrm>
            <a:off x="10652760" y="5153747"/>
            <a:ext cx="6949440" cy="2008526"/>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835640" y="5276718"/>
            <a:ext cx="6583679" cy="1762584"/>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Módulos de negocio</a:t>
            </a:r>
          </a:p>
          <a:p>
            <a:pPr algn="l">
              <a:spcAft>
                <a:spcPts val="500"/>
              </a:spcAft>
            </a:pPr>
            <a:r>
              <a:rPr sz="2100" b="0" i="0">
                <a:solidFill>
                  <a:srgbClr val="1E1E1E"/>
                </a:solidFill>
                <a:latin typeface="Times New Roman"/>
              </a:rPr>
              <a:t>Auth, Inventario, Lectura, Catálogo, Proveedores, Alertas, Notificaciones, Reportes, Facturas y Adjuntos.</a:t>
            </a:r>
          </a:p>
        </p:txBody>
      </p:sp>
      <p:sp>
        <p:nvSpPr>
          <p:cNvPr id="46" name="Rounded Rectangle 45"/>
          <p:cNvSpPr/>
          <p:nvPr/>
        </p:nvSpPr>
        <p:spPr>
          <a:xfrm>
            <a:off x="10652760" y="7285245"/>
            <a:ext cx="6949440" cy="172159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835640" y="7408216"/>
            <a:ext cx="6583679" cy="1475652"/>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Persistencia</a:t>
            </a:r>
          </a:p>
          <a:p>
            <a:pPr algn="l">
              <a:spcAft>
                <a:spcPts val="500"/>
              </a:spcAft>
            </a:pPr>
            <a:r>
              <a:rPr sz="2100" b="0" i="0">
                <a:solidFill>
                  <a:srgbClr val="1E1E1E"/>
                </a:solidFill>
                <a:latin typeface="Times New Roman"/>
              </a:rPr>
              <a:t>Repositorios SQL + Unit of Work, auditoría y SqlPoolSingleton.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7. Modelo C4: nivel 4 – Código</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23</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pic>
        <p:nvPicPr>
          <p:cNvPr id="40" name="Figura 14" descr="Figura_14_c4_clases.png"/>
          <p:cNvPicPr>
            <a:picLocks noChangeAspect="1"/>
          </p:cNvPicPr>
          <p:nvPr/>
        </p:nvPicPr>
        <p:blipFill>
          <a:blip r:embed="rId2"/>
          <a:stretch>
            <a:fillRect/>
          </a:stretch>
        </p:blipFill>
        <p:spPr>
          <a:xfrm>
            <a:off x="4063736" y="2981259"/>
            <a:ext cx="10160527" cy="5719099"/>
          </a:xfrm>
          <a:prstGeom prst="rect">
            <a:avLst/>
          </a:prstGeom>
        </p:spPr>
      </p:pic>
      <p:sp>
        <p:nvSpPr>
          <p:cNvPr id="41" name="TextBox 40"/>
          <p:cNvSpPr txBox="1"/>
          <p:nvPr/>
        </p:nvSpPr>
        <p:spPr>
          <a:xfrm>
            <a:off x="685800" y="8746078"/>
            <a:ext cx="1691640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14. Diagrama de clases de los patrones (C4 – Nivel 4)</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7. Vista de despliegue en Azure</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24</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pic>
        <p:nvPicPr>
          <p:cNvPr id="40" name="Figura 15" descr="Figura_15_despliegue_azure.png"/>
          <p:cNvPicPr>
            <a:picLocks noChangeAspect="1"/>
          </p:cNvPicPr>
          <p:nvPr/>
        </p:nvPicPr>
        <p:blipFill>
          <a:blip r:embed="rId2"/>
          <a:stretch>
            <a:fillRect/>
          </a:stretch>
        </p:blipFill>
        <p:spPr>
          <a:xfrm>
            <a:off x="1765772" y="2981259"/>
            <a:ext cx="8081335" cy="5719099"/>
          </a:xfrm>
          <a:prstGeom prst="rect">
            <a:avLst/>
          </a:prstGeom>
        </p:spPr>
      </p:pic>
      <p:sp>
        <p:nvSpPr>
          <p:cNvPr id="41" name="TextBox 40"/>
          <p:cNvSpPr txBox="1"/>
          <p:nvPr/>
        </p:nvSpPr>
        <p:spPr>
          <a:xfrm>
            <a:off x="685800" y="8746078"/>
            <a:ext cx="1024128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15. Vista de despliegue objetivo en Azure</a:t>
            </a:r>
          </a:p>
        </p:txBody>
      </p:sp>
      <p:sp>
        <p:nvSpPr>
          <p:cNvPr id="42" name="Rounded Rectangle 41"/>
          <p:cNvSpPr/>
          <p:nvPr/>
        </p:nvSpPr>
        <p:spPr>
          <a:xfrm>
            <a:off x="11201400" y="3063240"/>
            <a:ext cx="2057400" cy="1803575"/>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tat"/>
          <p:cNvSpPr txBox="1"/>
          <p:nvPr/>
        </p:nvSpPr>
        <p:spPr>
          <a:xfrm>
            <a:off x="11201400" y="3186211"/>
            <a:ext cx="2057400" cy="991966"/>
          </a:xfrm>
          <a:prstGeom prst="rect">
            <a:avLst/>
          </a:prstGeom>
          <a:noFill/>
        </p:spPr>
        <p:txBody>
          <a:bodyPr wrap="square" anchor="ctr" lIns="45720" rIns="45720">
            <a:spAutoFit/>
          </a:bodyPr>
          <a:lstStyle/>
          <a:p>
            <a:pPr algn="ctr">
              <a:spcAft>
                <a:spcPts val="0"/>
              </a:spcAft>
            </a:pPr>
            <a:r>
              <a:rPr sz="5300" b="0" i="0">
                <a:solidFill>
                  <a:srgbClr val="2D7A2D"/>
                </a:solidFill>
                <a:latin typeface="Times New Roman"/>
              </a:rPr>
              <a:t>1</a:t>
            </a:r>
          </a:p>
        </p:txBody>
      </p:sp>
      <p:sp>
        <p:nvSpPr>
          <p:cNvPr id="44" name="TextBox 43"/>
          <p:cNvSpPr txBox="1"/>
          <p:nvPr/>
        </p:nvSpPr>
        <p:spPr>
          <a:xfrm>
            <a:off x="11338560" y="4145385"/>
            <a:ext cx="1783080" cy="685358"/>
          </a:xfrm>
          <a:prstGeom prst="rect">
            <a:avLst/>
          </a:prstGeom>
          <a:noFill/>
        </p:spPr>
        <p:txBody>
          <a:bodyPr wrap="square" anchor="t" lIns="45720" rIns="45720">
            <a:spAutoFit/>
          </a:bodyPr>
          <a:lstStyle/>
          <a:p>
            <a:pPr algn="ctr">
              <a:spcAft>
                <a:spcPts val="0"/>
              </a:spcAft>
            </a:pPr>
            <a:r>
              <a:rPr sz="2000" b="0" i="0">
                <a:solidFill>
                  <a:srgbClr val="555555"/>
                </a:solidFill>
                <a:latin typeface="Times New Roman"/>
              </a:rPr>
              <a:t>creado</a:t>
            </a:r>
          </a:p>
        </p:txBody>
      </p:sp>
      <p:sp>
        <p:nvSpPr>
          <p:cNvPr id="45" name="Rounded Rectangle 44"/>
          <p:cNvSpPr/>
          <p:nvPr/>
        </p:nvSpPr>
        <p:spPr>
          <a:xfrm>
            <a:off x="13395960" y="3063240"/>
            <a:ext cx="2057400" cy="1803575"/>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tat"/>
          <p:cNvSpPr txBox="1"/>
          <p:nvPr/>
        </p:nvSpPr>
        <p:spPr>
          <a:xfrm>
            <a:off x="13395960" y="3186211"/>
            <a:ext cx="2057400" cy="991966"/>
          </a:xfrm>
          <a:prstGeom prst="rect">
            <a:avLst/>
          </a:prstGeom>
          <a:noFill/>
        </p:spPr>
        <p:txBody>
          <a:bodyPr wrap="square" anchor="ctr" lIns="45720" rIns="45720">
            <a:spAutoFit/>
          </a:bodyPr>
          <a:lstStyle/>
          <a:p>
            <a:pPr algn="ctr">
              <a:spcAft>
                <a:spcPts val="0"/>
              </a:spcAft>
            </a:pPr>
            <a:r>
              <a:rPr sz="5300" b="0" i="0">
                <a:solidFill>
                  <a:srgbClr val="B06A00"/>
                </a:solidFill>
                <a:latin typeface="Times New Roman"/>
              </a:rPr>
              <a:t>5</a:t>
            </a:r>
          </a:p>
        </p:txBody>
      </p:sp>
      <p:sp>
        <p:nvSpPr>
          <p:cNvPr id="47" name="TextBox 46"/>
          <p:cNvSpPr txBox="1"/>
          <p:nvPr/>
        </p:nvSpPr>
        <p:spPr>
          <a:xfrm>
            <a:off x="13533120" y="4145385"/>
            <a:ext cx="1783080" cy="685358"/>
          </a:xfrm>
          <a:prstGeom prst="rect">
            <a:avLst/>
          </a:prstGeom>
          <a:noFill/>
        </p:spPr>
        <p:txBody>
          <a:bodyPr wrap="square" anchor="t" lIns="45720" rIns="45720">
            <a:spAutoFit/>
          </a:bodyPr>
          <a:lstStyle/>
          <a:p>
            <a:pPr algn="ctr">
              <a:spcAft>
                <a:spcPts val="0"/>
              </a:spcAft>
            </a:pPr>
            <a:r>
              <a:rPr sz="2000" b="0" i="0">
                <a:solidFill>
                  <a:srgbClr val="555555"/>
                </a:solidFill>
                <a:latin typeface="Times New Roman"/>
              </a:rPr>
              <a:t>preparados</a:t>
            </a:r>
          </a:p>
        </p:txBody>
      </p:sp>
      <p:sp>
        <p:nvSpPr>
          <p:cNvPr id="48" name="Rounded Rectangle 47"/>
          <p:cNvSpPr/>
          <p:nvPr/>
        </p:nvSpPr>
        <p:spPr>
          <a:xfrm>
            <a:off x="15590520" y="3063240"/>
            <a:ext cx="2057400" cy="1803575"/>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tat"/>
          <p:cNvSpPr txBox="1"/>
          <p:nvPr/>
        </p:nvSpPr>
        <p:spPr>
          <a:xfrm>
            <a:off x="15590520" y="3186211"/>
            <a:ext cx="2057400" cy="991966"/>
          </a:xfrm>
          <a:prstGeom prst="rect">
            <a:avLst/>
          </a:prstGeom>
          <a:noFill/>
        </p:spPr>
        <p:txBody>
          <a:bodyPr wrap="square" anchor="ctr" lIns="45720" rIns="45720">
            <a:spAutoFit/>
          </a:bodyPr>
          <a:lstStyle/>
          <a:p>
            <a:pPr algn="ctr">
              <a:spcAft>
                <a:spcPts val="0"/>
              </a:spcAft>
            </a:pPr>
            <a:r>
              <a:rPr sz="5300" b="0" i="0">
                <a:solidFill>
                  <a:srgbClr val="555555"/>
                </a:solidFill>
                <a:latin typeface="Times New Roman"/>
              </a:rPr>
              <a:t>4</a:t>
            </a:r>
          </a:p>
        </p:txBody>
      </p:sp>
      <p:sp>
        <p:nvSpPr>
          <p:cNvPr id="50" name="TextBox 49"/>
          <p:cNvSpPr txBox="1"/>
          <p:nvPr/>
        </p:nvSpPr>
        <p:spPr>
          <a:xfrm>
            <a:off x="15727680" y="4145385"/>
            <a:ext cx="1783080" cy="685358"/>
          </a:xfrm>
          <a:prstGeom prst="rect">
            <a:avLst/>
          </a:prstGeom>
          <a:noFill/>
        </p:spPr>
        <p:txBody>
          <a:bodyPr wrap="square" anchor="t" lIns="45720" rIns="45720">
            <a:spAutoFit/>
          </a:bodyPr>
          <a:lstStyle/>
          <a:p>
            <a:pPr algn="ctr">
              <a:spcAft>
                <a:spcPts val="0"/>
              </a:spcAft>
            </a:pPr>
            <a:r>
              <a:rPr sz="2000" b="0" i="0">
                <a:solidFill>
                  <a:srgbClr val="555555"/>
                </a:solidFill>
                <a:latin typeface="Times New Roman"/>
              </a:rPr>
              <a:t>pendientes</a:t>
            </a:r>
          </a:p>
        </p:txBody>
      </p:sp>
      <p:sp>
        <p:nvSpPr>
          <p:cNvPr id="51" name="Rounded Rectangle 50"/>
          <p:cNvSpPr/>
          <p:nvPr/>
        </p:nvSpPr>
        <p:spPr>
          <a:xfrm>
            <a:off x="11201400" y="5030776"/>
            <a:ext cx="6400800" cy="397606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384280" y="5153747"/>
            <a:ext cx="6035040" cy="3730121"/>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Entrega de software</a:t>
            </a:r>
          </a:p>
          <a:p>
            <a:pPr algn="l" marL="256032" indent="-219456">
              <a:spcAft>
                <a:spcPts val="500"/>
              </a:spcAft>
              <a:buChar char="•"/>
            </a:pPr>
            <a:r>
              <a:rPr sz="2100" b="0" i="0">
                <a:solidFill>
                  <a:srgbClr val="1E1E1E"/>
                </a:solidFill>
                <a:latin typeface="Times New Roman"/>
              </a:rPr>
              <a:t>Pull Request: tipos, pruebas y compilación.</a:t>
            </a:r>
          </a:p>
          <a:p>
            <a:pPr algn="l" marL="256032" indent="-219456">
              <a:spcAft>
                <a:spcPts val="500"/>
              </a:spcAft>
              <a:buChar char="•"/>
            </a:pPr>
            <a:r>
              <a:rPr sz="2100" b="0" i="0">
                <a:solidFill>
                  <a:srgbClr val="1E1E1E"/>
                </a:solidFill>
                <a:latin typeface="Times New Roman"/>
              </a:rPr>
              <a:t>Imagen Docker sin secretos, etiquetada con el SHA.</a:t>
            </a:r>
          </a:p>
          <a:p>
            <a:pPr algn="l" marL="256032" indent="-219456">
              <a:spcAft>
                <a:spcPts val="500"/>
              </a:spcAft>
              <a:buChar char="•"/>
            </a:pPr>
            <a:r>
              <a:rPr sz="2100" b="0" i="0">
                <a:solidFill>
                  <a:srgbClr val="1E1E1E"/>
                </a:solidFill>
                <a:latin typeface="Times New Roman"/>
              </a:rPr>
              <a:t>Despliegue iniciado manualmente.</a:t>
            </a:r>
          </a:p>
          <a:p>
            <a:pPr algn="l" marL="256032" indent="-219456">
              <a:spcAft>
                <a:spcPts val="500"/>
              </a:spcAft>
              <a:buChar char="•"/>
            </a:pPr>
            <a:r>
              <a:rPr sz="2100" b="0" i="0">
                <a:solidFill>
                  <a:srgbClr val="1E1E1E"/>
                </a:solidFill>
                <a:latin typeface="Times New Roman"/>
              </a:rPr>
              <a:t>Migraciones con identidad distinta a la de ejecución.</a:t>
            </a:r>
          </a:p>
          <a:p>
            <a:pPr algn="l" marL="256032" indent="-219456">
              <a:spcAft>
                <a:spcPts val="500"/>
              </a:spcAft>
              <a:buChar char="•"/>
            </a:pPr>
            <a:r>
              <a:rPr sz="2100" b="0" i="0">
                <a:solidFill>
                  <a:srgbClr val="1E1E1E"/>
                </a:solidFill>
                <a:latin typeface="Times New Roman"/>
              </a:rPr>
              <a:t>GitHub Actions con OIDC; acceso a SQL con identidad administrada.</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7. Decisiones arquitectónicas (ADR)</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25</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graphicFrame>
        <p:nvGraphicFramePr>
          <p:cNvPr id="40" name="Table 39"/>
          <p:cNvGraphicFramePr>
            <a:graphicFrameLocks noGrp="1"/>
          </p:cNvGraphicFramePr>
          <p:nvPr/>
        </p:nvGraphicFramePr>
        <p:xfrm>
          <a:off x="685800" y="3145220"/>
          <a:ext cx="16916398" cy="5451712"/>
        </p:xfrm>
        <a:graphic>
          <a:graphicData uri="http://schemas.openxmlformats.org/drawingml/2006/table">
            <a:tbl>
              <a:tblPr firstRow="1" bandRow="1">
                <a:tableStyleId>{5C22544A-7EE6-4342-B048-85BDC9FD1C3A}</a:tableStyleId>
              </a:tblPr>
              <a:tblGrid>
                <a:gridCol w="895574"/>
                <a:gridCol w="4477870"/>
                <a:gridCol w="4577378"/>
                <a:gridCol w="6965576"/>
              </a:tblGrid>
              <a:tr h="778816">
                <a:tc>
                  <a:txBody>
                    <a:bodyPr wrap="square"/>
                    <a:lstStyle/>
                    <a:p>
                      <a:r>
                        <a:rPr sz="2200" b="1" i="0">
                          <a:solidFill>
                            <a:srgbClr val="FFFFFF"/>
                          </a:solidFill>
                          <a:latin typeface="Times New Roman Bold"/>
                        </a:rPr>
                        <a:t>ADR</a:t>
                      </a:r>
                    </a:p>
                  </a:txBody>
                  <a:tcPr marL="73152" marR="73152" marT="27432" marB="27432" anchor="ctr">
                    <a:solidFill>
                      <a:srgbClr val="4285F4"/>
                    </a:solidFill>
                  </a:tcPr>
                </a:tc>
                <a:tc>
                  <a:txBody>
                    <a:bodyPr wrap="square"/>
                    <a:lstStyle/>
                    <a:p>
                      <a:r>
                        <a:rPr sz="2200" b="1" i="0">
                          <a:solidFill>
                            <a:srgbClr val="FFFFFF"/>
                          </a:solidFill>
                          <a:latin typeface="Times New Roman Bold"/>
                        </a:rPr>
                        <a:t>Decisión</a:t>
                      </a:r>
                    </a:p>
                  </a:txBody>
                  <a:tcPr marL="73152" marR="73152" marT="27432" marB="27432" anchor="ctr">
                    <a:solidFill>
                      <a:srgbClr val="4285F4"/>
                    </a:solidFill>
                  </a:tcPr>
                </a:tc>
                <a:tc>
                  <a:txBody>
                    <a:bodyPr wrap="square"/>
                    <a:lstStyle/>
                    <a:p>
                      <a:r>
                        <a:rPr sz="2200" b="1" i="0">
                          <a:solidFill>
                            <a:srgbClr val="FFFFFF"/>
                          </a:solidFill>
                          <a:latin typeface="Times New Roman Bold"/>
                        </a:rPr>
                        <a:t>Alternativa descartada</a:t>
                      </a:r>
                    </a:p>
                  </a:txBody>
                  <a:tcPr marL="73152" marR="73152" marT="27432" marB="27432" anchor="ctr">
                    <a:solidFill>
                      <a:srgbClr val="4285F4"/>
                    </a:solidFill>
                  </a:tcPr>
                </a:tc>
                <a:tc>
                  <a:txBody>
                    <a:bodyPr wrap="square"/>
                    <a:lstStyle/>
                    <a:p>
                      <a:r>
                        <a:rPr sz="2200" b="1" i="0">
                          <a:solidFill>
                            <a:srgbClr val="FFFFFF"/>
                          </a:solidFill>
                          <a:latin typeface="Times New Roman Bold"/>
                        </a:rPr>
                        <a:t>Consecuencia</a:t>
                      </a:r>
                    </a:p>
                  </a:txBody>
                  <a:tcPr marL="73152" marR="73152" marT="27432" marB="27432" anchor="ctr">
                    <a:solidFill>
                      <a:srgbClr val="4285F4"/>
                    </a:solidFill>
                  </a:tcPr>
                </a:tc>
              </a:tr>
              <a:tr h="778816">
                <a:tc>
                  <a:txBody>
                    <a:bodyPr wrap="square"/>
                    <a:lstStyle/>
                    <a:p>
                      <a:r>
                        <a:rPr sz="2100" b="0" i="0">
                          <a:solidFill>
                            <a:srgbClr val="1E1E1E"/>
                          </a:solidFill>
                          <a:latin typeface="Times New Roman"/>
                        </a:rPr>
                        <a:t>01</a:t>
                      </a:r>
                    </a:p>
                  </a:txBody>
                  <a:tcPr marL="73152" marR="73152" marT="27432" marB="27432" anchor="ctr">
                    <a:solidFill>
                      <a:srgbClr val="F2F6FC"/>
                    </a:solidFill>
                  </a:tcPr>
                </a:tc>
                <a:tc>
                  <a:txBody>
                    <a:bodyPr wrap="square"/>
                    <a:lstStyle/>
                    <a:p>
                      <a:r>
                        <a:rPr sz="2100" b="0" i="0">
                          <a:solidFill>
                            <a:srgbClr val="1E1E1E"/>
                          </a:solidFill>
                          <a:latin typeface="Times New Roman"/>
                        </a:rPr>
                        <a:t>Monolito modular en capas</a:t>
                      </a:r>
                    </a:p>
                  </a:txBody>
                  <a:tcPr marL="73152" marR="73152" marT="27432" marB="27432" anchor="ctr">
                    <a:solidFill>
                      <a:srgbClr val="F2F6FC"/>
                    </a:solidFill>
                  </a:tcPr>
                </a:tc>
                <a:tc>
                  <a:txBody>
                    <a:bodyPr wrap="square"/>
                    <a:lstStyle/>
                    <a:p>
                      <a:r>
                        <a:rPr sz="2100" b="0" i="0">
                          <a:solidFill>
                            <a:srgbClr val="1E1E1E"/>
                          </a:solidFill>
                          <a:latin typeface="Times New Roman"/>
                        </a:rPr>
                        <a:t>Microservicios</a:t>
                      </a:r>
                    </a:p>
                  </a:txBody>
                  <a:tcPr marL="73152" marR="73152" marT="27432" marB="27432" anchor="ctr">
                    <a:solidFill>
                      <a:srgbClr val="F2F6FC"/>
                    </a:solidFill>
                  </a:tcPr>
                </a:tc>
                <a:tc>
                  <a:txBody>
                    <a:bodyPr wrap="square"/>
                    <a:lstStyle/>
                    <a:p>
                      <a:r>
                        <a:rPr sz="2100" b="0" i="0">
                          <a:solidFill>
                            <a:srgbClr val="1E1E1E"/>
                          </a:solidFill>
                          <a:latin typeface="Times New Roman"/>
                        </a:rPr>
                        <a:t>Un despliegue; módulos con dependencias claras</a:t>
                      </a:r>
                    </a:p>
                  </a:txBody>
                  <a:tcPr marL="73152" marR="73152" marT="27432" marB="27432" anchor="ctr">
                    <a:solidFill>
                      <a:srgbClr val="F2F6FC"/>
                    </a:solidFill>
                  </a:tcPr>
                </a:tc>
              </a:tr>
              <a:tr h="778816">
                <a:tc>
                  <a:txBody>
                    <a:bodyPr wrap="square"/>
                    <a:lstStyle/>
                    <a:p>
                      <a:r>
                        <a:rPr sz="2100" b="0" i="0">
                          <a:solidFill>
                            <a:srgbClr val="1E1E1E"/>
                          </a:solidFill>
                          <a:latin typeface="Times New Roman"/>
                        </a:rPr>
                        <a:t>02</a:t>
                      </a:r>
                    </a:p>
                  </a:txBody>
                  <a:tcPr marL="73152" marR="73152" marT="27432" marB="27432" anchor="ctr">
                    <a:solidFill>
                      <a:srgbClr val="FFFFFF"/>
                    </a:solidFill>
                  </a:tcPr>
                </a:tc>
                <a:tc>
                  <a:txBody>
                    <a:bodyPr wrap="square"/>
                    <a:lstStyle/>
                    <a:p>
                      <a:r>
                        <a:rPr sz="2100" b="0" i="0">
                          <a:solidFill>
                            <a:srgbClr val="1E1E1E"/>
                          </a:solidFill>
                          <a:latin typeface="Times New Roman"/>
                        </a:rPr>
                        <a:t>node-mssql con T-SQL explícito</a:t>
                      </a:r>
                    </a:p>
                  </a:txBody>
                  <a:tcPr marL="73152" marR="73152" marT="27432" marB="27432" anchor="ctr">
                    <a:solidFill>
                      <a:srgbClr val="FFFFFF"/>
                    </a:solidFill>
                  </a:tcPr>
                </a:tc>
                <a:tc>
                  <a:txBody>
                    <a:bodyPr wrap="square"/>
                    <a:lstStyle/>
                    <a:p>
                      <a:r>
                        <a:rPr sz="2100" b="0" i="0">
                          <a:solidFill>
                            <a:srgbClr val="1E1E1E"/>
                          </a:solidFill>
                          <a:latin typeface="Times New Roman"/>
                        </a:rPr>
                        <a:t>Prisma con SQLite / PostgreSQL</a:t>
                      </a:r>
                    </a:p>
                  </a:txBody>
                  <a:tcPr marL="73152" marR="73152" marT="27432" marB="27432" anchor="ctr">
                    <a:solidFill>
                      <a:srgbClr val="FFFFFF"/>
                    </a:solidFill>
                  </a:tcPr>
                </a:tc>
                <a:tc>
                  <a:txBody>
                    <a:bodyPr wrap="square"/>
                    <a:lstStyle/>
                    <a:p>
                      <a:r>
                        <a:rPr sz="2100" b="0" i="0">
                          <a:solidFill>
                            <a:srgbClr val="1E1E1E"/>
                          </a:solidFill>
                          <a:latin typeface="Times New Roman"/>
                        </a:rPr>
                        <a:t>Control de bloqueos y transacciones; más SQL que mantener</a:t>
                      </a:r>
                    </a:p>
                  </a:txBody>
                  <a:tcPr marL="73152" marR="73152" marT="27432" marB="27432" anchor="ctr">
                    <a:solidFill>
                      <a:srgbClr val="FFFFFF"/>
                    </a:solidFill>
                  </a:tcPr>
                </a:tc>
              </a:tr>
              <a:tr h="778816">
                <a:tc>
                  <a:txBody>
                    <a:bodyPr wrap="square"/>
                    <a:lstStyle/>
                    <a:p>
                      <a:r>
                        <a:rPr sz="2100" b="0" i="0">
                          <a:solidFill>
                            <a:srgbClr val="1E1E1E"/>
                          </a:solidFill>
                          <a:latin typeface="Times New Roman"/>
                        </a:rPr>
                        <a:t>03</a:t>
                      </a:r>
                    </a:p>
                  </a:txBody>
                  <a:tcPr marL="73152" marR="73152" marT="27432" marB="27432" anchor="ctr">
                    <a:solidFill>
                      <a:srgbClr val="F2F6FC"/>
                    </a:solidFill>
                  </a:tcPr>
                </a:tc>
                <a:tc>
                  <a:txBody>
                    <a:bodyPr wrap="square"/>
                    <a:lstStyle/>
                    <a:p>
                      <a:r>
                        <a:rPr sz="2100" b="0" i="0">
                          <a:solidFill>
                            <a:srgbClr val="1E1E1E"/>
                          </a:solidFill>
                          <a:latin typeface="Times New Roman"/>
                        </a:rPr>
                        <a:t>Identidad con Microsoft Entra ID</a:t>
                      </a:r>
                    </a:p>
                  </a:txBody>
                  <a:tcPr marL="73152" marR="73152" marT="27432" marB="27432" anchor="ctr">
                    <a:solidFill>
                      <a:srgbClr val="F2F6FC"/>
                    </a:solidFill>
                  </a:tcPr>
                </a:tc>
                <a:tc>
                  <a:txBody>
                    <a:bodyPr wrap="square"/>
                    <a:lstStyle/>
                    <a:p>
                      <a:r>
                        <a:rPr sz="2100" b="0" i="0">
                          <a:solidFill>
                            <a:srgbClr val="1E1E1E"/>
                          </a:solidFill>
                          <a:latin typeface="Times New Roman"/>
                        </a:rPr>
                        <a:t>Login propio con contraseñas y JWT</a:t>
                      </a:r>
                    </a:p>
                  </a:txBody>
                  <a:tcPr marL="73152" marR="73152" marT="27432" marB="27432" anchor="ctr">
                    <a:solidFill>
                      <a:srgbClr val="F2F6FC"/>
                    </a:solidFill>
                  </a:tcPr>
                </a:tc>
                <a:tc>
                  <a:txBody>
                    <a:bodyPr wrap="square"/>
                    <a:lstStyle/>
                    <a:p>
                      <a:r>
                        <a:rPr sz="2100" b="0" i="0">
                          <a:solidFill>
                            <a:srgbClr val="1E1E1E"/>
                          </a:solidFill>
                          <a:latin typeface="Times New Roman"/>
                        </a:rPr>
                        <a:t>Sin contraseñas; roles, MFA y PKCE</a:t>
                      </a:r>
                    </a:p>
                  </a:txBody>
                  <a:tcPr marL="73152" marR="73152" marT="27432" marB="27432" anchor="ctr">
                    <a:solidFill>
                      <a:srgbClr val="F2F6FC"/>
                    </a:solidFill>
                  </a:tcPr>
                </a:tc>
              </a:tr>
              <a:tr h="778816">
                <a:tc>
                  <a:txBody>
                    <a:bodyPr wrap="square"/>
                    <a:lstStyle/>
                    <a:p>
                      <a:r>
                        <a:rPr sz="2100" b="0" i="0">
                          <a:solidFill>
                            <a:srgbClr val="1E1E1E"/>
                          </a:solidFill>
                          <a:latin typeface="Times New Roman"/>
                        </a:rPr>
                        <a:t>04</a:t>
                      </a:r>
                    </a:p>
                  </a:txBody>
                  <a:tcPr marL="73152" marR="73152" marT="27432" marB="27432" anchor="ctr">
                    <a:solidFill>
                      <a:srgbClr val="FFFFFF"/>
                    </a:solidFill>
                  </a:tcPr>
                </a:tc>
                <a:tc>
                  <a:txBody>
                    <a:bodyPr wrap="square"/>
                    <a:lstStyle/>
                    <a:p>
                      <a:r>
                        <a:rPr sz="2100" b="0" i="0">
                          <a:solidFill>
                            <a:srgbClr val="1E1E1E"/>
                          </a:solidFill>
                          <a:latin typeface="Times New Roman"/>
                        </a:rPr>
                        <a:t>Transactional Outbox para avisos</a:t>
                      </a:r>
                    </a:p>
                  </a:txBody>
                  <a:tcPr marL="73152" marR="73152" marT="27432" marB="27432" anchor="ctr">
                    <a:solidFill>
                      <a:srgbClr val="FFFFFF"/>
                    </a:solidFill>
                  </a:tcPr>
                </a:tc>
                <a:tc>
                  <a:txBody>
                    <a:bodyPr wrap="square"/>
                    <a:lstStyle/>
                    <a:p>
                      <a:r>
                        <a:rPr sz="2100" b="0" i="0">
                          <a:solidFill>
                            <a:srgbClr val="1E1E1E"/>
                          </a:solidFill>
                          <a:latin typeface="Times New Roman"/>
                        </a:rPr>
                        <a:t>Enviar el correo en la petición</a:t>
                      </a:r>
                    </a:p>
                  </a:txBody>
                  <a:tcPr marL="73152" marR="73152" marT="27432" marB="27432" anchor="ctr">
                    <a:solidFill>
                      <a:srgbClr val="FFFFFF"/>
                    </a:solidFill>
                  </a:tcPr>
                </a:tc>
                <a:tc>
                  <a:txBody>
                    <a:bodyPr wrap="square"/>
                    <a:lstStyle/>
                    <a:p>
                      <a:r>
                        <a:rPr sz="2100" b="0" i="0">
                          <a:solidFill>
                            <a:srgbClr val="1E1E1E"/>
                          </a:solidFill>
                          <a:latin typeface="Times New Roman"/>
                        </a:rPr>
                        <a:t>Ningún aviso se pierde; no hay entrega exactamente una vez</a:t>
                      </a:r>
                    </a:p>
                  </a:txBody>
                  <a:tcPr marL="73152" marR="73152" marT="27432" marB="27432" anchor="ctr">
                    <a:solidFill>
                      <a:srgbClr val="FFFFFF"/>
                    </a:solidFill>
                  </a:tcPr>
                </a:tc>
              </a:tr>
              <a:tr h="778816">
                <a:tc>
                  <a:txBody>
                    <a:bodyPr wrap="square"/>
                    <a:lstStyle/>
                    <a:p>
                      <a:r>
                        <a:rPr sz="2100" b="0" i="0">
                          <a:solidFill>
                            <a:srgbClr val="1E1E1E"/>
                          </a:solidFill>
                          <a:latin typeface="Times New Roman"/>
                        </a:rPr>
                        <a:t>05</a:t>
                      </a:r>
                    </a:p>
                  </a:txBody>
                  <a:tcPr marL="73152" marR="73152" marT="27432" marB="27432" anchor="ctr">
                    <a:solidFill>
                      <a:srgbClr val="F2F6FC"/>
                    </a:solidFill>
                  </a:tcPr>
                </a:tc>
                <a:tc>
                  <a:txBody>
                    <a:bodyPr wrap="square"/>
                    <a:lstStyle/>
                    <a:p>
                      <a:r>
                        <a:rPr sz="2100" b="0" i="0">
                          <a:solidFill>
                            <a:srgbClr val="1E1E1E"/>
                          </a:solidFill>
                          <a:latin typeface="Times New Roman"/>
                        </a:rPr>
                        <a:t>Adjuntos privados tras un Adapter</a:t>
                      </a:r>
                    </a:p>
                  </a:txBody>
                  <a:tcPr marL="73152" marR="73152" marT="27432" marB="27432" anchor="ctr">
                    <a:solidFill>
                      <a:srgbClr val="F2F6FC"/>
                    </a:solidFill>
                  </a:tcPr>
                </a:tc>
                <a:tc>
                  <a:txBody>
                    <a:bodyPr wrap="square"/>
                    <a:lstStyle/>
                    <a:p>
                      <a:r>
                        <a:rPr sz="2100" b="0" i="0">
                          <a:solidFill>
                            <a:srgbClr val="1E1E1E"/>
                          </a:solidFill>
                          <a:latin typeface="Times New Roman"/>
                        </a:rPr>
                        <a:t>Archivos públicos</a:t>
                      </a:r>
                    </a:p>
                  </a:txBody>
                  <a:tcPr marL="73152" marR="73152" marT="27432" marB="27432" anchor="ctr">
                    <a:solidFill>
                      <a:srgbClr val="F2F6FC"/>
                    </a:solidFill>
                  </a:tcPr>
                </a:tc>
                <a:tc>
                  <a:txBody>
                    <a:bodyPr wrap="square"/>
                    <a:lstStyle/>
                    <a:p>
                      <a:r>
                        <a:rPr sz="2100" b="0" i="0">
                          <a:solidFill>
                            <a:srgbClr val="1E1E1E"/>
                          </a:solidFill>
                          <a:latin typeface="Times New Roman"/>
                        </a:rPr>
                        <a:t>Local en el demo; Blob privado como destino</a:t>
                      </a:r>
                    </a:p>
                  </a:txBody>
                  <a:tcPr marL="73152" marR="73152" marT="27432" marB="27432" anchor="ctr">
                    <a:solidFill>
                      <a:srgbClr val="F2F6FC"/>
                    </a:solidFill>
                  </a:tcPr>
                </a:tc>
              </a:tr>
              <a:tr h="778816">
                <a:tc>
                  <a:txBody>
                    <a:bodyPr wrap="square"/>
                    <a:lstStyle/>
                    <a:p>
                      <a:r>
                        <a:rPr sz="2100" b="0" i="0">
                          <a:solidFill>
                            <a:srgbClr val="1E1E1E"/>
                          </a:solidFill>
                          <a:latin typeface="Times New Roman"/>
                        </a:rPr>
                        <a:t>06</a:t>
                      </a:r>
                    </a:p>
                  </a:txBody>
                  <a:tcPr marL="73152" marR="73152" marT="27432" marB="27432" anchor="ctr">
                    <a:solidFill>
                      <a:srgbClr val="FFFFFF"/>
                    </a:solidFill>
                  </a:tcPr>
                </a:tc>
                <a:tc>
                  <a:txBody>
                    <a:bodyPr wrap="square"/>
                    <a:lstStyle/>
                    <a:p>
                      <a:r>
                        <a:rPr sz="2100" b="0" i="0">
                          <a:solidFill>
                            <a:srgbClr val="1E1E1E"/>
                          </a:solidFill>
                          <a:latin typeface="Times New Roman"/>
                        </a:rPr>
                        <a:t>Despliegue manual en Azure</a:t>
                      </a:r>
                    </a:p>
                  </a:txBody>
                  <a:tcPr marL="73152" marR="73152" marT="27432" marB="27432" anchor="ctr">
                    <a:solidFill>
                      <a:srgbClr val="FFFFFF"/>
                    </a:solidFill>
                  </a:tcPr>
                </a:tc>
                <a:tc>
                  <a:txBody>
                    <a:bodyPr wrap="square"/>
                    <a:lstStyle/>
                    <a:p>
                      <a:r>
                        <a:rPr sz="2100" b="0" i="0">
                          <a:solidFill>
                            <a:srgbClr val="1E1E1E"/>
                          </a:solidFill>
                          <a:latin typeface="Times New Roman"/>
                        </a:rPr>
                        <a:t>Despliegue automático</a:t>
                      </a:r>
                    </a:p>
                  </a:txBody>
                  <a:tcPr marL="73152" marR="73152" marT="27432" marB="27432" anchor="ctr">
                    <a:solidFill>
                      <a:srgbClr val="FFFFFF"/>
                    </a:solidFill>
                  </a:tcPr>
                </a:tc>
                <a:tc>
                  <a:txBody>
                    <a:bodyPr wrap="square"/>
                    <a:lstStyle/>
                    <a:p>
                      <a:r>
                        <a:rPr sz="2100" b="0" i="0">
                          <a:solidFill>
                            <a:srgbClr val="1E1E1E"/>
                          </a:solidFill>
                          <a:latin typeface="Times New Roman"/>
                        </a:rPr>
                        <a:t>Control de costos y aprendizaje del equipo</a:t>
                      </a:r>
                    </a:p>
                  </a:txBody>
                  <a:tcPr marL="73152" marR="73152" marT="27432" marB="27432" anchor="ctr">
                    <a:solidFill>
                      <a:srgbClr val="FFFFFF"/>
                    </a:solidFill>
                  </a:tcPr>
                </a:tc>
              </a:tr>
            </a:tbl>
          </a:graphicData>
        </a:graphic>
      </p:graphicFrame>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8. Base de datos: migraciones y modelo conceptual</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26</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graphicFrame>
        <p:nvGraphicFramePr>
          <p:cNvPr id="40" name="Table 39"/>
          <p:cNvGraphicFramePr>
            <a:graphicFrameLocks noGrp="1"/>
          </p:cNvGraphicFramePr>
          <p:nvPr/>
        </p:nvGraphicFramePr>
        <p:xfrm>
          <a:off x="685800" y="3063240"/>
          <a:ext cx="5852160" cy="4426956"/>
        </p:xfrm>
        <a:graphic>
          <a:graphicData uri="http://schemas.openxmlformats.org/drawingml/2006/table">
            <a:tbl>
              <a:tblPr firstRow="1" bandRow="1">
                <a:tableStyleId>{5C22544A-7EE6-4342-B048-85BDC9FD1C3A}</a:tableStyleId>
              </a:tblPr>
              <a:tblGrid>
                <a:gridCol w="1005840"/>
                <a:gridCol w="4846320"/>
              </a:tblGrid>
              <a:tr h="491884">
                <a:tc>
                  <a:txBody>
                    <a:bodyPr wrap="square"/>
                    <a:lstStyle/>
                    <a:p>
                      <a:r>
                        <a:rPr sz="2100" b="1" i="0">
                          <a:solidFill>
                            <a:srgbClr val="FFFFFF"/>
                          </a:solidFill>
                          <a:latin typeface="Times New Roman Bold"/>
                        </a:rPr>
                        <a:t>N.º</a:t>
                      </a:r>
                    </a:p>
                  </a:txBody>
                  <a:tcPr marL="73152" marR="73152" marT="27432" marB="27432" anchor="ctr">
                    <a:solidFill>
                      <a:srgbClr val="4285F4"/>
                    </a:solidFill>
                  </a:tcPr>
                </a:tc>
                <a:tc>
                  <a:txBody>
                    <a:bodyPr wrap="square"/>
                    <a:lstStyle/>
                    <a:p>
                      <a:r>
                        <a:rPr sz="2100" b="1" i="0">
                          <a:solidFill>
                            <a:srgbClr val="FFFFFF"/>
                          </a:solidFill>
                          <a:latin typeface="Times New Roman Bold"/>
                        </a:rPr>
                        <a:t>Contenido</a:t>
                      </a:r>
                    </a:p>
                  </a:txBody>
                  <a:tcPr marL="73152" marR="73152" marT="27432" marB="27432" anchor="ctr">
                    <a:solidFill>
                      <a:srgbClr val="4285F4"/>
                    </a:solidFill>
                  </a:tcPr>
                </a:tc>
              </a:tr>
              <a:tr h="491884">
                <a:tc>
                  <a:txBody>
                    <a:bodyPr wrap="square"/>
                    <a:lstStyle/>
                    <a:p>
                      <a:r>
                        <a:rPr sz="2000" b="0" i="0">
                          <a:solidFill>
                            <a:srgbClr val="1E1E1E"/>
                          </a:solidFill>
                          <a:latin typeface="Times New Roman"/>
                        </a:rPr>
                        <a:t>001</a:t>
                      </a:r>
                    </a:p>
                  </a:txBody>
                  <a:tcPr marL="73152" marR="73152" marT="27432" marB="27432" anchor="ctr">
                    <a:solidFill>
                      <a:srgbClr val="F2F6FC"/>
                    </a:solidFill>
                  </a:tcPr>
                </a:tc>
                <a:tc>
                  <a:txBody>
                    <a:bodyPr wrap="square"/>
                    <a:lstStyle/>
                    <a:p>
                      <a:r>
                        <a:rPr sz="2000" b="0" i="0">
                          <a:solidFill>
                            <a:srgbClr val="1E1E1E"/>
                          </a:solidFill>
                          <a:latin typeface="Times New Roman"/>
                        </a:rPr>
                        <a:t>usuario, categoria, producto, stock, movimiento</a:t>
                      </a:r>
                    </a:p>
                  </a:txBody>
                  <a:tcPr marL="73152" marR="73152" marT="27432" marB="27432" anchor="ctr">
                    <a:solidFill>
                      <a:srgbClr val="F2F6FC"/>
                    </a:solidFill>
                  </a:tcPr>
                </a:tc>
              </a:tr>
              <a:tr h="491884">
                <a:tc>
                  <a:txBody>
                    <a:bodyPr wrap="square"/>
                    <a:lstStyle/>
                    <a:p>
                      <a:r>
                        <a:rPr sz="2000" b="0" i="0">
                          <a:solidFill>
                            <a:srgbClr val="1E1E1E"/>
                          </a:solidFill>
                          <a:latin typeface="Times New Roman"/>
                        </a:rPr>
                        <a:t>002</a:t>
                      </a:r>
                    </a:p>
                  </a:txBody>
                  <a:tcPr marL="73152" marR="73152" marT="27432" marB="27432" anchor="ctr">
                    <a:solidFill>
                      <a:srgbClr val="FFFFFF"/>
                    </a:solidFill>
                  </a:tcPr>
                </a:tc>
                <a:tc>
                  <a:txBody>
                    <a:bodyPr wrap="square"/>
                    <a:lstStyle/>
                    <a:p>
                      <a:r>
                        <a:rPr sz="2000" b="0" i="0">
                          <a:solidFill>
                            <a:srgbClr val="1E1E1E"/>
                          </a:solidFill>
                          <a:latin typeface="Times New Roman"/>
                        </a:rPr>
                        <a:t>auditoria inmutable</a:t>
                      </a:r>
                    </a:p>
                  </a:txBody>
                  <a:tcPr marL="73152" marR="73152" marT="27432" marB="27432" anchor="ctr">
                    <a:solidFill>
                      <a:srgbClr val="FFFFFF"/>
                    </a:solidFill>
                  </a:tcPr>
                </a:tc>
              </a:tr>
              <a:tr h="491884">
                <a:tc>
                  <a:txBody>
                    <a:bodyPr wrap="square"/>
                    <a:lstStyle/>
                    <a:p>
                      <a:r>
                        <a:rPr sz="2000" b="0" i="0">
                          <a:solidFill>
                            <a:srgbClr val="1E1E1E"/>
                          </a:solidFill>
                          <a:latin typeface="Times New Roman"/>
                        </a:rPr>
                        <a:t>003</a:t>
                      </a:r>
                    </a:p>
                  </a:txBody>
                  <a:tcPr marL="73152" marR="73152" marT="27432" marB="27432" anchor="ctr">
                    <a:solidFill>
                      <a:srgbClr val="F2F6FC"/>
                    </a:solidFill>
                  </a:tcPr>
                </a:tc>
                <a:tc>
                  <a:txBody>
                    <a:bodyPr wrap="square"/>
                    <a:lstStyle/>
                    <a:p>
                      <a:r>
                        <a:rPr sz="2000" b="0" i="0">
                          <a:solidFill>
                            <a:srgbClr val="1E1E1E"/>
                          </a:solidFill>
                          <a:latin typeface="Times New Roman"/>
                        </a:rPr>
                        <a:t>alerta y notificacion_outbox</a:t>
                      </a:r>
                    </a:p>
                  </a:txBody>
                  <a:tcPr marL="73152" marR="73152" marT="27432" marB="27432" anchor="ctr">
                    <a:solidFill>
                      <a:srgbClr val="F2F6FC"/>
                    </a:solidFill>
                  </a:tcPr>
                </a:tc>
              </a:tr>
              <a:tr h="491884">
                <a:tc>
                  <a:txBody>
                    <a:bodyPr wrap="square"/>
                    <a:lstStyle/>
                    <a:p>
                      <a:r>
                        <a:rPr sz="2000" b="0" i="0">
                          <a:solidFill>
                            <a:srgbClr val="1E1E1E"/>
                          </a:solidFill>
                          <a:latin typeface="Times New Roman"/>
                        </a:rPr>
                        <a:t>004</a:t>
                      </a:r>
                    </a:p>
                  </a:txBody>
                  <a:tcPr marL="73152" marR="73152" marT="27432" marB="27432" anchor="ctr">
                    <a:solidFill>
                      <a:srgbClr val="FFFFFF"/>
                    </a:solidFill>
                  </a:tcPr>
                </a:tc>
                <a:tc>
                  <a:txBody>
                    <a:bodyPr wrap="square"/>
                    <a:lstStyle/>
                    <a:p>
                      <a:r>
                        <a:rPr sz="2000" b="0" i="0">
                          <a:solidFill>
                            <a:srgbClr val="1E1E1E"/>
                          </a:solidFill>
                          <a:latin typeface="Times New Roman"/>
                        </a:rPr>
                        <a:t>reservas e intentos del worker</a:t>
                      </a:r>
                    </a:p>
                  </a:txBody>
                  <a:tcPr marL="73152" marR="73152" marT="27432" marB="27432" anchor="ctr">
                    <a:solidFill>
                      <a:srgbClr val="FFFFFF"/>
                    </a:solidFill>
                  </a:tcPr>
                </a:tc>
              </a:tr>
              <a:tr h="491884">
                <a:tc>
                  <a:txBody>
                    <a:bodyPr wrap="square"/>
                    <a:lstStyle/>
                    <a:p>
                      <a:r>
                        <a:rPr sz="2000" b="0" i="0">
                          <a:solidFill>
                            <a:srgbClr val="1E1E1E"/>
                          </a:solidFill>
                          <a:latin typeface="Times New Roman"/>
                        </a:rPr>
                        <a:t>005</a:t>
                      </a:r>
                    </a:p>
                  </a:txBody>
                  <a:tcPr marL="73152" marR="73152" marT="27432" marB="27432" anchor="ctr">
                    <a:solidFill>
                      <a:srgbClr val="F2F6FC"/>
                    </a:solidFill>
                  </a:tcPr>
                </a:tc>
                <a:tc>
                  <a:txBody>
                    <a:bodyPr wrap="square"/>
                    <a:lstStyle/>
                    <a:p>
                      <a:r>
                        <a:rPr sz="2000" b="0" i="0">
                          <a:solidFill>
                            <a:srgbClr val="1E1E1E"/>
                          </a:solidFill>
                          <a:latin typeface="Times New Roman"/>
                        </a:rPr>
                        <a:t>ROWVERSION y alertas de catálogo</a:t>
                      </a:r>
                    </a:p>
                  </a:txBody>
                  <a:tcPr marL="73152" marR="73152" marT="27432" marB="27432" anchor="ctr">
                    <a:solidFill>
                      <a:srgbClr val="F2F6FC"/>
                    </a:solidFill>
                  </a:tcPr>
                </a:tc>
              </a:tr>
              <a:tr h="491884">
                <a:tc>
                  <a:txBody>
                    <a:bodyPr wrap="square"/>
                    <a:lstStyle/>
                    <a:p>
                      <a:r>
                        <a:rPr sz="2000" b="0" i="0">
                          <a:solidFill>
                            <a:srgbClr val="1E1E1E"/>
                          </a:solidFill>
                          <a:latin typeface="Times New Roman"/>
                        </a:rPr>
                        <a:t>006</a:t>
                      </a:r>
                    </a:p>
                  </a:txBody>
                  <a:tcPr marL="73152" marR="73152" marT="27432" marB="27432" anchor="ctr">
                    <a:solidFill>
                      <a:srgbClr val="FFFFFF"/>
                    </a:solidFill>
                  </a:tcPr>
                </a:tc>
                <a:tc>
                  <a:txBody>
                    <a:bodyPr wrap="square"/>
                    <a:lstStyle/>
                    <a:p>
                      <a:r>
                        <a:rPr sz="2000" b="0" i="0">
                          <a:solidFill>
                            <a:srgbClr val="1E1E1E"/>
                          </a:solidFill>
                          <a:latin typeface="Times New Roman"/>
                        </a:rPr>
                        <a:t>proveedor</a:t>
                      </a:r>
                    </a:p>
                  </a:txBody>
                  <a:tcPr marL="73152" marR="73152" marT="27432" marB="27432" anchor="ctr">
                    <a:solidFill>
                      <a:srgbClr val="FFFFFF"/>
                    </a:solidFill>
                  </a:tcPr>
                </a:tc>
              </a:tr>
              <a:tr h="491884">
                <a:tc>
                  <a:txBody>
                    <a:bodyPr wrap="square"/>
                    <a:lstStyle/>
                    <a:p>
                      <a:r>
                        <a:rPr sz="2000" b="0" i="0">
                          <a:solidFill>
                            <a:srgbClr val="1E1E1E"/>
                          </a:solidFill>
                          <a:latin typeface="Times New Roman"/>
                        </a:rPr>
                        <a:t>007</a:t>
                      </a:r>
                    </a:p>
                  </a:txBody>
                  <a:tcPr marL="73152" marR="73152" marT="27432" marB="27432" anchor="ctr">
                    <a:solidFill>
                      <a:srgbClr val="F2F6FC"/>
                    </a:solidFill>
                  </a:tcPr>
                </a:tc>
                <a:tc>
                  <a:txBody>
                    <a:bodyPr wrap="square"/>
                    <a:lstStyle/>
                    <a:p>
                      <a:r>
                        <a:rPr sz="2000" b="0" i="0">
                          <a:solidFill>
                            <a:srgbClr val="1E1E1E"/>
                          </a:solidFill>
                          <a:latin typeface="Times New Roman"/>
                        </a:rPr>
                        <a:t>factura_compra y sus líneas</a:t>
                      </a:r>
                    </a:p>
                  </a:txBody>
                  <a:tcPr marL="73152" marR="73152" marT="27432" marB="27432" anchor="ctr">
                    <a:solidFill>
                      <a:srgbClr val="F2F6FC"/>
                    </a:solidFill>
                  </a:tcPr>
                </a:tc>
              </a:tr>
              <a:tr h="491884">
                <a:tc>
                  <a:txBody>
                    <a:bodyPr wrap="square"/>
                    <a:lstStyle/>
                    <a:p>
                      <a:r>
                        <a:rPr sz="2000" b="0" i="0">
                          <a:solidFill>
                            <a:srgbClr val="1E1E1E"/>
                          </a:solidFill>
                          <a:latin typeface="Times New Roman"/>
                        </a:rPr>
                        <a:t>008</a:t>
                      </a:r>
                    </a:p>
                  </a:txBody>
                  <a:tcPr marL="73152" marR="73152" marT="27432" marB="27432" anchor="ctr">
                    <a:solidFill>
                      <a:srgbClr val="FFFFFF"/>
                    </a:solidFill>
                  </a:tcPr>
                </a:tc>
                <a:tc>
                  <a:txBody>
                    <a:bodyPr wrap="square"/>
                    <a:lstStyle/>
                    <a:p>
                      <a:r>
                        <a:rPr sz="2000" b="0" i="0">
                          <a:solidFill>
                            <a:srgbClr val="1E1E1E"/>
                          </a:solidFill>
                          <a:latin typeface="Times New Roman"/>
                        </a:rPr>
                        <a:t>factura_adjunto</a:t>
                      </a:r>
                    </a:p>
                  </a:txBody>
                  <a:tcPr marL="73152" marR="73152" marT="27432" marB="27432" anchor="ctr">
                    <a:solidFill>
                      <a:srgbClr val="FFFFFF"/>
                    </a:solidFill>
                  </a:tcPr>
                </a:tc>
              </a:tr>
            </a:tbl>
          </a:graphicData>
        </a:graphic>
      </p:graphicFrame>
      <p:sp>
        <p:nvSpPr>
          <p:cNvPr id="41" name="TextBox 40"/>
          <p:cNvSpPr txBox="1"/>
          <p:nvPr/>
        </p:nvSpPr>
        <p:spPr>
          <a:xfrm>
            <a:off x="685800" y="8146042"/>
            <a:ext cx="5852160" cy="1311691"/>
          </a:xfrm>
          <a:prstGeom prst="rect">
            <a:avLst/>
          </a:prstGeom>
          <a:noFill/>
        </p:spPr>
        <p:txBody>
          <a:bodyPr wrap="square" anchor="t" lIns="45720" rIns="45720">
            <a:spAutoFit/>
          </a:bodyPr>
          <a:lstStyle/>
          <a:p>
            <a:pPr algn="l">
              <a:spcAft>
                <a:spcPts val="600"/>
              </a:spcAft>
            </a:pPr>
            <a:r>
              <a:rPr sz="2100" b="0" i="0">
                <a:solidFill>
                  <a:srgbClr val="555555"/>
                </a:solidFill>
                <a:latin typeface="Times New Roman"/>
              </a:rPr>
              <a:t>Esquema </a:t>
            </a:r>
            <a:r>
              <a:rPr sz="2100" b="1" i="0">
                <a:solidFill>
                  <a:srgbClr val="555555"/>
                </a:solidFill>
                <a:latin typeface="Times New Roman Bold"/>
              </a:rPr>
              <a:t>jm</a:t>
            </a:r>
            <a:r>
              <a:rPr sz="2100" b="0" i="0">
                <a:solidFill>
                  <a:srgbClr val="555555"/>
                </a:solidFill>
                <a:latin typeface="Times New Roman"/>
              </a:rPr>
              <a:t> · registro de versiones en dbo.jm_schema_migrations · comando pnpm db:migrate</a:t>
            </a:r>
          </a:p>
        </p:txBody>
      </p:sp>
      <p:pic>
        <p:nvPicPr>
          <p:cNvPr id="42" name="Figura 16" descr="Figura_16_modelo_conceptual.png"/>
          <p:cNvPicPr>
            <a:picLocks noChangeAspect="1"/>
          </p:cNvPicPr>
          <p:nvPr/>
        </p:nvPicPr>
        <p:blipFill>
          <a:blip r:embed="rId2"/>
          <a:stretch>
            <a:fillRect/>
          </a:stretch>
        </p:blipFill>
        <p:spPr>
          <a:xfrm>
            <a:off x="8056281" y="2981259"/>
            <a:ext cx="8301917" cy="5719099"/>
          </a:xfrm>
          <a:prstGeom prst="rect">
            <a:avLst/>
          </a:prstGeom>
        </p:spPr>
      </p:pic>
      <p:sp>
        <p:nvSpPr>
          <p:cNvPr id="43" name="TextBox 42"/>
          <p:cNvSpPr txBox="1"/>
          <p:nvPr/>
        </p:nvSpPr>
        <p:spPr>
          <a:xfrm>
            <a:off x="6812280" y="8746078"/>
            <a:ext cx="1078992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16. Modelo conceptual (notación de Chen)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8. Base de datos: modelo lógico</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27</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pic>
        <p:nvPicPr>
          <p:cNvPr id="40" name="Figura 17" descr="Figura_17_modelo_logico.png"/>
          <p:cNvPicPr>
            <a:picLocks noChangeAspect="1"/>
          </p:cNvPicPr>
          <p:nvPr/>
        </p:nvPicPr>
        <p:blipFill>
          <a:blip r:embed="rId2"/>
          <a:stretch>
            <a:fillRect/>
          </a:stretch>
        </p:blipFill>
        <p:spPr>
          <a:xfrm>
            <a:off x="2268773" y="2981259"/>
            <a:ext cx="9087012" cy="5719099"/>
          </a:xfrm>
          <a:prstGeom prst="rect">
            <a:avLst/>
          </a:prstGeom>
        </p:spPr>
      </p:pic>
      <p:sp>
        <p:nvSpPr>
          <p:cNvPr id="41" name="TextBox 40"/>
          <p:cNvSpPr txBox="1"/>
          <p:nvPr/>
        </p:nvSpPr>
        <p:spPr>
          <a:xfrm>
            <a:off x="685800" y="8746078"/>
            <a:ext cx="1225296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17. Modelo lógico relacional</a:t>
            </a:r>
          </a:p>
        </p:txBody>
      </p:sp>
      <p:sp>
        <p:nvSpPr>
          <p:cNvPr id="42" name="Rounded Rectangle 41"/>
          <p:cNvSpPr/>
          <p:nvPr/>
        </p:nvSpPr>
        <p:spPr>
          <a:xfrm>
            <a:off x="13213080" y="3063240"/>
            <a:ext cx="4389120" cy="5943600"/>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3395959" y="3186211"/>
            <a:ext cx="4023359" cy="5697657"/>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Claves</a:t>
            </a:r>
          </a:p>
          <a:p>
            <a:pPr algn="l" marL="256032" indent="-219456">
              <a:spcAft>
                <a:spcPts val="500"/>
              </a:spcAft>
              <a:buChar char="•"/>
            </a:pPr>
            <a:r>
              <a:rPr sz="2100" b="1" i="0">
                <a:solidFill>
                  <a:srgbClr val="1E1E1E"/>
                </a:solidFill>
                <a:latin typeface="Times New Roman Bold"/>
              </a:rPr>
              <a:t>PK</a:t>
            </a:r>
            <a:r>
              <a:rPr sz="2100" b="0" i="0">
                <a:solidFill>
                  <a:srgbClr val="1E1E1E"/>
                </a:solidFill>
                <a:latin typeface="Times New Roman"/>
              </a:rPr>
              <a:t> compuesta en factura_compra_linea.</a:t>
            </a:r>
          </a:p>
          <a:p>
            <a:pPr algn="l" marL="256032" indent="-219456">
              <a:spcAft>
                <a:spcPts val="500"/>
              </a:spcAft>
              <a:buChar char="•"/>
            </a:pPr>
            <a:r>
              <a:rPr sz="2100" b="1" i="0">
                <a:solidFill>
                  <a:srgbClr val="1E1E1E"/>
                </a:solidFill>
                <a:latin typeface="Times New Roman Bold"/>
              </a:rPr>
              <a:t>1:1</a:t>
            </a:r>
            <a:r>
              <a:rPr sz="2100" b="0" i="0">
                <a:solidFill>
                  <a:srgbClr val="1E1E1E"/>
                </a:solidFill>
                <a:latin typeface="Times New Roman"/>
              </a:rPr>
              <a:t> producto–stock con producto_id como PK.</a:t>
            </a:r>
          </a:p>
          <a:p>
            <a:pPr algn="l" marL="256032" indent="-219456">
              <a:spcAft>
                <a:spcPts val="500"/>
              </a:spcAft>
              <a:buChar char="•"/>
            </a:pPr>
            <a:r>
              <a:rPr sz="2100" b="1" i="0">
                <a:solidFill>
                  <a:srgbClr val="1E1E1E"/>
                </a:solidFill>
                <a:latin typeface="Times New Roman Bold"/>
              </a:rPr>
              <a:t>UQ</a:t>
            </a:r>
            <a:r>
              <a:rPr sz="2100" b="0" i="0">
                <a:solidFill>
                  <a:srgbClr val="1E1E1E"/>
                </a:solidFill>
                <a:latin typeface="Times New Roman"/>
              </a:rPr>
              <a:t> filtrado: un movimiento origina una sola alerta.</a:t>
            </a:r>
          </a:p>
          <a:p>
            <a:pPr algn="l" marL="256032" indent="-219456">
              <a:spcAft>
                <a:spcPts val="500"/>
              </a:spcAft>
              <a:buChar char="•"/>
            </a:pPr>
            <a:r>
              <a:rPr sz="2100" b="1" i="0">
                <a:solidFill>
                  <a:srgbClr val="1E1E1E"/>
                </a:solidFill>
                <a:latin typeface="Times New Roman Bold"/>
              </a:rPr>
              <a:t>Sin borrado:</a:t>
            </a:r>
            <a:r>
              <a:rPr sz="2100" b="0" i="0">
                <a:solidFill>
                  <a:srgbClr val="1E1E1E"/>
                </a:solidFill>
                <a:latin typeface="Times New Roman"/>
              </a:rPr>
              <a:t> todas las FK en NO ACTION; se usa activo.</a:t>
            </a:r>
          </a:p>
          <a:p>
            <a:pPr algn="l" marL="256032" indent="-219456">
              <a:spcAft>
                <a:spcPts val="500"/>
              </a:spcAft>
              <a:buChar char="•"/>
            </a:pPr>
            <a:r>
              <a:rPr sz="2100" b="1" i="0">
                <a:solidFill>
                  <a:srgbClr val="1E1E1E"/>
                </a:solidFill>
                <a:latin typeface="Times New Roman Bold"/>
              </a:rPr>
              <a:t>3FN</a:t>
            </a:r>
            <a:r>
              <a:rPr sz="2100" b="0" i="0">
                <a:solidFill>
                  <a:srgbClr val="1E1E1E"/>
                </a:solidFill>
                <a:latin typeface="Times New Roman"/>
              </a:rPr>
              <a:t> con redundancias intencionales para la trazabilidad.</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8. Base de datos: modelo físico</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28</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pic>
        <p:nvPicPr>
          <p:cNvPr id="40" name="Figura 18" descr="Figura_18_modelo_fisico.png"/>
          <p:cNvPicPr>
            <a:picLocks noChangeAspect="1"/>
          </p:cNvPicPr>
          <p:nvPr/>
        </p:nvPicPr>
        <p:blipFill>
          <a:blip r:embed="rId2"/>
          <a:stretch>
            <a:fillRect/>
          </a:stretch>
        </p:blipFill>
        <p:spPr>
          <a:xfrm>
            <a:off x="4500771" y="2981259"/>
            <a:ext cx="9286457" cy="5719099"/>
          </a:xfrm>
          <a:prstGeom prst="rect">
            <a:avLst/>
          </a:prstGeom>
        </p:spPr>
      </p:pic>
      <p:sp>
        <p:nvSpPr>
          <p:cNvPr id="41" name="TextBox 40"/>
          <p:cNvSpPr txBox="1"/>
          <p:nvPr/>
        </p:nvSpPr>
        <p:spPr>
          <a:xfrm>
            <a:off x="685800" y="8746078"/>
            <a:ext cx="1691640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18. Modelo físico en SQL Server (esquema jm)</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8. Consistencia del stock y concurrencia</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29</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685800" y="3432153"/>
            <a:ext cx="2552700" cy="2131497"/>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687829" y="3186211"/>
            <a:ext cx="548640" cy="491884"/>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687829" y="3186211"/>
            <a:ext cx="548640" cy="491884"/>
          </a:xfrm>
          <a:prstGeom prst="rect">
            <a:avLst/>
          </a:prstGeom>
          <a:noFill/>
        </p:spPr>
        <p:txBody>
          <a:bodyPr wrap="square" anchor="ctr" lIns="45720" rIns="45720">
            <a:spAutoFit/>
          </a:bodyPr>
          <a:lstStyle/>
          <a:p>
            <a:pPr algn="ctr">
              <a:spcAft>
                <a:spcPts val="0"/>
              </a:spcAft>
            </a:pPr>
            <a:r>
              <a:rPr sz="2600" b="0" i="0">
                <a:solidFill>
                  <a:srgbClr val="FFFFFF"/>
                </a:solidFill>
                <a:latin typeface="Times New Roman"/>
              </a:rPr>
              <a:t>1</a:t>
            </a:r>
          </a:p>
        </p:txBody>
      </p:sp>
      <p:sp>
        <p:nvSpPr>
          <p:cNvPr id="43" name="TextBox 42"/>
          <p:cNvSpPr txBox="1"/>
          <p:nvPr/>
        </p:nvSpPr>
        <p:spPr>
          <a:xfrm>
            <a:off x="795528" y="3743679"/>
            <a:ext cx="2333244" cy="1762584"/>
          </a:xfrm>
          <a:prstGeom prst="rect">
            <a:avLst/>
          </a:prstGeom>
          <a:noFill/>
        </p:spPr>
        <p:txBody>
          <a:bodyPr wrap="square" anchor="t" lIns="45720" rIns="45720">
            <a:spAutoFit/>
          </a:bodyPr>
          <a:lstStyle/>
          <a:p>
            <a:pPr algn="ctr">
              <a:spcAft>
                <a:spcPts val="300"/>
              </a:spcAft>
            </a:pPr>
            <a:r>
              <a:rPr sz="2100" b="1" i="0">
                <a:solidFill>
                  <a:srgbClr val="1A56B0"/>
                </a:solidFill>
                <a:latin typeface="Times New Roman Bold"/>
              </a:rPr>
              <a:t>Transacción</a:t>
            </a:r>
          </a:p>
          <a:p>
            <a:pPr algn="ctr">
              <a:spcAft>
                <a:spcPts val="300"/>
              </a:spcAft>
            </a:pPr>
            <a:r>
              <a:rPr sz="2000" b="0" i="0">
                <a:solidFill>
                  <a:srgbClr val="1E1E1E"/>
                </a:solidFill>
                <a:latin typeface="Times New Roman"/>
              </a:rPr>
              <a:t>valida DTO y perfil activo</a:t>
            </a:r>
          </a:p>
        </p:txBody>
      </p:sp>
      <p:sp>
        <p:nvSpPr>
          <p:cNvPr id="44" name="Right Arrow 43"/>
          <p:cNvSpPr/>
          <p:nvPr/>
        </p:nvSpPr>
        <p:spPr>
          <a:xfrm>
            <a:off x="3275076" y="4374931"/>
            <a:ext cx="246887" cy="274320"/>
          </a:xfrm>
          <a:prstGeom prst="rightArrow">
            <a:avLst/>
          </a:prstGeom>
          <a:solidFill>
            <a:srgbClr val="1A56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3558540" y="3432153"/>
            <a:ext cx="2552700" cy="2131497"/>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4560570" y="3186211"/>
            <a:ext cx="548640" cy="491884"/>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60570" y="3186211"/>
            <a:ext cx="548640" cy="491884"/>
          </a:xfrm>
          <a:prstGeom prst="rect">
            <a:avLst/>
          </a:prstGeom>
          <a:noFill/>
        </p:spPr>
        <p:txBody>
          <a:bodyPr wrap="square" anchor="ctr" lIns="45720" rIns="45720">
            <a:spAutoFit/>
          </a:bodyPr>
          <a:lstStyle/>
          <a:p>
            <a:pPr algn="ctr">
              <a:spcAft>
                <a:spcPts val="0"/>
              </a:spcAft>
            </a:pPr>
            <a:r>
              <a:rPr sz="2600" b="0" i="0">
                <a:solidFill>
                  <a:srgbClr val="FFFFFF"/>
                </a:solidFill>
                <a:latin typeface="Times New Roman"/>
              </a:rPr>
              <a:t>2</a:t>
            </a:r>
          </a:p>
        </p:txBody>
      </p:sp>
      <p:sp>
        <p:nvSpPr>
          <p:cNvPr id="48" name="TextBox 47"/>
          <p:cNvSpPr txBox="1"/>
          <p:nvPr/>
        </p:nvSpPr>
        <p:spPr>
          <a:xfrm>
            <a:off x="3668268" y="3743679"/>
            <a:ext cx="2333244" cy="1762584"/>
          </a:xfrm>
          <a:prstGeom prst="rect">
            <a:avLst/>
          </a:prstGeom>
          <a:noFill/>
        </p:spPr>
        <p:txBody>
          <a:bodyPr wrap="square" anchor="t" lIns="45720" rIns="45720">
            <a:spAutoFit/>
          </a:bodyPr>
          <a:lstStyle/>
          <a:p>
            <a:pPr algn="ctr">
              <a:spcAft>
                <a:spcPts val="300"/>
              </a:spcAft>
            </a:pPr>
            <a:r>
              <a:rPr sz="2100" b="1" i="0">
                <a:solidFill>
                  <a:srgbClr val="1A56B0"/>
                </a:solidFill>
                <a:latin typeface="Times New Roman Bold"/>
              </a:rPr>
              <a:t>Idempotencia</a:t>
            </a:r>
          </a:p>
          <a:p>
            <a:pPr algn="ctr">
              <a:spcAft>
                <a:spcPts val="300"/>
              </a:spcAft>
            </a:pPr>
            <a:r>
              <a:rPr sz="2000" b="0" i="0">
                <a:solidFill>
                  <a:srgbClr val="1E1E1E"/>
                </a:solidFill>
                <a:latin typeface="Times New Roman"/>
              </a:rPr>
              <a:t>bloquea la clave del usuario</a:t>
            </a:r>
          </a:p>
        </p:txBody>
      </p:sp>
      <p:sp>
        <p:nvSpPr>
          <p:cNvPr id="49" name="Right Arrow 48"/>
          <p:cNvSpPr/>
          <p:nvPr/>
        </p:nvSpPr>
        <p:spPr>
          <a:xfrm>
            <a:off x="6147816" y="4374931"/>
            <a:ext cx="246887" cy="274320"/>
          </a:xfrm>
          <a:prstGeom prst="rightArrow">
            <a:avLst/>
          </a:prstGeom>
          <a:solidFill>
            <a:srgbClr val="1A56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431280" y="3432153"/>
            <a:ext cx="2552700" cy="2131497"/>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7433310" y="3186211"/>
            <a:ext cx="548640" cy="491884"/>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33310" y="3186211"/>
            <a:ext cx="548640" cy="491884"/>
          </a:xfrm>
          <a:prstGeom prst="rect">
            <a:avLst/>
          </a:prstGeom>
          <a:noFill/>
        </p:spPr>
        <p:txBody>
          <a:bodyPr wrap="square" anchor="ctr" lIns="45720" rIns="45720">
            <a:spAutoFit/>
          </a:bodyPr>
          <a:lstStyle/>
          <a:p>
            <a:pPr algn="ctr">
              <a:spcAft>
                <a:spcPts val="0"/>
              </a:spcAft>
            </a:pPr>
            <a:r>
              <a:rPr sz="2600" b="0" i="0">
                <a:solidFill>
                  <a:srgbClr val="FFFFFF"/>
                </a:solidFill>
                <a:latin typeface="Times New Roman"/>
              </a:rPr>
              <a:t>3</a:t>
            </a:r>
          </a:p>
        </p:txBody>
      </p:sp>
      <p:sp>
        <p:nvSpPr>
          <p:cNvPr id="53" name="TextBox 52"/>
          <p:cNvSpPr txBox="1"/>
          <p:nvPr/>
        </p:nvSpPr>
        <p:spPr>
          <a:xfrm>
            <a:off x="6541008" y="3743679"/>
            <a:ext cx="2333244" cy="1762584"/>
          </a:xfrm>
          <a:prstGeom prst="rect">
            <a:avLst/>
          </a:prstGeom>
          <a:noFill/>
        </p:spPr>
        <p:txBody>
          <a:bodyPr wrap="square" anchor="t" lIns="45720" rIns="45720">
            <a:spAutoFit/>
          </a:bodyPr>
          <a:lstStyle/>
          <a:p>
            <a:pPr algn="ctr">
              <a:spcAft>
                <a:spcPts val="300"/>
              </a:spcAft>
            </a:pPr>
            <a:r>
              <a:rPr sz="2100" b="1" i="0">
                <a:solidFill>
                  <a:srgbClr val="1A56B0"/>
                </a:solidFill>
                <a:latin typeface="Times New Roman Bold"/>
              </a:rPr>
              <a:t>Bloqueo</a:t>
            </a:r>
          </a:p>
          <a:p>
            <a:pPr algn="ctr">
              <a:spcAft>
                <a:spcPts val="300"/>
              </a:spcAft>
            </a:pPr>
            <a:r>
              <a:rPr sz="2000" b="0" i="0">
                <a:solidFill>
                  <a:srgbClr val="1E1E1E"/>
                </a:solidFill>
                <a:latin typeface="Times New Roman"/>
              </a:rPr>
              <a:t>lee stock con UPDLOCK + HOLDLOCK</a:t>
            </a:r>
          </a:p>
        </p:txBody>
      </p:sp>
      <p:sp>
        <p:nvSpPr>
          <p:cNvPr id="54" name="Right Arrow 53"/>
          <p:cNvSpPr/>
          <p:nvPr/>
        </p:nvSpPr>
        <p:spPr>
          <a:xfrm>
            <a:off x="9020555" y="4374931"/>
            <a:ext cx="246887" cy="274320"/>
          </a:xfrm>
          <a:prstGeom prst="rightArrow">
            <a:avLst/>
          </a:prstGeom>
          <a:solidFill>
            <a:srgbClr val="1A56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9304020" y="3432153"/>
            <a:ext cx="2552700" cy="2131497"/>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10306050" y="3186211"/>
            <a:ext cx="548640" cy="491884"/>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306050" y="3186211"/>
            <a:ext cx="548640" cy="491884"/>
          </a:xfrm>
          <a:prstGeom prst="rect">
            <a:avLst/>
          </a:prstGeom>
          <a:noFill/>
        </p:spPr>
        <p:txBody>
          <a:bodyPr wrap="square" anchor="ctr" lIns="45720" rIns="45720">
            <a:spAutoFit/>
          </a:bodyPr>
          <a:lstStyle/>
          <a:p>
            <a:pPr algn="ctr">
              <a:spcAft>
                <a:spcPts val="0"/>
              </a:spcAft>
            </a:pPr>
            <a:r>
              <a:rPr sz="2600" b="0" i="0">
                <a:solidFill>
                  <a:srgbClr val="FFFFFF"/>
                </a:solidFill>
                <a:latin typeface="Times New Roman"/>
              </a:rPr>
              <a:t>4</a:t>
            </a:r>
          </a:p>
        </p:txBody>
      </p:sp>
      <p:sp>
        <p:nvSpPr>
          <p:cNvPr id="58" name="TextBox 57"/>
          <p:cNvSpPr txBox="1"/>
          <p:nvPr/>
        </p:nvSpPr>
        <p:spPr>
          <a:xfrm>
            <a:off x="9413748" y="3743679"/>
            <a:ext cx="2333244" cy="1762584"/>
          </a:xfrm>
          <a:prstGeom prst="rect">
            <a:avLst/>
          </a:prstGeom>
          <a:noFill/>
        </p:spPr>
        <p:txBody>
          <a:bodyPr wrap="square" anchor="t" lIns="45720" rIns="45720">
            <a:spAutoFit/>
          </a:bodyPr>
          <a:lstStyle/>
          <a:p>
            <a:pPr algn="ctr">
              <a:spcAft>
                <a:spcPts val="300"/>
              </a:spcAft>
            </a:pPr>
            <a:r>
              <a:rPr sz="2100" b="1" i="0">
                <a:solidFill>
                  <a:srgbClr val="1A56B0"/>
                </a:solidFill>
                <a:latin typeface="Times New Roman Bold"/>
              </a:rPr>
              <a:t>Saldo</a:t>
            </a:r>
          </a:p>
          <a:p>
            <a:pPr algn="ctr">
              <a:spcAft>
                <a:spcPts val="300"/>
              </a:spcAft>
            </a:pPr>
            <a:r>
              <a:rPr sz="2000" b="0" i="0">
                <a:solidFill>
                  <a:srgbClr val="1E1E1E"/>
                </a:solidFill>
                <a:latin typeface="Times New Roman"/>
              </a:rPr>
              <a:t>reglas puras del dominio</a:t>
            </a:r>
          </a:p>
        </p:txBody>
      </p:sp>
      <p:sp>
        <p:nvSpPr>
          <p:cNvPr id="59" name="Right Arrow 58"/>
          <p:cNvSpPr/>
          <p:nvPr/>
        </p:nvSpPr>
        <p:spPr>
          <a:xfrm>
            <a:off x="11893296" y="4374931"/>
            <a:ext cx="246887" cy="274320"/>
          </a:xfrm>
          <a:prstGeom prst="rightArrow">
            <a:avLst/>
          </a:prstGeom>
          <a:solidFill>
            <a:srgbClr val="1A56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12176760" y="3432153"/>
            <a:ext cx="2552700" cy="2131497"/>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3178790" y="3186211"/>
            <a:ext cx="548640" cy="491884"/>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3178790" y="3186211"/>
            <a:ext cx="548640" cy="491884"/>
          </a:xfrm>
          <a:prstGeom prst="rect">
            <a:avLst/>
          </a:prstGeom>
          <a:noFill/>
        </p:spPr>
        <p:txBody>
          <a:bodyPr wrap="square" anchor="ctr" lIns="45720" rIns="45720">
            <a:spAutoFit/>
          </a:bodyPr>
          <a:lstStyle/>
          <a:p>
            <a:pPr algn="ctr">
              <a:spcAft>
                <a:spcPts val="0"/>
              </a:spcAft>
            </a:pPr>
            <a:r>
              <a:rPr sz="2600" b="0" i="0">
                <a:solidFill>
                  <a:srgbClr val="FFFFFF"/>
                </a:solidFill>
                <a:latin typeface="Times New Roman"/>
              </a:rPr>
              <a:t>5</a:t>
            </a:r>
          </a:p>
        </p:txBody>
      </p:sp>
      <p:sp>
        <p:nvSpPr>
          <p:cNvPr id="63" name="TextBox 62"/>
          <p:cNvSpPr txBox="1"/>
          <p:nvPr/>
        </p:nvSpPr>
        <p:spPr>
          <a:xfrm>
            <a:off x="12286488" y="3743679"/>
            <a:ext cx="2333244" cy="1762584"/>
          </a:xfrm>
          <a:prstGeom prst="rect">
            <a:avLst/>
          </a:prstGeom>
          <a:noFill/>
        </p:spPr>
        <p:txBody>
          <a:bodyPr wrap="square" anchor="t" lIns="45720" rIns="45720">
            <a:spAutoFit/>
          </a:bodyPr>
          <a:lstStyle/>
          <a:p>
            <a:pPr algn="ctr">
              <a:spcAft>
                <a:spcPts val="300"/>
              </a:spcAft>
            </a:pPr>
            <a:r>
              <a:rPr sz="2100" b="1" i="0">
                <a:solidFill>
                  <a:srgbClr val="1A56B0"/>
                </a:solidFill>
                <a:latin typeface="Times New Roman Bold"/>
              </a:rPr>
              <a:t>Movimiento</a:t>
            </a:r>
          </a:p>
          <a:p>
            <a:pPr algn="ctr">
              <a:spcAft>
                <a:spcPts val="300"/>
              </a:spcAft>
            </a:pPr>
            <a:r>
              <a:rPr sz="2000" b="0" i="0">
                <a:solidFill>
                  <a:srgbClr val="1E1E1E"/>
                </a:solidFill>
                <a:latin typeface="Times New Roman"/>
              </a:rPr>
              <a:t>actualiza stock y guarda historial</a:t>
            </a:r>
          </a:p>
        </p:txBody>
      </p:sp>
      <p:sp>
        <p:nvSpPr>
          <p:cNvPr id="64" name="Right Arrow 63"/>
          <p:cNvSpPr/>
          <p:nvPr/>
        </p:nvSpPr>
        <p:spPr>
          <a:xfrm>
            <a:off x="14766036" y="4374931"/>
            <a:ext cx="246887" cy="274320"/>
          </a:xfrm>
          <a:prstGeom prst="rightArrow">
            <a:avLst/>
          </a:prstGeom>
          <a:solidFill>
            <a:srgbClr val="1A56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15049499" y="3432153"/>
            <a:ext cx="2552700" cy="2131497"/>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16051529" y="3186211"/>
            <a:ext cx="548640" cy="491884"/>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6051529" y="3186211"/>
            <a:ext cx="548640" cy="491884"/>
          </a:xfrm>
          <a:prstGeom prst="rect">
            <a:avLst/>
          </a:prstGeom>
          <a:noFill/>
        </p:spPr>
        <p:txBody>
          <a:bodyPr wrap="square" anchor="ctr" lIns="45720" rIns="45720">
            <a:spAutoFit/>
          </a:bodyPr>
          <a:lstStyle/>
          <a:p>
            <a:pPr algn="ctr">
              <a:spcAft>
                <a:spcPts val="0"/>
              </a:spcAft>
            </a:pPr>
            <a:r>
              <a:rPr sz="2600" b="0" i="0">
                <a:solidFill>
                  <a:srgbClr val="FFFFFF"/>
                </a:solidFill>
                <a:latin typeface="Times New Roman"/>
              </a:rPr>
              <a:t>6</a:t>
            </a:r>
          </a:p>
        </p:txBody>
      </p:sp>
      <p:sp>
        <p:nvSpPr>
          <p:cNvPr id="68" name="TextBox 67"/>
          <p:cNvSpPr txBox="1"/>
          <p:nvPr/>
        </p:nvSpPr>
        <p:spPr>
          <a:xfrm>
            <a:off x="15159228" y="3743679"/>
            <a:ext cx="2333244" cy="1762584"/>
          </a:xfrm>
          <a:prstGeom prst="rect">
            <a:avLst/>
          </a:prstGeom>
          <a:noFill/>
        </p:spPr>
        <p:txBody>
          <a:bodyPr wrap="square" anchor="t" lIns="45720" rIns="45720">
            <a:spAutoFit/>
          </a:bodyPr>
          <a:lstStyle/>
          <a:p>
            <a:pPr algn="ctr">
              <a:spcAft>
                <a:spcPts val="300"/>
              </a:spcAft>
            </a:pPr>
            <a:r>
              <a:rPr sz="2100" b="1" i="0">
                <a:solidFill>
                  <a:srgbClr val="1A56B0"/>
                </a:solidFill>
                <a:latin typeface="Times New Roman Bold"/>
              </a:rPr>
              <a:t>Observer + commit</a:t>
            </a:r>
          </a:p>
          <a:p>
            <a:pPr algn="ctr">
              <a:spcAft>
                <a:spcPts val="300"/>
              </a:spcAft>
            </a:pPr>
            <a:r>
              <a:rPr sz="2000" b="0" i="0">
                <a:solidFill>
                  <a:srgbClr val="1E1E1E"/>
                </a:solidFill>
                <a:latin typeface="Times New Roman"/>
              </a:rPr>
              <a:t>alerta y Outbox, luego commit</a:t>
            </a:r>
          </a:p>
        </p:txBody>
      </p:sp>
      <p:sp>
        <p:nvSpPr>
          <p:cNvPr id="69" name="Rounded Rectangle 68"/>
          <p:cNvSpPr/>
          <p:nvPr/>
        </p:nvSpPr>
        <p:spPr>
          <a:xfrm>
            <a:off x="685800" y="5850583"/>
            <a:ext cx="8229600" cy="3156256"/>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68680" y="5973554"/>
            <a:ext cx="7863840" cy="2910314"/>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Ejemplo: dos salidas a la vez</a:t>
            </a:r>
          </a:p>
          <a:p>
            <a:pPr algn="l" marL="256032" indent="-219456">
              <a:spcAft>
                <a:spcPts val="500"/>
              </a:spcAft>
              <a:buChar char="•"/>
            </a:pPr>
            <a:r>
              <a:rPr sz="2200" b="0" i="0">
                <a:solidFill>
                  <a:srgbClr val="1E1E1E"/>
                </a:solidFill>
                <a:latin typeface="Times New Roman"/>
              </a:rPr>
              <a:t>Stock 3; dos mecánicos piden 2 unidades al mismo tiempo.</a:t>
            </a:r>
          </a:p>
          <a:p>
            <a:pPr algn="l" marL="256032" indent="-219456">
              <a:spcAft>
                <a:spcPts val="500"/>
              </a:spcAft>
              <a:buChar char="•"/>
            </a:pPr>
            <a:r>
              <a:rPr sz="2200" b="0" i="0">
                <a:solidFill>
                  <a:srgbClr val="1E1E1E"/>
                </a:solidFill>
                <a:latin typeface="Times New Roman"/>
              </a:rPr>
              <a:t>El bloqueo por producto los atiende en orden.</a:t>
            </a:r>
          </a:p>
          <a:p>
            <a:pPr algn="l" marL="256032" indent="-219456">
              <a:spcAft>
                <a:spcPts val="500"/>
              </a:spcAft>
              <a:buChar char="•"/>
            </a:pPr>
            <a:r>
              <a:rPr sz="2200" b="0" i="0">
                <a:solidFill>
                  <a:srgbClr val="1E1E1E"/>
                </a:solidFill>
                <a:latin typeface="Times New Roman"/>
              </a:rPr>
              <a:t>Se confirma una salida (saldo 1) y la otra se rechaza por stock insuficiente.</a:t>
            </a:r>
          </a:p>
          <a:p>
            <a:pPr algn="l" marL="256032" indent="-219456">
              <a:spcAft>
                <a:spcPts val="500"/>
              </a:spcAft>
              <a:buChar char="•"/>
            </a:pPr>
            <a:r>
              <a:rPr sz="2200" b="0" i="0">
                <a:solidFill>
                  <a:srgbClr val="1E1E1E"/>
                </a:solidFill>
                <a:latin typeface="Times New Roman"/>
              </a:rPr>
              <a:t>Doble clic con la misma clave: un único movimiento.</a:t>
            </a:r>
          </a:p>
        </p:txBody>
      </p:sp>
      <p:graphicFrame>
        <p:nvGraphicFramePr>
          <p:cNvPr id="71" name="Table 70"/>
          <p:cNvGraphicFramePr>
            <a:graphicFrameLocks noGrp="1"/>
          </p:cNvGraphicFramePr>
          <p:nvPr/>
        </p:nvGraphicFramePr>
        <p:xfrm>
          <a:off x="9144000" y="5850583"/>
          <a:ext cx="8458200" cy="3148056"/>
        </p:xfrm>
        <a:graphic>
          <a:graphicData uri="http://schemas.openxmlformats.org/drawingml/2006/table">
            <a:tbl>
              <a:tblPr firstRow="1" bandRow="1">
                <a:tableStyleId>{5C22544A-7EE6-4342-B048-85BDC9FD1C3A}</a:tableStyleId>
              </a:tblPr>
              <a:tblGrid>
                <a:gridCol w="4572000"/>
                <a:gridCol w="3886200"/>
              </a:tblGrid>
              <a:tr h="524676">
                <a:tc>
                  <a:txBody>
                    <a:bodyPr wrap="square"/>
                    <a:lstStyle/>
                    <a:p>
                      <a:r>
                        <a:rPr sz="2100" b="1" i="0">
                          <a:solidFill>
                            <a:srgbClr val="FFFFFF"/>
                          </a:solidFill>
                          <a:latin typeface="Times New Roman Bold"/>
                        </a:rPr>
                        <a:t>Prueba de integridad</a:t>
                      </a:r>
                    </a:p>
                  </a:txBody>
                  <a:tcPr marL="73152" marR="73152" marT="27432" marB="27432" anchor="ctr">
                    <a:solidFill>
                      <a:srgbClr val="4285F4"/>
                    </a:solidFill>
                  </a:tcPr>
                </a:tc>
                <a:tc>
                  <a:txBody>
                    <a:bodyPr wrap="square"/>
                    <a:lstStyle/>
                    <a:p>
                      <a:r>
                        <a:rPr sz="2100" b="1" i="0">
                          <a:solidFill>
                            <a:srgbClr val="FFFFFF"/>
                          </a:solidFill>
                          <a:latin typeface="Times New Roman Bold"/>
                        </a:rPr>
                        <a:t>Resultado</a:t>
                      </a:r>
                    </a:p>
                  </a:txBody>
                  <a:tcPr marL="73152" marR="73152" marT="27432" marB="27432" anchor="ctr">
                    <a:solidFill>
                      <a:srgbClr val="4285F4"/>
                    </a:solidFill>
                  </a:tcPr>
                </a:tc>
              </a:tr>
              <a:tr h="524676">
                <a:tc>
                  <a:txBody>
                    <a:bodyPr wrap="square"/>
                    <a:lstStyle/>
                    <a:p>
                      <a:r>
                        <a:rPr sz="2000" b="0" i="0">
                          <a:solidFill>
                            <a:srgbClr val="1E1E1E"/>
                          </a:solidFill>
                          <a:latin typeface="Times New Roman"/>
                        </a:rPr>
                        <a:t>UPDATE / DELETE en movimiento</a:t>
                      </a:r>
                    </a:p>
                  </a:txBody>
                  <a:tcPr marL="73152" marR="73152" marT="27432" marB="27432" anchor="ctr">
                    <a:solidFill>
                      <a:srgbClr val="F2F6FC"/>
                    </a:solidFill>
                  </a:tcPr>
                </a:tc>
                <a:tc>
                  <a:txBody>
                    <a:bodyPr wrap="square"/>
                    <a:lstStyle/>
                    <a:p>
                      <a:r>
                        <a:rPr sz="2000" b="0" i="0">
                          <a:solidFill>
                            <a:srgbClr val="1E1E1E"/>
                          </a:solidFill>
                          <a:latin typeface="Times New Roman"/>
                        </a:rPr>
                        <a:t>Rechazado por trigger</a:t>
                      </a:r>
                    </a:p>
                  </a:txBody>
                  <a:tcPr marL="73152" marR="73152" marT="27432" marB="27432" anchor="ctr">
                    <a:solidFill>
                      <a:srgbClr val="F2F6FC"/>
                    </a:solidFill>
                  </a:tcPr>
                </a:tc>
              </a:tr>
              <a:tr h="524676">
                <a:tc>
                  <a:txBody>
                    <a:bodyPr wrap="square"/>
                    <a:lstStyle/>
                    <a:p>
                      <a:r>
                        <a:rPr sz="2000" b="0" i="0">
                          <a:solidFill>
                            <a:srgbClr val="1E1E1E"/>
                          </a:solidFill>
                          <a:latin typeface="Times New Roman"/>
                        </a:rPr>
                        <a:t>Segunda alerta abierta</a:t>
                      </a:r>
                    </a:p>
                  </a:txBody>
                  <a:tcPr marL="73152" marR="73152" marT="27432" marB="27432" anchor="ctr">
                    <a:solidFill>
                      <a:srgbClr val="FFFFFF"/>
                    </a:solidFill>
                  </a:tcPr>
                </a:tc>
                <a:tc>
                  <a:txBody>
                    <a:bodyPr wrap="square"/>
                    <a:lstStyle/>
                    <a:p>
                      <a:r>
                        <a:rPr sz="2000" b="0" i="0">
                          <a:solidFill>
                            <a:srgbClr val="1E1E1E"/>
                          </a:solidFill>
                          <a:latin typeface="Times New Roman"/>
                        </a:rPr>
                        <a:t>Rechazada por índice filtrado</a:t>
                      </a:r>
                    </a:p>
                  </a:txBody>
                  <a:tcPr marL="73152" marR="73152" marT="27432" marB="27432" anchor="ctr">
                    <a:solidFill>
                      <a:srgbClr val="FFFFFF"/>
                    </a:solidFill>
                  </a:tcPr>
                </a:tc>
              </a:tr>
              <a:tr h="524676">
                <a:tc>
                  <a:txBody>
                    <a:bodyPr wrap="square"/>
                    <a:lstStyle/>
                    <a:p>
                      <a:r>
                        <a:rPr sz="2000" b="0" i="0">
                          <a:solidFill>
                            <a:srgbClr val="1E1E1E"/>
                          </a:solidFill>
                          <a:latin typeface="Times New Roman"/>
                        </a:rPr>
                        <a:t>Versión antigua (If-Match)</a:t>
                      </a:r>
                    </a:p>
                  </a:txBody>
                  <a:tcPr marL="73152" marR="73152" marT="27432" marB="27432" anchor="ctr">
                    <a:solidFill>
                      <a:srgbClr val="F2F6FC"/>
                    </a:solidFill>
                  </a:tcPr>
                </a:tc>
                <a:tc>
                  <a:txBody>
                    <a:bodyPr wrap="square"/>
                    <a:lstStyle/>
                    <a:p>
                      <a:r>
                        <a:rPr sz="2000" b="0" i="0">
                          <a:solidFill>
                            <a:srgbClr val="1E1E1E"/>
                          </a:solidFill>
                          <a:latin typeface="Times New Roman"/>
                        </a:rPr>
                        <a:t>412 STALE_VERSION</a:t>
                      </a:r>
                    </a:p>
                  </a:txBody>
                  <a:tcPr marL="73152" marR="73152" marT="27432" marB="27432" anchor="ctr">
                    <a:solidFill>
                      <a:srgbClr val="F2F6FC"/>
                    </a:solidFill>
                  </a:tcPr>
                </a:tc>
              </a:tr>
              <a:tr h="524676">
                <a:tc>
                  <a:txBody>
                    <a:bodyPr wrap="square"/>
                    <a:lstStyle/>
                    <a:p>
                      <a:r>
                        <a:rPr sz="2000" b="0" i="0">
                          <a:solidFill>
                            <a:srgbClr val="1E1E1E"/>
                          </a:solidFill>
                          <a:latin typeface="Times New Roman"/>
                        </a:rPr>
                        <a:t>Fallo del Outbox</a:t>
                      </a:r>
                    </a:p>
                  </a:txBody>
                  <a:tcPr marL="73152" marR="73152" marT="27432" marB="27432" anchor="ctr">
                    <a:solidFill>
                      <a:srgbClr val="FFFFFF"/>
                    </a:solidFill>
                  </a:tcPr>
                </a:tc>
                <a:tc>
                  <a:txBody>
                    <a:bodyPr wrap="square"/>
                    <a:lstStyle/>
                    <a:p>
                      <a:r>
                        <a:rPr sz="2000" b="0" i="0">
                          <a:solidFill>
                            <a:srgbClr val="1E1E1E"/>
                          </a:solidFill>
                          <a:latin typeface="Times New Roman"/>
                        </a:rPr>
                        <a:t>Se revierte el movimiento</a:t>
                      </a:r>
                    </a:p>
                  </a:txBody>
                  <a:tcPr marL="73152" marR="73152" marT="27432" marB="27432" anchor="ctr">
                    <a:solidFill>
                      <a:srgbClr val="FFFFFF"/>
                    </a:solidFill>
                  </a:tcPr>
                </a:tc>
              </a:tr>
              <a:tr h="524676">
                <a:tc>
                  <a:txBody>
                    <a:bodyPr wrap="square"/>
                    <a:lstStyle/>
                    <a:p>
                      <a:r>
                        <a:rPr sz="2000" b="0" i="0">
                          <a:solidFill>
                            <a:srgbClr val="1E1E1E"/>
                          </a:solidFill>
                          <a:latin typeface="Times New Roman"/>
                        </a:rPr>
                        <a:t>Recepción repetida</a:t>
                      </a:r>
                    </a:p>
                  </a:txBody>
                  <a:tcPr marL="73152" marR="73152" marT="27432" marB="27432" anchor="ctr">
                    <a:solidFill>
                      <a:srgbClr val="F2F6FC"/>
                    </a:solidFill>
                  </a:tcPr>
                </a:tc>
                <a:tc>
                  <a:txBody>
                    <a:bodyPr wrap="square"/>
                    <a:lstStyle/>
                    <a:p>
                      <a:r>
                        <a:rPr sz="2000" b="0" i="0">
                          <a:solidFill>
                            <a:srgbClr val="1E1E1E"/>
                          </a:solidFill>
                          <a:latin typeface="Times New Roman"/>
                        </a:rPr>
                        <a:t>Stock sumado una vez</a:t>
                      </a:r>
                    </a:p>
                  </a:txBody>
                  <a:tcPr marL="73152" marR="73152" marT="27432" marB="27432" anchor="ctr">
                    <a:solidFill>
                      <a:srgbClr val="F2F6FC"/>
                    </a:solidFill>
                  </a:tcPr>
                </a:tc>
              </a:tr>
            </a:tbl>
          </a:graphicData>
        </a:graphic>
      </p:graphicFrame>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9. Demostración: navegación por rol</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30</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pic>
        <p:nvPicPr>
          <p:cNvPr id="40" name="Figura 19" descr="Figura_19_navegacion_roles.png"/>
          <p:cNvPicPr>
            <a:picLocks noChangeAspect="1"/>
          </p:cNvPicPr>
          <p:nvPr/>
        </p:nvPicPr>
        <p:blipFill>
          <a:blip r:embed="rId2"/>
          <a:stretch>
            <a:fillRect/>
          </a:stretch>
        </p:blipFill>
        <p:spPr>
          <a:xfrm>
            <a:off x="1283444" y="2981259"/>
            <a:ext cx="10326151" cy="5719099"/>
          </a:xfrm>
          <a:prstGeom prst="rect">
            <a:avLst/>
          </a:prstGeom>
        </p:spPr>
      </p:pic>
      <p:sp>
        <p:nvSpPr>
          <p:cNvPr id="41" name="TextBox 40"/>
          <p:cNvSpPr txBox="1"/>
          <p:nvPr/>
        </p:nvSpPr>
        <p:spPr>
          <a:xfrm>
            <a:off x="685800" y="8746078"/>
            <a:ext cx="1152144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19. Mapa de navegación por rol</a:t>
            </a:r>
          </a:p>
        </p:txBody>
      </p:sp>
      <p:sp>
        <p:nvSpPr>
          <p:cNvPr id="42" name="Rounded Rectangle 41"/>
          <p:cNvSpPr/>
          <p:nvPr/>
        </p:nvSpPr>
        <p:spPr>
          <a:xfrm>
            <a:off x="12481560" y="3063240"/>
            <a:ext cx="5120640" cy="286932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664440" y="3186211"/>
            <a:ext cx="4754879" cy="2623382"/>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Administrador</a:t>
            </a:r>
          </a:p>
          <a:p>
            <a:pPr algn="l">
              <a:spcAft>
                <a:spcPts val="500"/>
              </a:spcAft>
            </a:pPr>
            <a:r>
              <a:rPr sz="2100" b="0" i="0">
                <a:solidFill>
                  <a:srgbClr val="1E1E1E"/>
                </a:solidFill>
                <a:latin typeface="Times New Roman"/>
              </a:rPr>
              <a:t>Resumen, Inventario, Registrar movimiento, Movimientos, Reportes, Proveedores y Compras.</a:t>
            </a:r>
          </a:p>
        </p:txBody>
      </p:sp>
      <p:sp>
        <p:nvSpPr>
          <p:cNvPr id="44" name="Rounded Rectangle 43"/>
          <p:cNvSpPr/>
          <p:nvPr/>
        </p:nvSpPr>
        <p:spPr>
          <a:xfrm>
            <a:off x="12481560" y="6055535"/>
            <a:ext cx="5120640" cy="2951304"/>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664440" y="6178506"/>
            <a:ext cx="4754879" cy="2705362"/>
          </a:xfrm>
          <a:prstGeom prst="rect">
            <a:avLst/>
          </a:prstGeom>
          <a:noFill/>
        </p:spPr>
        <p:txBody>
          <a:bodyPr wrap="square" anchor="t" lIns="45720" rIns="45720">
            <a:spAutoFit/>
          </a:bodyPr>
          <a:lstStyle/>
          <a:p>
            <a:pPr algn="l">
              <a:spcAft>
                <a:spcPts val="500"/>
              </a:spcAft>
            </a:pPr>
            <a:r>
              <a:rPr sz="2600" b="1" i="0">
                <a:solidFill>
                  <a:srgbClr val="1A56B0"/>
                </a:solidFill>
                <a:latin typeface="Times New Roman Bold"/>
              </a:rPr>
              <a:t>Mecánico</a:t>
            </a:r>
          </a:p>
          <a:p>
            <a:pPr algn="l">
              <a:spcAft>
                <a:spcPts val="500"/>
              </a:spcAft>
            </a:pPr>
            <a:r>
              <a:rPr sz="2100" b="0" i="0">
                <a:solidFill>
                  <a:srgbClr val="1E1E1E"/>
                </a:solidFill>
                <a:latin typeface="Times New Roman"/>
              </a:rPr>
              <a:t>Consultar stock, Registrar salida y Mis movimientos.</a:t>
            </a:r>
          </a:p>
          <a:p>
            <a:pPr algn="l">
              <a:spcAft>
                <a:spcPts val="500"/>
              </a:spcAft>
            </a:pPr>
            <a:r>
              <a:rPr sz="2100" b="0" i="0">
                <a:solidFill>
                  <a:srgbClr val="1E1E1E"/>
                </a:solidFill>
                <a:latin typeface="Times New Roman"/>
              </a:rPr>
              <a:t>Una entrada enviada por un mecánico recibe 403.</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9. Demostración: acceso y resumen</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31</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pic>
        <p:nvPicPr>
          <p:cNvPr id="40" name="Figura 20" descr="Figura_20_inicio_sesion.png"/>
          <p:cNvPicPr>
            <a:picLocks noChangeAspect="1"/>
          </p:cNvPicPr>
          <p:nvPr/>
        </p:nvPicPr>
        <p:blipFill>
          <a:blip r:embed="rId2"/>
          <a:stretch>
            <a:fillRect/>
          </a:stretch>
        </p:blipFill>
        <p:spPr>
          <a:xfrm>
            <a:off x="1287601" y="3022249"/>
            <a:ext cx="7117437" cy="4448398"/>
          </a:xfrm>
          <a:prstGeom prst="rect">
            <a:avLst/>
          </a:prstGeom>
        </p:spPr>
      </p:pic>
      <p:sp>
        <p:nvSpPr>
          <p:cNvPr id="41" name="TextBox 40"/>
          <p:cNvSpPr txBox="1"/>
          <p:nvPr/>
        </p:nvSpPr>
        <p:spPr>
          <a:xfrm>
            <a:off x="685800" y="7516368"/>
            <a:ext cx="832104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20. Inicio de sesión</a:t>
            </a:r>
          </a:p>
        </p:txBody>
      </p:sp>
      <p:pic>
        <p:nvPicPr>
          <p:cNvPr id="42" name="Figura 21" descr="Figura_21_resumen_operativo.png"/>
          <p:cNvPicPr>
            <a:picLocks noChangeAspect="1"/>
          </p:cNvPicPr>
          <p:nvPr/>
        </p:nvPicPr>
        <p:blipFill>
          <a:blip r:embed="rId6"/>
          <a:stretch>
            <a:fillRect/>
          </a:stretch>
        </p:blipFill>
        <p:spPr>
          <a:xfrm>
            <a:off x="9882961" y="3022249"/>
            <a:ext cx="7117437" cy="4448398"/>
          </a:xfrm>
          <a:prstGeom prst="rect">
            <a:avLst/>
          </a:prstGeom>
        </p:spPr>
      </p:pic>
      <p:sp>
        <p:nvSpPr>
          <p:cNvPr id="43" name="TextBox 42"/>
          <p:cNvSpPr txBox="1"/>
          <p:nvPr/>
        </p:nvSpPr>
        <p:spPr>
          <a:xfrm>
            <a:off x="9281160" y="7516368"/>
            <a:ext cx="832104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21. Resumen operativo</a:t>
            </a:r>
          </a:p>
        </p:txBody>
      </p:sp>
      <p:sp>
        <p:nvSpPr>
          <p:cNvPr id="44" name="Rounded Rectangle 43"/>
          <p:cNvSpPr/>
          <p:nvPr/>
        </p:nvSpPr>
        <p:spPr>
          <a:xfrm>
            <a:off x="685800" y="7900100"/>
            <a:ext cx="83210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8023071"/>
            <a:ext cx="7955279" cy="860797"/>
          </a:xfrm>
          <a:prstGeom prst="rect">
            <a:avLst/>
          </a:prstGeom>
          <a:noFill/>
        </p:spPr>
        <p:txBody>
          <a:bodyPr wrap="square" anchor="t" lIns="45720" rIns="45720">
            <a:spAutoFit/>
          </a:bodyPr>
          <a:lstStyle/>
          <a:p>
            <a:pPr algn="l">
              <a:spcAft>
                <a:spcPts val="500"/>
              </a:spcAft>
            </a:pPr>
            <a:r>
              <a:rPr sz="2000" b="1" i="0">
                <a:solidFill>
                  <a:srgbClr val="1E1E1E"/>
                </a:solidFill>
                <a:latin typeface="Times New Roman Bold"/>
              </a:rPr>
              <a:t>RF-01:</a:t>
            </a:r>
            <a:r>
              <a:rPr sz="2000" b="0" i="0">
                <a:solidFill>
                  <a:srgbClr val="1E1E1E"/>
                </a:solidFill>
                <a:latin typeface="Times New Roman"/>
              </a:rPr>
              <a:t> ingreso con la cuenta de trabajo; sin contraseñas locales.</a:t>
            </a:r>
          </a:p>
        </p:txBody>
      </p:sp>
      <p:sp>
        <p:nvSpPr>
          <p:cNvPr id="46" name="Rounded Rectangle 45"/>
          <p:cNvSpPr/>
          <p:nvPr/>
        </p:nvSpPr>
        <p:spPr>
          <a:xfrm>
            <a:off x="9281160" y="7900100"/>
            <a:ext cx="83210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464040" y="8023071"/>
            <a:ext cx="7955279" cy="860797"/>
          </a:xfrm>
          <a:prstGeom prst="rect">
            <a:avLst/>
          </a:prstGeom>
          <a:noFill/>
        </p:spPr>
        <p:txBody>
          <a:bodyPr wrap="square" anchor="t" lIns="45720" rIns="45720">
            <a:spAutoFit/>
          </a:bodyPr>
          <a:lstStyle/>
          <a:p>
            <a:pPr algn="l">
              <a:spcAft>
                <a:spcPts val="500"/>
              </a:spcAft>
            </a:pPr>
            <a:r>
              <a:rPr sz="2000" b="1" i="0">
                <a:solidFill>
                  <a:srgbClr val="1E1E1E"/>
                </a:solidFill>
                <a:latin typeface="Times New Roman Bold"/>
              </a:rPr>
              <a:t>RF-11 / RF-12:</a:t>
            </a:r>
            <a:r>
              <a:rPr sz="2000" b="0" i="0">
                <a:solidFill>
                  <a:srgbClr val="1E1E1E"/>
                </a:solidFill>
                <a:latin typeface="Times New Roman"/>
              </a:rPr>
              <a:t> indicadores y prioridad de reposición.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9. Demostración: inventario y movimientos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32</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pic>
        <p:nvPicPr>
          <p:cNvPr id="40" name="Figura 22" descr="Figura_22_productos_existencias.png"/>
          <p:cNvPicPr>
            <a:picLocks noChangeAspect="1"/>
          </p:cNvPicPr>
          <p:nvPr/>
        </p:nvPicPr>
        <p:blipFill>
          <a:blip r:embed="rId2"/>
          <a:stretch>
            <a:fillRect/>
          </a:stretch>
        </p:blipFill>
        <p:spPr>
          <a:xfrm>
            <a:off x="1287601" y="3022249"/>
            <a:ext cx="7117437" cy="4448398"/>
          </a:xfrm>
          <a:prstGeom prst="rect">
            <a:avLst/>
          </a:prstGeom>
        </p:spPr>
      </p:pic>
      <p:sp>
        <p:nvSpPr>
          <p:cNvPr id="41" name="TextBox 40"/>
          <p:cNvSpPr txBox="1"/>
          <p:nvPr/>
        </p:nvSpPr>
        <p:spPr>
          <a:xfrm>
            <a:off x="685800" y="7516368"/>
            <a:ext cx="832104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22. Productos y existencias</a:t>
            </a:r>
          </a:p>
        </p:txBody>
      </p:sp>
      <p:pic>
        <p:nvPicPr>
          <p:cNvPr id="42" name="Figura 23" descr="Figura_23_registrar_movimiento.png"/>
          <p:cNvPicPr>
            <a:picLocks noChangeAspect="1"/>
          </p:cNvPicPr>
          <p:nvPr/>
        </p:nvPicPr>
        <p:blipFill>
          <a:blip r:embed="rId6"/>
          <a:stretch>
            <a:fillRect/>
          </a:stretch>
        </p:blipFill>
        <p:spPr>
          <a:xfrm>
            <a:off x="9882961" y="3022249"/>
            <a:ext cx="7117437" cy="4448398"/>
          </a:xfrm>
          <a:prstGeom prst="rect">
            <a:avLst/>
          </a:prstGeom>
        </p:spPr>
      </p:pic>
      <p:sp>
        <p:nvSpPr>
          <p:cNvPr id="43" name="TextBox 42"/>
          <p:cNvSpPr txBox="1"/>
          <p:nvPr/>
        </p:nvSpPr>
        <p:spPr>
          <a:xfrm>
            <a:off x="9281160" y="7516368"/>
            <a:ext cx="832104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23. Registrar movimiento (Facade)</a:t>
            </a:r>
          </a:p>
        </p:txBody>
      </p:sp>
      <p:sp>
        <p:nvSpPr>
          <p:cNvPr id="44" name="Rounded Rectangle 43"/>
          <p:cNvSpPr/>
          <p:nvPr/>
        </p:nvSpPr>
        <p:spPr>
          <a:xfrm>
            <a:off x="685800" y="7900100"/>
            <a:ext cx="83210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8023071"/>
            <a:ext cx="7955279" cy="860797"/>
          </a:xfrm>
          <a:prstGeom prst="rect">
            <a:avLst/>
          </a:prstGeom>
          <a:noFill/>
        </p:spPr>
        <p:txBody>
          <a:bodyPr wrap="square" anchor="t" lIns="45720" rIns="45720">
            <a:spAutoFit/>
          </a:bodyPr>
          <a:lstStyle/>
          <a:p>
            <a:pPr algn="l">
              <a:spcAft>
                <a:spcPts val="500"/>
              </a:spcAft>
            </a:pPr>
            <a:r>
              <a:rPr sz="2000" b="1" i="0">
                <a:solidFill>
                  <a:srgbClr val="1E1E1E"/>
                </a:solidFill>
                <a:latin typeface="Times New Roman Bold"/>
              </a:rPr>
              <a:t>RF-05 / RF-06:</a:t>
            </a:r>
            <a:r>
              <a:rPr sz="2000" b="0" i="0">
                <a:solidFill>
                  <a:srgbClr val="1E1E1E"/>
                </a:solidFill>
                <a:latin typeface="Times New Roman"/>
              </a:rPr>
              <a:t> catálogo con filtros y edición versionada.</a:t>
            </a:r>
          </a:p>
        </p:txBody>
      </p:sp>
      <p:sp>
        <p:nvSpPr>
          <p:cNvPr id="46" name="Rounded Rectangle 45"/>
          <p:cNvSpPr/>
          <p:nvPr/>
        </p:nvSpPr>
        <p:spPr>
          <a:xfrm>
            <a:off x="9281160" y="7900100"/>
            <a:ext cx="83210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464040" y="8023071"/>
            <a:ext cx="7955279" cy="860797"/>
          </a:xfrm>
          <a:prstGeom prst="rect">
            <a:avLst/>
          </a:prstGeom>
          <a:noFill/>
        </p:spPr>
        <p:txBody>
          <a:bodyPr wrap="square" anchor="t" lIns="45720" rIns="45720">
            <a:spAutoFit/>
          </a:bodyPr>
          <a:lstStyle/>
          <a:p>
            <a:pPr algn="l">
              <a:spcAft>
                <a:spcPts val="500"/>
              </a:spcAft>
            </a:pPr>
            <a:r>
              <a:rPr sz="2000" b="1" i="0">
                <a:solidFill>
                  <a:srgbClr val="1E1E1E"/>
                </a:solidFill>
                <a:latin typeface="Times New Roman Bold"/>
              </a:rPr>
              <a:t>RF-08 / RF-09:</a:t>
            </a:r>
            <a:r>
              <a:rPr sz="2000" b="0" i="0">
                <a:solidFill>
                  <a:srgbClr val="1E1E1E"/>
                </a:solidFill>
                <a:latin typeface="Times New Roman"/>
              </a:rPr>
              <a:t> vista previa del stock y una sola confirmación.</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9. Demostración: historial y reportes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33</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pic>
        <p:nvPicPr>
          <p:cNvPr id="40" name="Figura 24" descr="Figura_24_historial_movimientos.png"/>
          <p:cNvPicPr>
            <a:picLocks noChangeAspect="1"/>
          </p:cNvPicPr>
          <p:nvPr/>
        </p:nvPicPr>
        <p:blipFill>
          <a:blip r:embed="rId2"/>
          <a:stretch>
            <a:fillRect/>
          </a:stretch>
        </p:blipFill>
        <p:spPr>
          <a:xfrm>
            <a:off x="1287601" y="3022249"/>
            <a:ext cx="7117437" cy="4448398"/>
          </a:xfrm>
          <a:prstGeom prst="rect">
            <a:avLst/>
          </a:prstGeom>
        </p:spPr>
      </p:pic>
      <p:sp>
        <p:nvSpPr>
          <p:cNvPr id="41" name="TextBox 40"/>
          <p:cNvSpPr txBox="1"/>
          <p:nvPr/>
        </p:nvSpPr>
        <p:spPr>
          <a:xfrm>
            <a:off x="685800" y="7516368"/>
            <a:ext cx="832104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24. Historial de movimientos</a:t>
            </a:r>
          </a:p>
        </p:txBody>
      </p:sp>
      <p:pic>
        <p:nvPicPr>
          <p:cNvPr id="42" name="Figura 25" descr="Figura_25_reportes.png"/>
          <p:cNvPicPr>
            <a:picLocks noChangeAspect="1"/>
          </p:cNvPicPr>
          <p:nvPr/>
        </p:nvPicPr>
        <p:blipFill>
          <a:blip r:embed="rId6"/>
          <a:stretch>
            <a:fillRect/>
          </a:stretch>
        </p:blipFill>
        <p:spPr>
          <a:xfrm>
            <a:off x="9882961" y="3022249"/>
            <a:ext cx="7117437" cy="4448398"/>
          </a:xfrm>
          <a:prstGeom prst="rect">
            <a:avLst/>
          </a:prstGeom>
        </p:spPr>
      </p:pic>
      <p:sp>
        <p:nvSpPr>
          <p:cNvPr id="43" name="TextBox 42"/>
          <p:cNvSpPr txBox="1"/>
          <p:nvPr/>
        </p:nvSpPr>
        <p:spPr>
          <a:xfrm>
            <a:off x="9281160" y="7516368"/>
            <a:ext cx="832104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25. Reportes PDF / Excel (Strategy)</a:t>
            </a:r>
          </a:p>
        </p:txBody>
      </p:sp>
      <p:sp>
        <p:nvSpPr>
          <p:cNvPr id="44" name="Rounded Rectangle 43"/>
          <p:cNvSpPr/>
          <p:nvPr/>
        </p:nvSpPr>
        <p:spPr>
          <a:xfrm>
            <a:off x="685800" y="7900100"/>
            <a:ext cx="83210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8023071"/>
            <a:ext cx="7955279" cy="860797"/>
          </a:xfrm>
          <a:prstGeom prst="rect">
            <a:avLst/>
          </a:prstGeom>
          <a:noFill/>
        </p:spPr>
        <p:txBody>
          <a:bodyPr wrap="square" anchor="t" lIns="45720" rIns="45720">
            <a:spAutoFit/>
          </a:bodyPr>
          <a:lstStyle/>
          <a:p>
            <a:pPr algn="l">
              <a:spcAft>
                <a:spcPts val="500"/>
              </a:spcAft>
            </a:pPr>
            <a:r>
              <a:rPr sz="2000" b="1" i="0">
                <a:solidFill>
                  <a:srgbClr val="1E1E1E"/>
                </a:solidFill>
                <a:latin typeface="Times New Roman Bold"/>
              </a:rPr>
              <a:t>RF-10:</a:t>
            </a:r>
            <a:r>
              <a:rPr sz="2000" b="0" i="0">
                <a:solidFill>
                  <a:srgbClr val="1E1E1E"/>
                </a:solidFill>
                <a:latin typeface="Times New Roman"/>
              </a:rPr>
              <a:t> historial inmutable; errores con movimiento compensatorio.</a:t>
            </a:r>
          </a:p>
        </p:txBody>
      </p:sp>
      <p:sp>
        <p:nvSpPr>
          <p:cNvPr id="46" name="Rounded Rectangle 45"/>
          <p:cNvSpPr/>
          <p:nvPr/>
        </p:nvSpPr>
        <p:spPr>
          <a:xfrm>
            <a:off x="9281160" y="7900100"/>
            <a:ext cx="83210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464040" y="8023071"/>
            <a:ext cx="7955279" cy="860797"/>
          </a:xfrm>
          <a:prstGeom prst="rect">
            <a:avLst/>
          </a:prstGeom>
          <a:noFill/>
        </p:spPr>
        <p:txBody>
          <a:bodyPr wrap="square" anchor="t" lIns="45720" rIns="45720">
            <a:spAutoFit/>
          </a:bodyPr>
          <a:lstStyle/>
          <a:p>
            <a:pPr algn="l">
              <a:spcAft>
                <a:spcPts val="500"/>
              </a:spcAft>
            </a:pPr>
            <a:r>
              <a:rPr sz="2000" b="1" i="0">
                <a:solidFill>
                  <a:srgbClr val="1E1E1E"/>
                </a:solidFill>
                <a:latin typeface="Times New Roman Bold"/>
              </a:rPr>
              <a:t>RF-11:</a:t>
            </a:r>
            <a:r>
              <a:rPr sz="2000" b="0" i="0">
                <a:solidFill>
                  <a:srgbClr val="1E1E1E"/>
                </a:solidFill>
                <a:latin typeface="Times New Roman"/>
              </a:rPr>
              <a:t> filtros y exportación en dos formatos.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9. Demostración: proveedores y compras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34</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pic>
        <p:nvPicPr>
          <p:cNvPr id="40" name="Figura 26" descr="Figura_26_proveedores.png"/>
          <p:cNvPicPr>
            <a:picLocks noChangeAspect="1"/>
          </p:cNvPicPr>
          <p:nvPr/>
        </p:nvPicPr>
        <p:blipFill>
          <a:blip r:embed="rId2"/>
          <a:stretch>
            <a:fillRect/>
          </a:stretch>
        </p:blipFill>
        <p:spPr>
          <a:xfrm>
            <a:off x="1287601" y="3022249"/>
            <a:ext cx="7117437" cy="4448398"/>
          </a:xfrm>
          <a:prstGeom prst="rect">
            <a:avLst/>
          </a:prstGeom>
        </p:spPr>
      </p:pic>
      <p:sp>
        <p:nvSpPr>
          <p:cNvPr id="41" name="TextBox 40"/>
          <p:cNvSpPr txBox="1"/>
          <p:nvPr/>
        </p:nvSpPr>
        <p:spPr>
          <a:xfrm>
            <a:off x="685800" y="7516368"/>
            <a:ext cx="832104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26. Proveedores</a:t>
            </a:r>
          </a:p>
        </p:txBody>
      </p:sp>
      <p:pic>
        <p:nvPicPr>
          <p:cNvPr id="42" name="Figura 27" descr="Figura_27_facturas_compra.png"/>
          <p:cNvPicPr>
            <a:picLocks noChangeAspect="1"/>
          </p:cNvPicPr>
          <p:nvPr/>
        </p:nvPicPr>
        <p:blipFill>
          <a:blip r:embed="rId6"/>
          <a:stretch>
            <a:fillRect/>
          </a:stretch>
        </p:blipFill>
        <p:spPr>
          <a:xfrm>
            <a:off x="9281160" y="3958214"/>
            <a:ext cx="8321040" cy="2576468"/>
          </a:xfrm>
          <a:prstGeom prst="rect">
            <a:avLst/>
          </a:prstGeom>
        </p:spPr>
      </p:pic>
      <p:sp>
        <p:nvSpPr>
          <p:cNvPr id="43" name="TextBox 42"/>
          <p:cNvSpPr txBox="1"/>
          <p:nvPr/>
        </p:nvSpPr>
        <p:spPr>
          <a:xfrm>
            <a:off x="9281160" y="6580403"/>
            <a:ext cx="832104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27. Facturas de compra y adjuntos</a:t>
            </a:r>
          </a:p>
        </p:txBody>
      </p:sp>
      <p:sp>
        <p:nvSpPr>
          <p:cNvPr id="44" name="Rounded Rectangle 43"/>
          <p:cNvSpPr/>
          <p:nvPr/>
        </p:nvSpPr>
        <p:spPr>
          <a:xfrm>
            <a:off x="685800" y="7900100"/>
            <a:ext cx="83210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8023071"/>
            <a:ext cx="7955279" cy="860797"/>
          </a:xfrm>
          <a:prstGeom prst="rect">
            <a:avLst/>
          </a:prstGeom>
          <a:noFill/>
        </p:spPr>
        <p:txBody>
          <a:bodyPr wrap="square" anchor="t" lIns="45720" rIns="45720">
            <a:spAutoFit/>
          </a:bodyPr>
          <a:lstStyle/>
          <a:p>
            <a:pPr algn="l">
              <a:spcAft>
                <a:spcPts val="500"/>
              </a:spcAft>
            </a:pPr>
            <a:r>
              <a:rPr sz="2000" b="1" i="0">
                <a:solidFill>
                  <a:srgbClr val="1E1E1E"/>
                </a:solidFill>
                <a:latin typeface="Times New Roman Bold"/>
              </a:rPr>
              <a:t>RF-07:</a:t>
            </a:r>
            <a:r>
              <a:rPr sz="2000" b="0" i="0">
                <a:solidFill>
                  <a:srgbClr val="1E1E1E"/>
                </a:solidFill>
                <a:latin typeface="Times New Roman"/>
              </a:rPr>
              <a:t> alta, edición y desactivación sin borrar historia.</a:t>
            </a:r>
          </a:p>
        </p:txBody>
      </p:sp>
      <p:sp>
        <p:nvSpPr>
          <p:cNvPr id="46" name="Rounded Rectangle 45"/>
          <p:cNvSpPr/>
          <p:nvPr/>
        </p:nvSpPr>
        <p:spPr>
          <a:xfrm>
            <a:off x="9281160" y="7900100"/>
            <a:ext cx="8321040" cy="110673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464040" y="8023071"/>
            <a:ext cx="7955279" cy="860797"/>
          </a:xfrm>
          <a:prstGeom prst="rect">
            <a:avLst/>
          </a:prstGeom>
          <a:noFill/>
        </p:spPr>
        <p:txBody>
          <a:bodyPr wrap="square" anchor="t" lIns="45720" rIns="45720">
            <a:spAutoFit/>
          </a:bodyPr>
          <a:lstStyle/>
          <a:p>
            <a:pPr algn="l">
              <a:spcAft>
                <a:spcPts val="500"/>
              </a:spcAft>
            </a:pPr>
            <a:r>
              <a:rPr sz="2000" b="1" i="0">
                <a:solidFill>
                  <a:srgbClr val="1E1E1E"/>
                </a:solidFill>
                <a:latin typeface="Times New Roman Bold"/>
              </a:rPr>
              <a:t>RF-14 / RF-15:</a:t>
            </a:r>
            <a:r>
              <a:rPr sz="2000" b="0" i="0">
                <a:solidFill>
                  <a:srgbClr val="1E1E1E"/>
                </a:solidFill>
                <a:latin typeface="Times New Roman"/>
              </a:rPr>
              <a:t> recepción atómica y documentos privados.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9. Demostración: vista del mecánico</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35</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pic>
        <p:nvPicPr>
          <p:cNvPr id="40" name="Figura 28" descr="Figura_28_consultar_stock_mecanico.png"/>
          <p:cNvPicPr>
            <a:picLocks noChangeAspect="1"/>
          </p:cNvPicPr>
          <p:nvPr/>
        </p:nvPicPr>
        <p:blipFill>
          <a:blip r:embed="rId2"/>
          <a:stretch>
            <a:fillRect/>
          </a:stretch>
        </p:blipFill>
        <p:spPr>
          <a:xfrm>
            <a:off x="690088" y="3022249"/>
            <a:ext cx="5477823" cy="3423639"/>
          </a:xfrm>
          <a:prstGeom prst="rect">
            <a:avLst/>
          </a:prstGeom>
        </p:spPr>
      </p:pic>
      <p:sp>
        <p:nvSpPr>
          <p:cNvPr id="41" name="TextBox 40"/>
          <p:cNvSpPr txBox="1"/>
          <p:nvPr/>
        </p:nvSpPr>
        <p:spPr>
          <a:xfrm>
            <a:off x="685800" y="6491609"/>
            <a:ext cx="548640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28. Consultar stock</a:t>
            </a:r>
          </a:p>
        </p:txBody>
      </p:sp>
      <p:pic>
        <p:nvPicPr>
          <p:cNvPr id="42" name="Figura 29" descr="Figura_29_registrar_salida_mecanico.png"/>
          <p:cNvPicPr>
            <a:picLocks noChangeAspect="1"/>
          </p:cNvPicPr>
          <p:nvPr/>
        </p:nvPicPr>
        <p:blipFill>
          <a:blip r:embed="rId6"/>
          <a:stretch>
            <a:fillRect/>
          </a:stretch>
        </p:blipFill>
        <p:spPr>
          <a:xfrm>
            <a:off x="6405088" y="3022249"/>
            <a:ext cx="5477823" cy="3423639"/>
          </a:xfrm>
          <a:prstGeom prst="rect">
            <a:avLst/>
          </a:prstGeom>
        </p:spPr>
      </p:pic>
      <p:sp>
        <p:nvSpPr>
          <p:cNvPr id="43" name="TextBox 42"/>
          <p:cNvSpPr txBox="1"/>
          <p:nvPr/>
        </p:nvSpPr>
        <p:spPr>
          <a:xfrm>
            <a:off x="6400800" y="6491609"/>
            <a:ext cx="548640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29. Registrar salida</a:t>
            </a:r>
          </a:p>
        </p:txBody>
      </p:sp>
      <p:pic>
        <p:nvPicPr>
          <p:cNvPr id="44" name="Figura 30" descr="Figura_30_mis_movimientos_mecanico.png"/>
          <p:cNvPicPr>
            <a:picLocks noChangeAspect="1"/>
          </p:cNvPicPr>
          <p:nvPr/>
        </p:nvPicPr>
        <p:blipFill>
          <a:blip r:embed="rId7"/>
          <a:stretch>
            <a:fillRect/>
          </a:stretch>
        </p:blipFill>
        <p:spPr>
          <a:xfrm>
            <a:off x="12120088" y="3022249"/>
            <a:ext cx="5477823" cy="3423639"/>
          </a:xfrm>
          <a:prstGeom prst="rect">
            <a:avLst/>
          </a:prstGeom>
        </p:spPr>
      </p:pic>
      <p:sp>
        <p:nvSpPr>
          <p:cNvPr id="45" name="TextBox 44"/>
          <p:cNvSpPr txBox="1"/>
          <p:nvPr/>
        </p:nvSpPr>
        <p:spPr>
          <a:xfrm>
            <a:off x="12115800" y="6491609"/>
            <a:ext cx="548640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30. Mis movimientos</a:t>
            </a:r>
          </a:p>
        </p:txBody>
      </p:sp>
      <p:sp>
        <p:nvSpPr>
          <p:cNvPr id="46" name="Rounded Rectangle 45"/>
          <p:cNvSpPr/>
          <p:nvPr/>
        </p:nvSpPr>
        <p:spPr>
          <a:xfrm>
            <a:off x="685800" y="6957322"/>
            <a:ext cx="16916400" cy="2049517"/>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8680" y="7080293"/>
            <a:ext cx="16550640" cy="1803575"/>
          </a:xfrm>
          <a:prstGeom prst="rect">
            <a:avLst/>
          </a:prstGeom>
          <a:noFill/>
        </p:spPr>
        <p:txBody>
          <a:bodyPr wrap="square" anchor="t" lIns="45720" rIns="45720">
            <a:spAutoFit/>
          </a:bodyPr>
          <a:lstStyle/>
          <a:p>
            <a:pPr algn="l" marL="256032" indent="-219456">
              <a:spcAft>
                <a:spcPts val="500"/>
              </a:spcAft>
              <a:buChar char="•"/>
            </a:pPr>
            <a:r>
              <a:rPr sz="2200" b="1" i="0">
                <a:solidFill>
                  <a:srgbClr val="1E1E1E"/>
                </a:solidFill>
                <a:latin typeface="Times New Roman Bold"/>
              </a:rPr>
              <a:t>RF-02 / RF-03:</a:t>
            </a:r>
            <a:r>
              <a:rPr sz="2200" b="0" i="0">
                <a:solidFill>
                  <a:srgbClr val="1E1E1E"/>
                </a:solidFill>
                <a:latin typeface="Times New Roman"/>
              </a:rPr>
              <a:t> menú de tres opciones; sin precios, compras ni reportes.</a:t>
            </a:r>
          </a:p>
          <a:p>
            <a:pPr algn="l" marL="256032" indent="-219456">
              <a:spcAft>
                <a:spcPts val="500"/>
              </a:spcAft>
              <a:buChar char="•"/>
            </a:pPr>
            <a:r>
              <a:rPr sz="2200" b="1" i="0">
                <a:solidFill>
                  <a:srgbClr val="1E1E1E"/>
                </a:solidFill>
                <a:latin typeface="Times New Roman Bold"/>
              </a:rPr>
              <a:t>RNF-13:</a:t>
            </a:r>
            <a:r>
              <a:rPr sz="2200" b="0" i="0">
                <a:solidFill>
                  <a:srgbClr val="1E1E1E"/>
                </a:solidFill>
                <a:latin typeface="Times New Roman"/>
              </a:rPr>
              <a:t> la salida se registra en un solo formulario con vista previa del stock.</a:t>
            </a:r>
          </a:p>
          <a:p>
            <a:pPr algn="l" marL="256032" indent="-219456">
              <a:spcAft>
                <a:spcPts val="500"/>
              </a:spcAft>
              <a:buChar char="•"/>
            </a:pPr>
            <a:r>
              <a:rPr sz="2200" b="1" i="0">
                <a:solidFill>
                  <a:srgbClr val="1E1E1E"/>
                </a:solidFill>
                <a:latin typeface="Times New Roman Bold"/>
              </a:rPr>
              <a:t>RF-10:</a:t>
            </a:r>
            <a:r>
              <a:rPr sz="2200" b="0" i="0">
                <a:solidFill>
                  <a:srgbClr val="1E1E1E"/>
                </a:solidFill>
                <a:latin typeface="Times New Roman"/>
              </a:rPr>
              <a:t> el historial se filtra en el servidor por la identidad del mecánico.</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10. Resultados: pruebas automatizadas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36</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685800" y="3063240"/>
            <a:ext cx="2834640" cy="1844565"/>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tat"/>
          <p:cNvSpPr txBox="1"/>
          <p:nvPr/>
        </p:nvSpPr>
        <p:spPr>
          <a:xfrm>
            <a:off x="685800" y="3186211"/>
            <a:ext cx="2834640" cy="1014511"/>
          </a:xfrm>
          <a:prstGeom prst="rect">
            <a:avLst/>
          </a:prstGeom>
          <a:noFill/>
        </p:spPr>
        <p:txBody>
          <a:bodyPr wrap="square" anchor="ctr" lIns="45720" rIns="45720">
            <a:spAutoFit/>
          </a:bodyPr>
          <a:lstStyle/>
          <a:p>
            <a:pPr algn="ctr">
              <a:spcAft>
                <a:spcPts val="0"/>
              </a:spcAft>
            </a:pPr>
            <a:r>
              <a:rPr sz="5300" b="0" i="0">
                <a:solidFill>
                  <a:srgbClr val="1A56B0"/>
                </a:solidFill>
                <a:latin typeface="Times New Roman"/>
              </a:rPr>
              <a:t>98</a:t>
            </a:r>
          </a:p>
        </p:txBody>
      </p:sp>
      <p:sp>
        <p:nvSpPr>
          <p:cNvPr id="42" name="TextBox 41"/>
          <p:cNvSpPr txBox="1"/>
          <p:nvPr/>
        </p:nvSpPr>
        <p:spPr>
          <a:xfrm>
            <a:off x="822960" y="4169979"/>
            <a:ext cx="2560320" cy="700934"/>
          </a:xfrm>
          <a:prstGeom prst="rect">
            <a:avLst/>
          </a:prstGeom>
          <a:noFill/>
        </p:spPr>
        <p:txBody>
          <a:bodyPr wrap="square" anchor="t" lIns="45720" rIns="45720">
            <a:spAutoFit/>
          </a:bodyPr>
          <a:lstStyle/>
          <a:p>
            <a:pPr algn="ctr">
              <a:spcAft>
                <a:spcPts val="0"/>
              </a:spcAft>
            </a:pPr>
            <a:r>
              <a:rPr sz="2000" b="0" i="0">
                <a:solidFill>
                  <a:srgbClr val="555555"/>
                </a:solidFill>
                <a:latin typeface="Times New Roman"/>
              </a:rPr>
              <a:t>unitarias y HTTP del backend</a:t>
            </a:r>
          </a:p>
        </p:txBody>
      </p:sp>
      <p:sp>
        <p:nvSpPr>
          <p:cNvPr id="43" name="Rounded Rectangle 42"/>
          <p:cNvSpPr/>
          <p:nvPr/>
        </p:nvSpPr>
        <p:spPr>
          <a:xfrm>
            <a:off x="3703320" y="3063240"/>
            <a:ext cx="2834640" cy="1844565"/>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tat"/>
          <p:cNvSpPr txBox="1"/>
          <p:nvPr/>
        </p:nvSpPr>
        <p:spPr>
          <a:xfrm>
            <a:off x="3703320" y="3186211"/>
            <a:ext cx="2834640" cy="1014511"/>
          </a:xfrm>
          <a:prstGeom prst="rect">
            <a:avLst/>
          </a:prstGeom>
          <a:noFill/>
        </p:spPr>
        <p:txBody>
          <a:bodyPr wrap="square" anchor="ctr" lIns="45720" rIns="45720">
            <a:spAutoFit/>
          </a:bodyPr>
          <a:lstStyle/>
          <a:p>
            <a:pPr algn="ctr">
              <a:spcAft>
                <a:spcPts val="0"/>
              </a:spcAft>
            </a:pPr>
            <a:r>
              <a:rPr sz="5300" b="0" i="0">
                <a:solidFill>
                  <a:srgbClr val="1A56B0"/>
                </a:solidFill>
                <a:latin typeface="Times New Roman"/>
              </a:rPr>
              <a:t>119</a:t>
            </a:r>
          </a:p>
        </p:txBody>
      </p:sp>
      <p:sp>
        <p:nvSpPr>
          <p:cNvPr id="45" name="TextBox 44"/>
          <p:cNvSpPr txBox="1"/>
          <p:nvPr/>
        </p:nvSpPr>
        <p:spPr>
          <a:xfrm>
            <a:off x="3840480" y="4169979"/>
            <a:ext cx="2560320" cy="700934"/>
          </a:xfrm>
          <a:prstGeom prst="rect">
            <a:avLst/>
          </a:prstGeom>
          <a:noFill/>
        </p:spPr>
        <p:txBody>
          <a:bodyPr wrap="square" anchor="t" lIns="45720" rIns="45720">
            <a:spAutoFit/>
          </a:bodyPr>
          <a:lstStyle/>
          <a:p>
            <a:pPr algn="ctr">
              <a:spcAft>
                <a:spcPts val="0"/>
              </a:spcAft>
            </a:pPr>
            <a:r>
              <a:rPr sz="2000" b="0" i="0">
                <a:solidFill>
                  <a:srgbClr val="555555"/>
                </a:solidFill>
                <a:latin typeface="Times New Roman"/>
              </a:rPr>
              <a:t>integración con SQL Server</a:t>
            </a:r>
          </a:p>
        </p:txBody>
      </p:sp>
      <p:sp>
        <p:nvSpPr>
          <p:cNvPr id="46" name="Rounded Rectangle 45"/>
          <p:cNvSpPr/>
          <p:nvPr/>
        </p:nvSpPr>
        <p:spPr>
          <a:xfrm>
            <a:off x="685800" y="5071766"/>
            <a:ext cx="2834640" cy="1844565"/>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tat"/>
          <p:cNvSpPr txBox="1"/>
          <p:nvPr/>
        </p:nvSpPr>
        <p:spPr>
          <a:xfrm>
            <a:off x="685800" y="5194737"/>
            <a:ext cx="2834640" cy="1014511"/>
          </a:xfrm>
          <a:prstGeom prst="rect">
            <a:avLst/>
          </a:prstGeom>
          <a:noFill/>
        </p:spPr>
        <p:txBody>
          <a:bodyPr wrap="square" anchor="ctr" lIns="45720" rIns="45720">
            <a:spAutoFit/>
          </a:bodyPr>
          <a:lstStyle/>
          <a:p>
            <a:pPr algn="ctr">
              <a:spcAft>
                <a:spcPts val="0"/>
              </a:spcAft>
            </a:pPr>
            <a:r>
              <a:rPr sz="5300" b="0" i="0">
                <a:solidFill>
                  <a:srgbClr val="1A56B0"/>
                </a:solidFill>
                <a:latin typeface="Times New Roman"/>
              </a:rPr>
              <a:t>6</a:t>
            </a:r>
          </a:p>
        </p:txBody>
      </p:sp>
      <p:sp>
        <p:nvSpPr>
          <p:cNvPr id="48" name="TextBox 47"/>
          <p:cNvSpPr txBox="1"/>
          <p:nvPr/>
        </p:nvSpPr>
        <p:spPr>
          <a:xfrm>
            <a:off x="822960" y="6178506"/>
            <a:ext cx="2560320" cy="700934"/>
          </a:xfrm>
          <a:prstGeom prst="rect">
            <a:avLst/>
          </a:prstGeom>
          <a:noFill/>
        </p:spPr>
        <p:txBody>
          <a:bodyPr wrap="square" anchor="t" lIns="45720" rIns="45720">
            <a:spAutoFit/>
          </a:bodyPr>
          <a:lstStyle/>
          <a:p>
            <a:pPr algn="ctr">
              <a:spcAft>
                <a:spcPts val="0"/>
              </a:spcAft>
            </a:pPr>
            <a:r>
              <a:rPr sz="2000" b="0" i="0">
                <a:solidFill>
                  <a:srgbClr val="555555"/>
                </a:solidFill>
                <a:latin typeface="Times New Roman"/>
              </a:rPr>
              <a:t>unitarias del frontend</a:t>
            </a:r>
          </a:p>
        </p:txBody>
      </p:sp>
      <p:sp>
        <p:nvSpPr>
          <p:cNvPr id="49" name="Rounded Rectangle 48"/>
          <p:cNvSpPr/>
          <p:nvPr/>
        </p:nvSpPr>
        <p:spPr>
          <a:xfrm>
            <a:off x="3703320" y="5071766"/>
            <a:ext cx="2834640" cy="1844565"/>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tat"/>
          <p:cNvSpPr txBox="1"/>
          <p:nvPr/>
        </p:nvSpPr>
        <p:spPr>
          <a:xfrm>
            <a:off x="3703320" y="5194737"/>
            <a:ext cx="2834640" cy="1014511"/>
          </a:xfrm>
          <a:prstGeom prst="rect">
            <a:avLst/>
          </a:prstGeom>
          <a:noFill/>
        </p:spPr>
        <p:txBody>
          <a:bodyPr wrap="square" anchor="ctr" lIns="45720" rIns="45720">
            <a:spAutoFit/>
          </a:bodyPr>
          <a:lstStyle/>
          <a:p>
            <a:pPr algn="ctr">
              <a:spcAft>
                <a:spcPts val="0"/>
              </a:spcAft>
            </a:pPr>
            <a:r>
              <a:rPr sz="5300" b="0" i="0">
                <a:solidFill>
                  <a:srgbClr val="1A56B0"/>
                </a:solidFill>
                <a:latin typeface="Times New Roman"/>
              </a:rPr>
              <a:t>9</a:t>
            </a:r>
          </a:p>
        </p:txBody>
      </p:sp>
      <p:sp>
        <p:nvSpPr>
          <p:cNvPr id="51" name="TextBox 50"/>
          <p:cNvSpPr txBox="1"/>
          <p:nvPr/>
        </p:nvSpPr>
        <p:spPr>
          <a:xfrm>
            <a:off x="3840480" y="6178506"/>
            <a:ext cx="2560320" cy="700934"/>
          </a:xfrm>
          <a:prstGeom prst="rect">
            <a:avLst/>
          </a:prstGeom>
          <a:noFill/>
        </p:spPr>
        <p:txBody>
          <a:bodyPr wrap="square" anchor="t" lIns="45720" rIns="45720">
            <a:spAutoFit/>
          </a:bodyPr>
          <a:lstStyle/>
          <a:p>
            <a:pPr algn="ctr">
              <a:spcAft>
                <a:spcPts val="0"/>
              </a:spcAft>
            </a:pPr>
            <a:r>
              <a:rPr sz="2000" b="0" i="0">
                <a:solidFill>
                  <a:srgbClr val="555555"/>
                </a:solidFill>
                <a:latin typeface="Times New Roman"/>
              </a:rPr>
              <a:t>escenarios de navegador</a:t>
            </a:r>
          </a:p>
        </p:txBody>
      </p:sp>
      <p:sp>
        <p:nvSpPr>
          <p:cNvPr id="52" name="Rounded Rectangle 51"/>
          <p:cNvSpPr/>
          <p:nvPr/>
        </p:nvSpPr>
        <p:spPr>
          <a:xfrm>
            <a:off x="685800" y="7162274"/>
            <a:ext cx="5852160" cy="1844565"/>
          </a:xfrm>
          <a:prstGeom prst="roundRect">
            <a:avLst>
              <a:gd name="adj" fmla="val 6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5800" y="7203264"/>
            <a:ext cx="5852160" cy="1065748"/>
          </a:xfrm>
          <a:prstGeom prst="rect">
            <a:avLst/>
          </a:prstGeom>
          <a:noFill/>
        </p:spPr>
        <p:txBody>
          <a:bodyPr wrap="square" anchor="ctr" lIns="45720" rIns="45720">
            <a:spAutoFit/>
          </a:bodyPr>
          <a:lstStyle/>
          <a:p>
            <a:pPr algn="ctr">
              <a:spcAft>
                <a:spcPts val="0"/>
              </a:spcAft>
            </a:pPr>
            <a:r>
              <a:rPr sz="7100" b="0" i="0">
                <a:solidFill>
                  <a:srgbClr val="FFFFFF"/>
                </a:solidFill>
                <a:latin typeface="Times New Roman"/>
              </a:rPr>
              <a:t>232</a:t>
            </a:r>
          </a:p>
        </p:txBody>
      </p:sp>
      <p:sp>
        <p:nvSpPr>
          <p:cNvPr id="54" name="TextBox 53"/>
          <p:cNvSpPr txBox="1"/>
          <p:nvPr/>
        </p:nvSpPr>
        <p:spPr>
          <a:xfrm>
            <a:off x="685800" y="8228023"/>
            <a:ext cx="5852160" cy="655845"/>
          </a:xfrm>
          <a:prstGeom prst="rect">
            <a:avLst/>
          </a:prstGeom>
          <a:noFill/>
        </p:spPr>
        <p:txBody>
          <a:bodyPr wrap="square" anchor="t" lIns="45720" rIns="45720">
            <a:spAutoFit/>
          </a:bodyPr>
          <a:lstStyle/>
          <a:p>
            <a:pPr algn="ctr">
              <a:spcAft>
                <a:spcPts val="0"/>
              </a:spcAft>
            </a:pPr>
            <a:r>
              <a:rPr sz="2400" b="0" i="0">
                <a:solidFill>
                  <a:srgbClr val="FFFFFF"/>
                </a:solidFill>
                <a:latin typeface="Times New Roman"/>
              </a:rPr>
              <a:t>pruebas aprobadas</a:t>
            </a:r>
          </a:p>
        </p:txBody>
      </p:sp>
      <p:pic>
        <p:nvPicPr>
          <p:cNvPr id="55" name="Figura 31" descr="Figura_31_pruebas_automatizadas.png"/>
          <p:cNvPicPr>
            <a:picLocks noChangeAspect="1"/>
          </p:cNvPicPr>
          <p:nvPr/>
        </p:nvPicPr>
        <p:blipFill>
          <a:blip r:embed="rId2"/>
          <a:stretch>
            <a:fillRect/>
          </a:stretch>
        </p:blipFill>
        <p:spPr>
          <a:xfrm>
            <a:off x="7397600" y="2981259"/>
            <a:ext cx="9619279" cy="5719099"/>
          </a:xfrm>
          <a:prstGeom prst="rect">
            <a:avLst/>
          </a:prstGeom>
        </p:spPr>
      </p:pic>
      <p:sp>
        <p:nvSpPr>
          <p:cNvPr id="56" name="TextBox 55"/>
          <p:cNvSpPr txBox="1"/>
          <p:nvPr/>
        </p:nvSpPr>
        <p:spPr>
          <a:xfrm>
            <a:off x="6812280" y="8746078"/>
            <a:ext cx="10789920" cy="320040"/>
          </a:xfrm>
          <a:prstGeom prst="rect">
            <a:avLst/>
          </a:prstGeom>
          <a:noFill/>
        </p:spPr>
        <p:txBody>
          <a:bodyPr wrap="square" anchor="t" lIns="45720" rIns="45720">
            <a:spAutoFit/>
          </a:bodyPr>
          <a:lstStyle/>
          <a:p>
            <a:pPr algn="ctr">
              <a:spcAft>
                <a:spcPts val="0"/>
              </a:spcAft>
            </a:pPr>
            <a:r>
              <a:rPr sz="1600" b="0" i="0">
                <a:solidFill>
                  <a:srgbClr val="555555"/>
                </a:solidFill>
                <a:latin typeface="Times New Roman"/>
              </a:rPr>
              <a:t>Figura 31. Ejecución de las pruebas unitarias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10. Resultados: evidencia con identidades reales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37</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graphicFrame>
        <p:nvGraphicFramePr>
          <p:cNvPr id="40" name="Table 39"/>
          <p:cNvGraphicFramePr>
            <a:graphicFrameLocks noGrp="1"/>
          </p:cNvGraphicFramePr>
          <p:nvPr/>
        </p:nvGraphicFramePr>
        <p:xfrm>
          <a:off x="685800" y="3145220"/>
          <a:ext cx="16916400" cy="5755041"/>
        </p:xfrm>
        <a:graphic>
          <a:graphicData uri="http://schemas.openxmlformats.org/drawingml/2006/table">
            <a:tbl>
              <a:tblPr firstRow="1" bandRow="1">
                <a:tableStyleId>{5C22544A-7EE6-4342-B048-85BDC9FD1C3A}</a:tableStyleId>
              </a:tblPr>
              <a:tblGrid>
                <a:gridCol w="5486400"/>
                <a:gridCol w="2926080"/>
                <a:gridCol w="8503920"/>
              </a:tblGrid>
              <a:tr h="639449">
                <a:tc>
                  <a:txBody>
                    <a:bodyPr wrap="square"/>
                    <a:lstStyle/>
                    <a:p>
                      <a:r>
                        <a:rPr sz="2400" b="1" i="0">
                          <a:solidFill>
                            <a:srgbClr val="FFFFFF"/>
                          </a:solidFill>
                          <a:latin typeface="Times New Roman Bold"/>
                        </a:rPr>
                        <a:t>Operación</a:t>
                      </a:r>
                    </a:p>
                  </a:txBody>
                  <a:tcPr marL="73152" marR="73152" marT="27432" marB="27432" anchor="ctr">
                    <a:solidFill>
                      <a:srgbClr val="4285F4"/>
                    </a:solidFill>
                  </a:tcPr>
                </a:tc>
                <a:tc>
                  <a:txBody>
                    <a:bodyPr wrap="square"/>
                    <a:lstStyle/>
                    <a:p>
                      <a:r>
                        <a:rPr sz="2400" b="1" i="0">
                          <a:solidFill>
                            <a:srgbClr val="FFFFFF"/>
                          </a:solidFill>
                          <a:latin typeface="Times New Roman Bold"/>
                        </a:rPr>
                        <a:t>Usuario</a:t>
                      </a:r>
                    </a:p>
                  </a:txBody>
                  <a:tcPr marL="73152" marR="73152" marT="27432" marB="27432" anchor="ctr">
                    <a:solidFill>
                      <a:srgbClr val="4285F4"/>
                    </a:solidFill>
                  </a:tcPr>
                </a:tc>
                <a:tc>
                  <a:txBody>
                    <a:bodyPr wrap="square"/>
                    <a:lstStyle/>
                    <a:p>
                      <a:r>
                        <a:rPr sz="2400" b="1" i="0">
                          <a:solidFill>
                            <a:srgbClr val="FFFFFF"/>
                          </a:solidFill>
                          <a:latin typeface="Times New Roman Bold"/>
                        </a:rPr>
                        <a:t>Resultado</a:t>
                      </a:r>
                    </a:p>
                  </a:txBody>
                  <a:tcPr marL="73152" marR="73152" marT="27432" marB="27432" anchor="ctr">
                    <a:solidFill>
                      <a:srgbClr val="4285F4"/>
                    </a:solidFill>
                  </a:tcPr>
                </a:tc>
              </a:tr>
              <a:tr h="639449">
                <a:tc>
                  <a:txBody>
                    <a:bodyPr wrap="square"/>
                    <a:lstStyle/>
                    <a:p>
                      <a:r>
                        <a:rPr sz="2200" b="0" i="0">
                          <a:solidFill>
                            <a:srgbClr val="1E1E1E"/>
                          </a:solidFill>
                          <a:latin typeface="Times New Roman"/>
                        </a:rPr>
                        <a:t>Consultar perfil (/auth/me)</a:t>
                      </a:r>
                    </a:p>
                  </a:txBody>
                  <a:tcPr marL="73152" marR="73152" marT="27432" marB="27432" anchor="ctr">
                    <a:solidFill>
                      <a:srgbClr val="F2F6FC"/>
                    </a:solidFill>
                  </a:tcPr>
                </a:tc>
                <a:tc>
                  <a:txBody>
                    <a:bodyPr wrap="square"/>
                    <a:lstStyle/>
                    <a:p>
                      <a:r>
                        <a:rPr sz="2200" b="0" i="0">
                          <a:solidFill>
                            <a:srgbClr val="1E1E1E"/>
                          </a:solidFill>
                          <a:latin typeface="Times New Roman"/>
                        </a:rPr>
                        <a:t>Administrador</a:t>
                      </a:r>
                    </a:p>
                  </a:txBody>
                  <a:tcPr marL="73152" marR="73152" marT="27432" marB="27432" anchor="ctr">
                    <a:solidFill>
                      <a:srgbClr val="F2F6FC"/>
                    </a:solidFill>
                  </a:tcPr>
                </a:tc>
                <a:tc>
                  <a:txBody>
                    <a:bodyPr wrap="square"/>
                    <a:lstStyle/>
                    <a:p>
                      <a:r>
                        <a:rPr sz="2200" b="0" i="0">
                          <a:solidFill>
                            <a:srgbClr val="1E1E1E"/>
                          </a:solidFill>
                          <a:latin typeface="Times New Roman"/>
                        </a:rPr>
                        <a:t>200, perfil 1</a:t>
                      </a:r>
                    </a:p>
                  </a:txBody>
                  <a:tcPr marL="73152" marR="73152" marT="27432" marB="27432" anchor="ctr">
                    <a:solidFill>
                      <a:srgbClr val="F2F6FC"/>
                    </a:solidFill>
                  </a:tcPr>
                </a:tc>
              </a:tr>
              <a:tr h="639449">
                <a:tc>
                  <a:txBody>
                    <a:bodyPr wrap="square"/>
                    <a:lstStyle/>
                    <a:p>
                      <a:r>
                        <a:rPr sz="2200" b="0" i="0">
                          <a:solidFill>
                            <a:srgbClr val="1E1E1E"/>
                          </a:solidFill>
                          <a:latin typeface="Times New Roman"/>
                        </a:rPr>
                        <a:t>Entrada de 5 unidades</a:t>
                      </a:r>
                    </a:p>
                  </a:txBody>
                  <a:tcPr marL="73152" marR="73152" marT="27432" marB="27432" anchor="ctr">
                    <a:solidFill>
                      <a:srgbClr val="FFFFFF"/>
                    </a:solidFill>
                  </a:tcPr>
                </a:tc>
                <a:tc>
                  <a:txBody>
                    <a:bodyPr wrap="square"/>
                    <a:lstStyle/>
                    <a:p>
                      <a:r>
                        <a:rPr sz="2200" b="0" i="0">
                          <a:solidFill>
                            <a:srgbClr val="1E1E1E"/>
                          </a:solidFill>
                          <a:latin typeface="Times New Roman"/>
                        </a:rPr>
                        <a:t>Administrador</a:t>
                      </a:r>
                    </a:p>
                  </a:txBody>
                  <a:tcPr marL="73152" marR="73152" marT="27432" marB="27432" anchor="ctr">
                    <a:solidFill>
                      <a:srgbClr val="FFFFFF"/>
                    </a:solidFill>
                  </a:tcPr>
                </a:tc>
                <a:tc>
                  <a:txBody>
                    <a:bodyPr wrap="square"/>
                    <a:lstStyle/>
                    <a:p>
                      <a:r>
                        <a:rPr sz="2200" b="0" i="0">
                          <a:solidFill>
                            <a:srgbClr val="1E1E1E"/>
                          </a:solidFill>
                          <a:latin typeface="Times New Roman"/>
                        </a:rPr>
                        <a:t>201; stock 0 → 5</a:t>
                      </a:r>
                    </a:p>
                  </a:txBody>
                  <a:tcPr marL="73152" marR="73152" marT="27432" marB="27432" anchor="ctr">
                    <a:solidFill>
                      <a:srgbClr val="FFFFFF"/>
                    </a:solidFill>
                  </a:tcPr>
                </a:tc>
              </a:tr>
              <a:tr h="639449">
                <a:tc>
                  <a:txBody>
                    <a:bodyPr wrap="square"/>
                    <a:lstStyle/>
                    <a:p>
                      <a:r>
                        <a:rPr sz="2200" b="0" i="0">
                          <a:solidFill>
                            <a:srgbClr val="1E1E1E"/>
                          </a:solidFill>
                          <a:latin typeface="Times New Roman"/>
                        </a:rPr>
                        <a:t>Salida de 2 unidades</a:t>
                      </a:r>
                    </a:p>
                  </a:txBody>
                  <a:tcPr marL="73152" marR="73152" marT="27432" marB="27432" anchor="ctr">
                    <a:solidFill>
                      <a:srgbClr val="F2F6FC"/>
                    </a:solidFill>
                  </a:tcPr>
                </a:tc>
                <a:tc>
                  <a:txBody>
                    <a:bodyPr wrap="square"/>
                    <a:lstStyle/>
                    <a:p>
                      <a:r>
                        <a:rPr sz="2200" b="0" i="0">
                          <a:solidFill>
                            <a:srgbClr val="1E1E1E"/>
                          </a:solidFill>
                          <a:latin typeface="Times New Roman"/>
                        </a:rPr>
                        <a:t>Mecánico</a:t>
                      </a:r>
                    </a:p>
                  </a:txBody>
                  <a:tcPr marL="73152" marR="73152" marT="27432" marB="27432" anchor="ctr">
                    <a:solidFill>
                      <a:srgbClr val="F2F6FC"/>
                    </a:solidFill>
                  </a:tcPr>
                </a:tc>
                <a:tc>
                  <a:txBody>
                    <a:bodyPr wrap="square"/>
                    <a:lstStyle/>
                    <a:p>
                      <a:r>
                        <a:rPr sz="2200" b="0" i="0">
                          <a:solidFill>
                            <a:srgbClr val="1E1E1E"/>
                          </a:solidFill>
                          <a:latin typeface="Times New Roman"/>
                        </a:rPr>
                        <a:t>201; stock 5 → 3</a:t>
                      </a:r>
                    </a:p>
                  </a:txBody>
                  <a:tcPr marL="73152" marR="73152" marT="27432" marB="27432" anchor="ctr">
                    <a:solidFill>
                      <a:srgbClr val="F2F6FC"/>
                    </a:solidFill>
                  </a:tcPr>
                </a:tc>
              </a:tr>
              <a:tr h="639449">
                <a:tc>
                  <a:txBody>
                    <a:bodyPr wrap="square"/>
                    <a:lstStyle/>
                    <a:p>
                      <a:r>
                        <a:rPr sz="2200" b="0" i="0">
                          <a:solidFill>
                            <a:srgbClr val="1E1E1E"/>
                          </a:solidFill>
                          <a:latin typeface="Times New Roman"/>
                        </a:rPr>
                        <a:t>Registrar una entrada</a:t>
                      </a:r>
                    </a:p>
                  </a:txBody>
                  <a:tcPr marL="73152" marR="73152" marT="27432" marB="27432" anchor="ctr">
                    <a:solidFill>
                      <a:srgbClr val="FFFFFF"/>
                    </a:solidFill>
                  </a:tcPr>
                </a:tc>
                <a:tc>
                  <a:txBody>
                    <a:bodyPr wrap="square"/>
                    <a:lstStyle/>
                    <a:p>
                      <a:r>
                        <a:rPr sz="2200" b="0" i="0">
                          <a:solidFill>
                            <a:srgbClr val="1E1E1E"/>
                          </a:solidFill>
                          <a:latin typeface="Times New Roman"/>
                        </a:rPr>
                        <a:t>Mecánico</a:t>
                      </a:r>
                    </a:p>
                  </a:txBody>
                  <a:tcPr marL="73152" marR="73152" marT="27432" marB="27432" anchor="ctr">
                    <a:solidFill>
                      <a:srgbClr val="FFFFFF"/>
                    </a:solidFill>
                  </a:tcPr>
                </a:tc>
                <a:tc>
                  <a:txBody>
                    <a:bodyPr wrap="square"/>
                    <a:lstStyle/>
                    <a:p>
                      <a:r>
                        <a:rPr sz="2200" b="0" i="0">
                          <a:solidFill>
                            <a:srgbClr val="1E1E1E"/>
                          </a:solidFill>
                          <a:latin typeface="Times New Roman"/>
                        </a:rPr>
                        <a:t>403 ROLE_FORBIDDEN; stock sin cambios</a:t>
                      </a:r>
                    </a:p>
                  </a:txBody>
                  <a:tcPr marL="73152" marR="73152" marT="27432" marB="27432" anchor="ctr">
                    <a:solidFill>
                      <a:srgbClr val="FFFFFF"/>
                    </a:solidFill>
                  </a:tcPr>
                </a:tc>
              </a:tr>
              <a:tr h="639449">
                <a:tc>
                  <a:txBody>
                    <a:bodyPr wrap="square"/>
                    <a:lstStyle/>
                    <a:p>
                      <a:r>
                        <a:rPr sz="2200" b="0" i="0">
                          <a:solidFill>
                            <a:srgbClr val="1E1E1E"/>
                          </a:solidFill>
                          <a:latin typeface="Times New Roman"/>
                        </a:rPr>
                        <a:t>Salida 3 → 2 (mínimo 2)</a:t>
                      </a:r>
                    </a:p>
                  </a:txBody>
                  <a:tcPr marL="73152" marR="73152" marT="27432" marB="27432" anchor="ctr">
                    <a:solidFill>
                      <a:srgbClr val="F2F6FC"/>
                    </a:solidFill>
                  </a:tcPr>
                </a:tc>
                <a:tc>
                  <a:txBody>
                    <a:bodyPr wrap="square"/>
                    <a:lstStyle/>
                    <a:p>
                      <a:r>
                        <a:rPr sz="2200" b="0" i="0">
                          <a:solidFill>
                            <a:srgbClr val="1E1E1E"/>
                          </a:solidFill>
                          <a:latin typeface="Times New Roman"/>
                        </a:rPr>
                        <a:t>Mecánico</a:t>
                      </a:r>
                    </a:p>
                  </a:txBody>
                  <a:tcPr marL="73152" marR="73152" marT="27432" marB="27432" anchor="ctr">
                    <a:solidFill>
                      <a:srgbClr val="F2F6FC"/>
                    </a:solidFill>
                  </a:tcPr>
                </a:tc>
                <a:tc>
                  <a:txBody>
                    <a:bodyPr wrap="square"/>
                    <a:lstStyle/>
                    <a:p>
                      <a:r>
                        <a:rPr sz="2200" b="0" i="0">
                          <a:solidFill>
                            <a:srgbClr val="1E1E1E"/>
                          </a:solidFill>
                          <a:latin typeface="Times New Roman"/>
                        </a:rPr>
                        <a:t>201; alerta y aviso PENDIENTE</a:t>
                      </a:r>
                    </a:p>
                  </a:txBody>
                  <a:tcPr marL="73152" marR="73152" marT="27432" marB="27432" anchor="ctr">
                    <a:solidFill>
                      <a:srgbClr val="F2F6FC"/>
                    </a:solidFill>
                  </a:tcPr>
                </a:tc>
              </a:tr>
              <a:tr h="639449">
                <a:tc>
                  <a:txBody>
                    <a:bodyPr wrap="square"/>
                    <a:lstStyle/>
                    <a:p>
                      <a:r>
                        <a:rPr sz="2200" b="0" i="0">
                          <a:solidFill>
                            <a:srgbClr val="1E1E1E"/>
                          </a:solidFill>
                          <a:latin typeface="Times New Roman"/>
                        </a:rPr>
                        <a:t>Entrada 2 → 4</a:t>
                      </a:r>
                    </a:p>
                  </a:txBody>
                  <a:tcPr marL="73152" marR="73152" marT="27432" marB="27432" anchor="ctr">
                    <a:solidFill>
                      <a:srgbClr val="FFFFFF"/>
                    </a:solidFill>
                  </a:tcPr>
                </a:tc>
                <a:tc>
                  <a:txBody>
                    <a:bodyPr wrap="square"/>
                    <a:lstStyle/>
                    <a:p>
                      <a:r>
                        <a:rPr sz="2200" b="0" i="0">
                          <a:solidFill>
                            <a:srgbClr val="1E1E1E"/>
                          </a:solidFill>
                          <a:latin typeface="Times New Roman"/>
                        </a:rPr>
                        <a:t>Administrador</a:t>
                      </a:r>
                    </a:p>
                  </a:txBody>
                  <a:tcPr marL="73152" marR="73152" marT="27432" marB="27432" anchor="ctr">
                    <a:solidFill>
                      <a:srgbClr val="FFFFFF"/>
                    </a:solidFill>
                  </a:tcPr>
                </a:tc>
                <a:tc>
                  <a:txBody>
                    <a:bodyPr wrap="square"/>
                    <a:lstStyle/>
                    <a:p>
                      <a:r>
                        <a:rPr sz="2200" b="0" i="0">
                          <a:solidFill>
                            <a:srgbClr val="1E1E1E"/>
                          </a:solidFill>
                          <a:latin typeface="Times New Roman"/>
                        </a:rPr>
                        <a:t>201; alerta ATENDIDA, aviso CANCELADO</a:t>
                      </a:r>
                    </a:p>
                  </a:txBody>
                  <a:tcPr marL="73152" marR="73152" marT="27432" marB="27432" anchor="ctr">
                    <a:solidFill>
                      <a:srgbClr val="FFFFFF"/>
                    </a:solidFill>
                  </a:tcPr>
                </a:tc>
              </a:tr>
              <a:tr h="639449">
                <a:tc>
                  <a:txBody>
                    <a:bodyPr wrap="square"/>
                    <a:lstStyle/>
                    <a:p>
                      <a:r>
                        <a:rPr sz="2200" b="0" i="0">
                          <a:solidFill>
                            <a:srgbClr val="1E1E1E"/>
                          </a:solidFill>
                          <a:latin typeface="Times New Roman"/>
                        </a:rPr>
                        <a:t>Editar con versión antigua</a:t>
                      </a:r>
                    </a:p>
                  </a:txBody>
                  <a:tcPr marL="73152" marR="73152" marT="27432" marB="27432" anchor="ctr">
                    <a:solidFill>
                      <a:srgbClr val="F2F6FC"/>
                    </a:solidFill>
                  </a:tcPr>
                </a:tc>
                <a:tc>
                  <a:txBody>
                    <a:bodyPr wrap="square"/>
                    <a:lstStyle/>
                    <a:p>
                      <a:r>
                        <a:rPr sz="2200" b="0" i="0">
                          <a:solidFill>
                            <a:srgbClr val="1E1E1E"/>
                          </a:solidFill>
                          <a:latin typeface="Times New Roman"/>
                        </a:rPr>
                        <a:t>Administrador</a:t>
                      </a:r>
                    </a:p>
                  </a:txBody>
                  <a:tcPr marL="73152" marR="73152" marT="27432" marB="27432" anchor="ctr">
                    <a:solidFill>
                      <a:srgbClr val="F2F6FC"/>
                    </a:solidFill>
                  </a:tcPr>
                </a:tc>
                <a:tc>
                  <a:txBody>
                    <a:bodyPr wrap="square"/>
                    <a:lstStyle/>
                    <a:p>
                      <a:r>
                        <a:rPr sz="2200" b="0" i="0">
                          <a:solidFill>
                            <a:srgbClr val="1E1E1E"/>
                          </a:solidFill>
                          <a:latin typeface="Times New Roman"/>
                        </a:rPr>
                        <a:t>412 STALE_VERSION</a:t>
                      </a:r>
                    </a:p>
                  </a:txBody>
                  <a:tcPr marL="73152" marR="73152" marT="27432" marB="27432" anchor="ctr">
                    <a:solidFill>
                      <a:srgbClr val="F2F6FC"/>
                    </a:solidFill>
                  </a:tcPr>
                </a:tc>
              </a:tr>
              <a:tr h="639449">
                <a:tc>
                  <a:txBody>
                    <a:bodyPr wrap="square"/>
                    <a:lstStyle/>
                    <a:p>
                      <a:r>
                        <a:rPr sz="2200" b="0" i="0">
                          <a:solidFill>
                            <a:srgbClr val="1E1E1E"/>
                          </a:solidFill>
                          <a:latin typeface="Times New Roman"/>
                        </a:rPr>
                        <a:t>Exportar PDF y Excel</a:t>
                      </a:r>
                    </a:p>
                  </a:txBody>
                  <a:tcPr marL="73152" marR="73152" marT="27432" marB="27432" anchor="ctr">
                    <a:solidFill>
                      <a:srgbClr val="FFFFFF"/>
                    </a:solidFill>
                  </a:tcPr>
                </a:tc>
                <a:tc>
                  <a:txBody>
                    <a:bodyPr wrap="square"/>
                    <a:lstStyle/>
                    <a:p>
                      <a:r>
                        <a:rPr sz="2200" b="0" i="0">
                          <a:solidFill>
                            <a:srgbClr val="1E1E1E"/>
                          </a:solidFill>
                          <a:latin typeface="Times New Roman"/>
                        </a:rPr>
                        <a:t>Administrador</a:t>
                      </a:r>
                    </a:p>
                  </a:txBody>
                  <a:tcPr marL="73152" marR="73152" marT="27432" marB="27432" anchor="ctr">
                    <a:solidFill>
                      <a:srgbClr val="FFFFFF"/>
                    </a:solidFill>
                  </a:tcPr>
                </a:tc>
                <a:tc>
                  <a:txBody>
                    <a:bodyPr wrap="square"/>
                    <a:lstStyle/>
                    <a:p>
                      <a:r>
                        <a:rPr sz="2200" b="0" i="0">
                          <a:solidFill>
                            <a:srgbClr val="1E1E1E"/>
                          </a:solidFill>
                          <a:latin typeface="Times New Roman"/>
                        </a:rPr>
                        <a:t>200; archivos generados y auditados</a:t>
                      </a:r>
                    </a:p>
                  </a:txBody>
                  <a:tcPr marL="73152" marR="73152" marT="27432" marB="27432" anchor="ctr">
                    <a:solidFill>
                      <a:srgbClr val="FFFFFF"/>
                    </a:solidFill>
                  </a:tcPr>
                </a:tc>
              </a:tr>
            </a:tbl>
          </a:graphicData>
        </a:graphic>
      </p:graphicFrame>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10. Resultados: metas de calidad</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38</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graphicFrame>
        <p:nvGraphicFramePr>
          <p:cNvPr id="40" name="Table 39"/>
          <p:cNvGraphicFramePr>
            <a:graphicFrameLocks noGrp="1"/>
          </p:cNvGraphicFramePr>
          <p:nvPr/>
        </p:nvGraphicFramePr>
        <p:xfrm>
          <a:off x="685800" y="3145220"/>
          <a:ext cx="16916400" cy="5755041"/>
        </p:xfrm>
        <a:graphic>
          <a:graphicData uri="http://schemas.openxmlformats.org/drawingml/2006/table">
            <a:tbl>
              <a:tblPr firstRow="1" bandRow="1">
                <a:tableStyleId>{5C22544A-7EE6-4342-B048-85BDC9FD1C3A}</a:tableStyleId>
              </a:tblPr>
              <a:tblGrid>
                <a:gridCol w="2255520"/>
                <a:gridCol w="4699000"/>
                <a:gridCol w="6766560"/>
                <a:gridCol w="3195320"/>
              </a:tblGrid>
              <a:tr h="639449">
                <a:tc>
                  <a:txBody>
                    <a:bodyPr wrap="square"/>
                    <a:lstStyle/>
                    <a:p>
                      <a:r>
                        <a:rPr sz="2200" b="1" i="0">
                          <a:solidFill>
                            <a:srgbClr val="FFFFFF"/>
                          </a:solidFill>
                          <a:latin typeface="Times New Roman Bold"/>
                        </a:rPr>
                        <a:t>Atributo</a:t>
                      </a:r>
                    </a:p>
                  </a:txBody>
                  <a:tcPr marL="73152" marR="73152" marT="27432" marB="27432" anchor="ctr">
                    <a:solidFill>
                      <a:srgbClr val="4285F4"/>
                    </a:solidFill>
                  </a:tcPr>
                </a:tc>
                <a:tc>
                  <a:txBody>
                    <a:bodyPr wrap="square"/>
                    <a:lstStyle/>
                    <a:p>
                      <a:r>
                        <a:rPr sz="2200" b="1" i="0">
                          <a:solidFill>
                            <a:srgbClr val="FFFFFF"/>
                          </a:solidFill>
                          <a:latin typeface="Times New Roman Bold"/>
                        </a:rPr>
                        <a:t>Meta</a:t>
                      </a:r>
                    </a:p>
                  </a:txBody>
                  <a:tcPr marL="73152" marR="73152" marT="27432" marB="27432" anchor="ctr">
                    <a:solidFill>
                      <a:srgbClr val="4285F4"/>
                    </a:solidFill>
                  </a:tcPr>
                </a:tc>
                <a:tc>
                  <a:txBody>
                    <a:bodyPr wrap="square"/>
                    <a:lstStyle/>
                    <a:p>
                      <a:r>
                        <a:rPr sz="2200" b="1" i="0">
                          <a:solidFill>
                            <a:srgbClr val="FFFFFF"/>
                          </a:solidFill>
                          <a:latin typeface="Times New Roman Bold"/>
                        </a:rPr>
                        <a:t>Resultado</a:t>
                      </a:r>
                    </a:p>
                  </a:txBody>
                  <a:tcPr marL="73152" marR="73152" marT="27432" marB="27432" anchor="ctr">
                    <a:solidFill>
                      <a:srgbClr val="4285F4"/>
                    </a:solidFill>
                  </a:tcPr>
                </a:tc>
                <a:tc>
                  <a:txBody>
                    <a:bodyPr wrap="square"/>
                    <a:lstStyle/>
                    <a:p>
                      <a:r>
                        <a:rPr sz="2200" b="1" i="0">
                          <a:solidFill>
                            <a:srgbClr val="FFFFFF"/>
                          </a:solidFill>
                          <a:latin typeface="Times New Roman Bold"/>
                        </a:rPr>
                        <a:t>Estado</a:t>
                      </a:r>
                    </a:p>
                  </a:txBody>
                  <a:tcPr marL="73152" marR="73152" marT="27432" marB="27432" anchor="ctr">
                    <a:solidFill>
                      <a:srgbClr val="4285F4"/>
                    </a:solidFill>
                  </a:tcPr>
                </a:tc>
              </a:tr>
              <a:tr h="639449">
                <a:tc>
                  <a:txBody>
                    <a:bodyPr wrap="square"/>
                    <a:lstStyle/>
                    <a:p>
                      <a:r>
                        <a:rPr sz="2100" b="0" i="0">
                          <a:solidFill>
                            <a:srgbClr val="1E1E1E"/>
                          </a:solidFill>
                          <a:latin typeface="Times New Roman"/>
                        </a:rPr>
                        <a:t>Seguridad</a:t>
                      </a:r>
                    </a:p>
                  </a:txBody>
                  <a:tcPr marL="73152" marR="73152" marT="27432" marB="27432" anchor="ctr">
                    <a:solidFill>
                      <a:srgbClr val="F2F6FC"/>
                    </a:solidFill>
                  </a:tcPr>
                </a:tc>
                <a:tc>
                  <a:txBody>
                    <a:bodyPr wrap="square"/>
                    <a:lstStyle/>
                    <a:p>
                      <a:r>
                        <a:rPr sz="2100" b="0" i="0">
                          <a:solidFill>
                            <a:srgbClr val="1E1E1E"/>
                          </a:solidFill>
                          <a:latin typeface="Times New Roman"/>
                        </a:rPr>
                        <a:t>100 % de accesos no autorizados denegados</a:t>
                      </a:r>
                    </a:p>
                  </a:txBody>
                  <a:tcPr marL="73152" marR="73152" marT="27432" marB="27432" anchor="ctr">
                    <a:solidFill>
                      <a:srgbClr val="F2F6FC"/>
                    </a:solidFill>
                  </a:tcPr>
                </a:tc>
                <a:tc>
                  <a:txBody>
                    <a:bodyPr wrap="square"/>
                    <a:lstStyle/>
                    <a:p>
                      <a:r>
                        <a:rPr sz="2100" b="0" i="0">
                          <a:solidFill>
                            <a:srgbClr val="1E1E1E"/>
                          </a:solidFill>
                          <a:latin typeface="Times New Roman"/>
                        </a:rPr>
                        <a:t>401 / 403 con identidades reales y de prueba</a:t>
                      </a:r>
                    </a:p>
                  </a:txBody>
                  <a:tcPr marL="73152" marR="73152" marT="27432" marB="27432" anchor="ctr">
                    <a:solidFill>
                      <a:srgbClr val="F2F6FC"/>
                    </a:solidFill>
                  </a:tcPr>
                </a:tc>
                <a:tc>
                  <a:txBody>
                    <a:bodyPr wrap="square"/>
                    <a:lstStyle/>
                    <a:p>
                      <a:r>
                        <a:rPr sz="2100" b="0" i="0">
                          <a:solidFill>
                            <a:srgbClr val="2D7A2D"/>
                          </a:solidFill>
                          <a:latin typeface="Times New Roman"/>
                        </a:rPr>
                        <a:t>Cumplida</a:t>
                      </a:r>
                    </a:p>
                  </a:txBody>
                  <a:tcPr marL="73152" marR="73152" marT="27432" marB="27432" anchor="ctr">
                    <a:solidFill>
                      <a:srgbClr val="F2F6FC"/>
                    </a:solidFill>
                  </a:tcPr>
                </a:tc>
              </a:tr>
              <a:tr h="639449">
                <a:tc>
                  <a:txBody>
                    <a:bodyPr wrap="square"/>
                    <a:lstStyle/>
                    <a:p>
                      <a:r>
                        <a:rPr sz="2100" b="0" i="0">
                          <a:solidFill>
                            <a:srgbClr val="1E1E1E"/>
                          </a:solidFill>
                          <a:latin typeface="Times New Roman"/>
                        </a:rPr>
                        <a:t>Integridad</a:t>
                      </a:r>
                    </a:p>
                  </a:txBody>
                  <a:tcPr marL="73152" marR="73152" marT="27432" marB="27432" anchor="ctr">
                    <a:solidFill>
                      <a:srgbClr val="FFFFFF"/>
                    </a:solidFill>
                  </a:tcPr>
                </a:tc>
                <a:tc>
                  <a:txBody>
                    <a:bodyPr wrap="square"/>
                    <a:lstStyle/>
                    <a:p>
                      <a:r>
                        <a:rPr sz="2100" b="0" i="0">
                          <a:solidFill>
                            <a:srgbClr val="1E1E1E"/>
                          </a:solidFill>
                          <a:latin typeface="Times New Roman"/>
                        </a:rPr>
                        <a:t>0 inconsistencias de stock simultáneas</a:t>
                      </a:r>
                    </a:p>
                  </a:txBody>
                  <a:tcPr marL="73152" marR="73152" marT="27432" marB="27432" anchor="ctr">
                    <a:solidFill>
                      <a:srgbClr val="FFFFFF"/>
                    </a:solidFill>
                  </a:tcPr>
                </a:tc>
                <a:tc>
                  <a:txBody>
                    <a:bodyPr wrap="square"/>
                    <a:lstStyle/>
                    <a:p>
                      <a:r>
                        <a:rPr sz="2100" b="0" i="0">
                          <a:solidFill>
                            <a:srgbClr val="1E1E1E"/>
                          </a:solidFill>
                          <a:latin typeface="Times New Roman"/>
                        </a:rPr>
                        <a:t>Sin negativos, dobles descuentos ni movimientos parciales</a:t>
                      </a:r>
                    </a:p>
                  </a:txBody>
                  <a:tcPr marL="73152" marR="73152" marT="27432" marB="27432" anchor="ctr">
                    <a:solidFill>
                      <a:srgbClr val="FFFFFF"/>
                    </a:solidFill>
                  </a:tcPr>
                </a:tc>
                <a:tc>
                  <a:txBody>
                    <a:bodyPr wrap="square"/>
                    <a:lstStyle/>
                    <a:p>
                      <a:r>
                        <a:rPr sz="2100" b="0" i="0">
                          <a:solidFill>
                            <a:srgbClr val="2D7A2D"/>
                          </a:solidFill>
                          <a:latin typeface="Times New Roman"/>
                        </a:rPr>
                        <a:t>Cumplida</a:t>
                      </a:r>
                    </a:p>
                  </a:txBody>
                  <a:tcPr marL="73152" marR="73152" marT="27432" marB="27432" anchor="ctr">
                    <a:solidFill>
                      <a:srgbClr val="FFFFFF"/>
                    </a:solidFill>
                  </a:tcPr>
                </a:tc>
              </a:tr>
              <a:tr h="639449">
                <a:tc>
                  <a:txBody>
                    <a:bodyPr wrap="square"/>
                    <a:lstStyle/>
                    <a:p>
                      <a:r>
                        <a:rPr sz="2100" b="0" i="0">
                          <a:solidFill>
                            <a:srgbClr val="1E1E1E"/>
                          </a:solidFill>
                          <a:latin typeface="Times New Roman"/>
                        </a:rPr>
                        <a:t>Auditoría</a:t>
                      </a:r>
                    </a:p>
                  </a:txBody>
                  <a:tcPr marL="73152" marR="73152" marT="27432" marB="27432" anchor="ctr">
                    <a:solidFill>
                      <a:srgbClr val="F2F6FC"/>
                    </a:solidFill>
                  </a:tcPr>
                </a:tc>
                <a:tc>
                  <a:txBody>
                    <a:bodyPr wrap="square"/>
                    <a:lstStyle/>
                    <a:p>
                      <a:r>
                        <a:rPr sz="2100" b="0" i="0">
                          <a:solidFill>
                            <a:srgbClr val="1E1E1E"/>
                          </a:solidFill>
                          <a:latin typeface="Times New Roman"/>
                        </a:rPr>
                        <a:t>Autor, fecha y saldos en cada movimiento</a:t>
                      </a:r>
                    </a:p>
                  </a:txBody>
                  <a:tcPr marL="73152" marR="73152" marT="27432" marB="27432" anchor="ctr">
                    <a:solidFill>
                      <a:srgbClr val="F2F6FC"/>
                    </a:solidFill>
                  </a:tcPr>
                </a:tc>
                <a:tc>
                  <a:txBody>
                    <a:bodyPr wrap="square"/>
                    <a:lstStyle/>
                    <a:p>
                      <a:r>
                        <a:rPr sz="2100" b="0" i="0">
                          <a:solidFill>
                            <a:srgbClr val="1E1E1E"/>
                          </a:solidFill>
                          <a:latin typeface="Times New Roman"/>
                        </a:rPr>
                        <a:t>Historial y auditoría inmutables por trigger</a:t>
                      </a:r>
                    </a:p>
                  </a:txBody>
                  <a:tcPr marL="73152" marR="73152" marT="27432" marB="27432" anchor="ctr">
                    <a:solidFill>
                      <a:srgbClr val="F2F6FC"/>
                    </a:solidFill>
                  </a:tcPr>
                </a:tc>
                <a:tc>
                  <a:txBody>
                    <a:bodyPr wrap="square"/>
                    <a:lstStyle/>
                    <a:p>
                      <a:r>
                        <a:rPr sz="2100" b="0" i="0">
                          <a:solidFill>
                            <a:srgbClr val="2D7A2D"/>
                          </a:solidFill>
                          <a:latin typeface="Times New Roman"/>
                        </a:rPr>
                        <a:t>Cumplida</a:t>
                      </a:r>
                    </a:p>
                  </a:txBody>
                  <a:tcPr marL="73152" marR="73152" marT="27432" marB="27432" anchor="ctr">
                    <a:solidFill>
                      <a:srgbClr val="F2F6FC"/>
                    </a:solidFill>
                  </a:tcPr>
                </a:tc>
              </a:tr>
              <a:tr h="639449">
                <a:tc>
                  <a:txBody>
                    <a:bodyPr wrap="square"/>
                    <a:lstStyle/>
                    <a:p>
                      <a:r>
                        <a:rPr sz="2100" b="0" i="0">
                          <a:solidFill>
                            <a:srgbClr val="1E1E1E"/>
                          </a:solidFill>
                          <a:latin typeface="Times New Roman"/>
                        </a:rPr>
                        <a:t>Fiabilidad</a:t>
                      </a:r>
                    </a:p>
                  </a:txBody>
                  <a:tcPr marL="73152" marR="73152" marT="27432" marB="27432" anchor="ctr">
                    <a:solidFill>
                      <a:srgbClr val="FFFFFF"/>
                    </a:solidFill>
                  </a:tcPr>
                </a:tc>
                <a:tc>
                  <a:txBody>
                    <a:bodyPr wrap="square"/>
                    <a:lstStyle/>
                    <a:p>
                      <a:r>
                        <a:rPr sz="2100" b="0" i="0">
                          <a:solidFill>
                            <a:srgbClr val="1E1E1E"/>
                          </a:solidFill>
                          <a:latin typeface="Times New Roman"/>
                        </a:rPr>
                        <a:t>Ningún aviso perdido</a:t>
                      </a:r>
                    </a:p>
                  </a:txBody>
                  <a:tcPr marL="73152" marR="73152" marT="27432" marB="27432" anchor="ctr">
                    <a:solidFill>
                      <a:srgbClr val="FFFFFF"/>
                    </a:solidFill>
                  </a:tcPr>
                </a:tc>
                <a:tc>
                  <a:txBody>
                    <a:bodyPr wrap="square"/>
                    <a:lstStyle/>
                    <a:p>
                      <a:r>
                        <a:rPr sz="2100" b="0" i="0">
                          <a:solidFill>
                            <a:srgbClr val="1E1E1E"/>
                          </a:solidFill>
                          <a:latin typeface="Times New Roman"/>
                        </a:rPr>
                        <a:t>Outbox con reservas y hasta 5 intentos</a:t>
                      </a:r>
                    </a:p>
                  </a:txBody>
                  <a:tcPr marL="73152" marR="73152" marT="27432" marB="27432" anchor="ctr">
                    <a:solidFill>
                      <a:srgbClr val="FFFFFF"/>
                    </a:solidFill>
                  </a:tcPr>
                </a:tc>
                <a:tc>
                  <a:txBody>
                    <a:bodyPr wrap="square"/>
                    <a:lstStyle/>
                    <a:p>
                      <a:r>
                        <a:rPr sz="2100" b="0" i="0">
                          <a:solidFill>
                            <a:srgbClr val="1E1E1E"/>
                          </a:solidFill>
                          <a:latin typeface="Times New Roman"/>
                        </a:rPr>
                        <a:t>Cumplida en simulación</a:t>
                      </a:r>
                    </a:p>
                  </a:txBody>
                  <a:tcPr marL="73152" marR="73152" marT="27432" marB="27432" anchor="ctr">
                    <a:solidFill>
                      <a:srgbClr val="FFFFFF"/>
                    </a:solidFill>
                  </a:tcPr>
                </a:tc>
              </a:tr>
              <a:tr h="639449">
                <a:tc>
                  <a:txBody>
                    <a:bodyPr wrap="square"/>
                    <a:lstStyle/>
                    <a:p>
                      <a:r>
                        <a:rPr sz="2100" b="0" i="0">
                          <a:solidFill>
                            <a:srgbClr val="1E1E1E"/>
                          </a:solidFill>
                          <a:latin typeface="Times New Roman"/>
                        </a:rPr>
                        <a:t>Mantenibilidad</a:t>
                      </a:r>
                    </a:p>
                  </a:txBody>
                  <a:tcPr marL="73152" marR="73152" marT="27432" marB="27432" anchor="ctr">
                    <a:solidFill>
                      <a:srgbClr val="F2F6FC"/>
                    </a:solidFill>
                  </a:tcPr>
                </a:tc>
                <a:tc>
                  <a:txBody>
                    <a:bodyPr wrap="square"/>
                    <a:lstStyle/>
                    <a:p>
                      <a:r>
                        <a:rPr sz="2100" b="0" i="0">
                          <a:solidFill>
                            <a:srgbClr val="1E1E1E"/>
                          </a:solidFill>
                          <a:latin typeface="Times New Roman"/>
                        </a:rPr>
                        <a:t>Casos de uso probados sin interfaz</a:t>
                      </a:r>
                    </a:p>
                  </a:txBody>
                  <a:tcPr marL="73152" marR="73152" marT="27432" marB="27432" anchor="ctr">
                    <a:solidFill>
                      <a:srgbClr val="F2F6FC"/>
                    </a:solidFill>
                  </a:tcPr>
                </a:tc>
                <a:tc>
                  <a:txBody>
                    <a:bodyPr wrap="square"/>
                    <a:lstStyle/>
                    <a:p>
                      <a:r>
                        <a:rPr sz="2100" b="0" i="0">
                          <a:solidFill>
                            <a:srgbClr val="1E1E1E"/>
                          </a:solidFill>
                          <a:latin typeface="Times New Roman"/>
                        </a:rPr>
                        <a:t>98 pruebas unitarias / HTTP</a:t>
                      </a:r>
                    </a:p>
                  </a:txBody>
                  <a:tcPr marL="73152" marR="73152" marT="27432" marB="27432" anchor="ctr">
                    <a:solidFill>
                      <a:srgbClr val="F2F6FC"/>
                    </a:solidFill>
                  </a:tcPr>
                </a:tc>
                <a:tc>
                  <a:txBody>
                    <a:bodyPr wrap="square"/>
                    <a:lstStyle/>
                    <a:p>
                      <a:r>
                        <a:rPr sz="2100" b="0" i="0">
                          <a:solidFill>
                            <a:srgbClr val="2D7A2D"/>
                          </a:solidFill>
                          <a:latin typeface="Times New Roman"/>
                        </a:rPr>
                        <a:t>Cumplida</a:t>
                      </a:r>
                    </a:p>
                  </a:txBody>
                  <a:tcPr marL="73152" marR="73152" marT="27432" marB="27432" anchor="ctr">
                    <a:solidFill>
                      <a:srgbClr val="F2F6FC"/>
                    </a:solidFill>
                  </a:tcPr>
                </a:tc>
              </a:tr>
              <a:tr h="639449">
                <a:tc>
                  <a:txBody>
                    <a:bodyPr wrap="square"/>
                    <a:lstStyle/>
                    <a:p>
                      <a:r>
                        <a:rPr sz="2100" b="0" i="0">
                          <a:solidFill>
                            <a:srgbClr val="1E1E1E"/>
                          </a:solidFill>
                          <a:latin typeface="Times New Roman"/>
                        </a:rPr>
                        <a:t>Usabilidad</a:t>
                      </a:r>
                    </a:p>
                  </a:txBody>
                  <a:tcPr marL="73152" marR="73152" marT="27432" marB="27432" anchor="ctr">
                    <a:solidFill>
                      <a:srgbClr val="FFFFFF"/>
                    </a:solidFill>
                  </a:tcPr>
                </a:tc>
                <a:tc>
                  <a:txBody>
                    <a:bodyPr wrap="square"/>
                    <a:lstStyle/>
                    <a:p>
                      <a:r>
                        <a:rPr sz="2100" b="0" i="0">
                          <a:solidFill>
                            <a:srgbClr val="1E1E1E"/>
                          </a:solidFill>
                          <a:latin typeface="Times New Roman"/>
                        </a:rPr>
                        <a:t>Salida en pocos pasos</a:t>
                      </a:r>
                    </a:p>
                  </a:txBody>
                  <a:tcPr marL="73152" marR="73152" marT="27432" marB="27432" anchor="ctr">
                    <a:solidFill>
                      <a:srgbClr val="FFFFFF"/>
                    </a:solidFill>
                  </a:tcPr>
                </a:tc>
                <a:tc>
                  <a:txBody>
                    <a:bodyPr wrap="square"/>
                    <a:lstStyle/>
                    <a:p>
                      <a:r>
                        <a:rPr sz="2100" b="0" i="0">
                          <a:solidFill>
                            <a:srgbClr val="1E1E1E"/>
                          </a:solidFill>
                          <a:latin typeface="Times New Roman"/>
                        </a:rPr>
                        <a:t>Un formulario con vista previa; axe sin infracciones A/AA</a:t>
                      </a:r>
                    </a:p>
                  </a:txBody>
                  <a:tcPr marL="73152" marR="73152" marT="27432" marB="27432" anchor="ctr">
                    <a:solidFill>
                      <a:srgbClr val="FFFFFF"/>
                    </a:solidFill>
                  </a:tcPr>
                </a:tc>
                <a:tc>
                  <a:txBody>
                    <a:bodyPr wrap="square"/>
                    <a:lstStyle/>
                    <a:p>
                      <a:r>
                        <a:rPr sz="2100" b="0" i="0">
                          <a:solidFill>
                            <a:srgbClr val="2D7A2D"/>
                          </a:solidFill>
                          <a:latin typeface="Times New Roman"/>
                        </a:rPr>
                        <a:t>Cumplida</a:t>
                      </a:r>
                    </a:p>
                  </a:txBody>
                  <a:tcPr marL="73152" marR="73152" marT="27432" marB="27432" anchor="ctr">
                    <a:solidFill>
                      <a:srgbClr val="FFFFFF"/>
                    </a:solidFill>
                  </a:tcPr>
                </a:tc>
              </a:tr>
              <a:tr h="639449">
                <a:tc>
                  <a:txBody>
                    <a:bodyPr wrap="square"/>
                    <a:lstStyle/>
                    <a:p>
                      <a:r>
                        <a:rPr sz="2100" b="0" i="0">
                          <a:solidFill>
                            <a:srgbClr val="1E1E1E"/>
                          </a:solidFill>
                          <a:latin typeface="Times New Roman"/>
                        </a:rPr>
                        <a:t>Rendimiento</a:t>
                      </a:r>
                    </a:p>
                  </a:txBody>
                  <a:tcPr marL="73152" marR="73152" marT="27432" marB="27432" anchor="ctr">
                    <a:solidFill>
                      <a:srgbClr val="F2F6FC"/>
                    </a:solidFill>
                  </a:tcPr>
                </a:tc>
                <a:tc>
                  <a:txBody>
                    <a:bodyPr wrap="square"/>
                    <a:lstStyle/>
                    <a:p>
                      <a:r>
                        <a:rPr sz="2100" b="0" i="0">
                          <a:solidFill>
                            <a:srgbClr val="1E1E1E"/>
                          </a:solidFill>
                          <a:latin typeface="Times New Roman"/>
                        </a:rPr>
                        <a:t>Búsqueda ≤ 2 s (p95)</a:t>
                      </a:r>
                    </a:p>
                  </a:txBody>
                  <a:tcPr marL="73152" marR="73152" marT="27432" marB="27432" anchor="ctr">
                    <a:solidFill>
                      <a:srgbClr val="F2F6FC"/>
                    </a:solidFill>
                  </a:tcPr>
                </a:tc>
                <a:tc>
                  <a:txBody>
                    <a:bodyPr wrap="square"/>
                    <a:lstStyle/>
                    <a:p>
                      <a:r>
                        <a:rPr sz="2100" b="0" i="0">
                          <a:solidFill>
                            <a:srgbClr val="1E1E1E"/>
                          </a:solidFill>
                          <a:latin typeface="Times New Roman"/>
                        </a:rPr>
                        <a:t>Consultas paginadas e indexadas</a:t>
                      </a:r>
                    </a:p>
                  </a:txBody>
                  <a:tcPr marL="73152" marR="73152" marT="27432" marB="27432" anchor="ctr">
                    <a:solidFill>
                      <a:srgbClr val="F2F6FC"/>
                    </a:solidFill>
                  </a:tcPr>
                </a:tc>
                <a:tc>
                  <a:txBody>
                    <a:bodyPr wrap="square"/>
                    <a:lstStyle/>
                    <a:p>
                      <a:r>
                        <a:rPr sz="2100" b="0" i="0">
                          <a:solidFill>
                            <a:srgbClr val="B06A00"/>
                          </a:solidFill>
                          <a:latin typeface="Times New Roman"/>
                        </a:rPr>
                        <a:t>Pendiente de medir</a:t>
                      </a:r>
                    </a:p>
                  </a:txBody>
                  <a:tcPr marL="73152" marR="73152" marT="27432" marB="27432" anchor="ctr">
                    <a:solidFill>
                      <a:srgbClr val="F2F6FC"/>
                    </a:solidFill>
                  </a:tcPr>
                </a:tc>
              </a:tr>
              <a:tr h="639449">
                <a:tc>
                  <a:txBody>
                    <a:bodyPr wrap="square"/>
                    <a:lstStyle/>
                    <a:p>
                      <a:r>
                        <a:rPr sz="2100" b="0" i="0">
                          <a:solidFill>
                            <a:srgbClr val="1E1E1E"/>
                          </a:solidFill>
                          <a:latin typeface="Times New Roman"/>
                        </a:rPr>
                        <a:t>Recuperación</a:t>
                      </a:r>
                    </a:p>
                  </a:txBody>
                  <a:tcPr marL="73152" marR="73152" marT="27432" marB="27432" anchor="ctr">
                    <a:solidFill>
                      <a:srgbClr val="FFFFFF"/>
                    </a:solidFill>
                  </a:tcPr>
                </a:tc>
                <a:tc>
                  <a:txBody>
                    <a:bodyPr wrap="square"/>
                    <a:lstStyle/>
                    <a:p>
                      <a:r>
                        <a:rPr sz="2100" b="0" i="0">
                          <a:solidFill>
                            <a:srgbClr val="1E1E1E"/>
                          </a:solidFill>
                          <a:latin typeface="Times New Roman"/>
                        </a:rPr>
                        <a:t>Restauración de prueba</a:t>
                      </a:r>
                    </a:p>
                  </a:txBody>
                  <a:tcPr marL="73152" marR="73152" marT="27432" marB="27432" anchor="ctr">
                    <a:solidFill>
                      <a:srgbClr val="FFFFFF"/>
                    </a:solidFill>
                  </a:tcPr>
                </a:tc>
                <a:tc>
                  <a:txBody>
                    <a:bodyPr wrap="square"/>
                    <a:lstStyle/>
                    <a:p>
                      <a:r>
                        <a:rPr sz="2100" b="0" i="0">
                          <a:solidFill>
                            <a:srgbClr val="1E1E1E"/>
                          </a:solidFill>
                          <a:latin typeface="Times New Roman"/>
                        </a:rPr>
                        <a:t>Depende de Azure SQL</a:t>
                      </a:r>
                    </a:p>
                  </a:txBody>
                  <a:tcPr marL="73152" marR="73152" marT="27432" marB="27432" anchor="ctr">
                    <a:solidFill>
                      <a:srgbClr val="FFFFFF"/>
                    </a:solidFill>
                  </a:tcPr>
                </a:tc>
                <a:tc>
                  <a:txBody>
                    <a:bodyPr wrap="square"/>
                    <a:lstStyle/>
                    <a:p>
                      <a:r>
                        <a:rPr sz="2100" b="0" i="0">
                          <a:solidFill>
                            <a:srgbClr val="B06A00"/>
                          </a:solidFill>
                          <a:latin typeface="Times New Roman"/>
                        </a:rPr>
                        <a:t>Pendiente</a:t>
                      </a:r>
                    </a:p>
                  </a:txBody>
                  <a:tcPr marL="73152" marR="73152" marT="27432" marB="27432" anchor="ctr">
                    <a:solidFill>
                      <a:srgbClr val="FFFFFF"/>
                    </a:solidFill>
                  </a:tcPr>
                </a:tc>
              </a:tr>
            </a:tbl>
          </a:graphicData>
        </a:graphic>
      </p:graphicFrame>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10. Pendientes y trabajo futuro</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39</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685800" y="3063240"/>
            <a:ext cx="5486400" cy="282833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8680" y="3186211"/>
            <a:ext cx="5120640" cy="2582391"/>
          </a:xfrm>
          <a:prstGeom prst="rect">
            <a:avLst/>
          </a:prstGeom>
          <a:noFill/>
        </p:spPr>
        <p:txBody>
          <a:bodyPr wrap="square" anchor="t" lIns="45720" rIns="45720">
            <a:spAutoFit/>
          </a:bodyPr>
          <a:lstStyle/>
          <a:p>
            <a:pPr algn="l">
              <a:spcAft>
                <a:spcPts val="500"/>
              </a:spcAft>
            </a:pPr>
            <a:r>
              <a:rPr sz="2800" b="1" i="0">
                <a:solidFill>
                  <a:srgbClr val="1A56B0"/>
                </a:solidFill>
                <a:latin typeface="Times New Roman Bold"/>
              </a:rPr>
              <a:t>Correo real</a:t>
            </a:r>
          </a:p>
          <a:p>
            <a:pPr algn="l">
              <a:spcAft>
                <a:spcPts val="500"/>
              </a:spcAft>
            </a:pPr>
            <a:r>
              <a:rPr sz="2400" b="0" i="0">
                <a:solidFill>
                  <a:srgbClr val="1E1E1E"/>
                </a:solidFill>
                <a:latin typeface="Times New Roman"/>
              </a:rPr>
              <a:t>Adaptador de Azure Communication Services, destinatarios y Job programado.</a:t>
            </a:r>
          </a:p>
        </p:txBody>
      </p:sp>
      <p:sp>
        <p:nvSpPr>
          <p:cNvPr id="42" name="Rounded Rectangle 41"/>
          <p:cNvSpPr/>
          <p:nvPr/>
        </p:nvSpPr>
        <p:spPr>
          <a:xfrm>
            <a:off x="6400800" y="3063240"/>
            <a:ext cx="5486400" cy="282833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0" y="3186211"/>
            <a:ext cx="5120640" cy="2582391"/>
          </a:xfrm>
          <a:prstGeom prst="rect">
            <a:avLst/>
          </a:prstGeom>
          <a:noFill/>
        </p:spPr>
        <p:txBody>
          <a:bodyPr wrap="square" anchor="t" lIns="45720" rIns="45720">
            <a:spAutoFit/>
          </a:bodyPr>
          <a:lstStyle/>
          <a:p>
            <a:pPr algn="l">
              <a:spcAft>
                <a:spcPts val="500"/>
              </a:spcAft>
            </a:pPr>
            <a:r>
              <a:rPr sz="2800" b="1" i="0">
                <a:solidFill>
                  <a:srgbClr val="1A56B0"/>
                </a:solidFill>
                <a:latin typeface="Times New Roman Bold"/>
              </a:rPr>
              <a:t>Despliegue en Azure</a:t>
            </a:r>
          </a:p>
          <a:p>
            <a:pPr algn="l">
              <a:spcAft>
                <a:spcPts val="500"/>
              </a:spcAft>
            </a:pPr>
            <a:r>
              <a:rPr sz="2400" b="0" i="0">
                <a:solidFill>
                  <a:srgbClr val="1E1E1E"/>
                </a:solidFill>
                <a:latin typeface="Times New Roman"/>
              </a:rPr>
              <a:t>Construir la imagen, ejecutar el workflow y crear Azure SQL.</a:t>
            </a:r>
          </a:p>
        </p:txBody>
      </p:sp>
      <p:sp>
        <p:nvSpPr>
          <p:cNvPr id="44" name="Rounded Rectangle 43"/>
          <p:cNvSpPr/>
          <p:nvPr/>
        </p:nvSpPr>
        <p:spPr>
          <a:xfrm>
            <a:off x="12115800" y="3063240"/>
            <a:ext cx="5486400" cy="282833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298680" y="3186211"/>
            <a:ext cx="5120640" cy="2582391"/>
          </a:xfrm>
          <a:prstGeom prst="rect">
            <a:avLst/>
          </a:prstGeom>
          <a:noFill/>
        </p:spPr>
        <p:txBody>
          <a:bodyPr wrap="square" anchor="t" lIns="45720" rIns="45720">
            <a:spAutoFit/>
          </a:bodyPr>
          <a:lstStyle/>
          <a:p>
            <a:pPr algn="l">
              <a:spcAft>
                <a:spcPts val="500"/>
              </a:spcAft>
            </a:pPr>
            <a:r>
              <a:rPr sz="2800" b="1" i="0">
                <a:solidFill>
                  <a:srgbClr val="1A56B0"/>
                </a:solidFill>
                <a:latin typeface="Times New Roman Bold"/>
              </a:rPr>
              <a:t>Registro SPA en Entra ID</a:t>
            </a:r>
          </a:p>
          <a:p>
            <a:pPr algn="l">
              <a:spcAft>
                <a:spcPts val="500"/>
              </a:spcAft>
            </a:pPr>
            <a:r>
              <a:rPr sz="2400" b="0" i="0">
                <a:solidFill>
                  <a:srgbClr val="1E1E1E"/>
                </a:solidFill>
                <a:latin typeface="Times New Roman"/>
              </a:rPr>
              <a:t>Inicio de sesión real desde el navegador.</a:t>
            </a:r>
          </a:p>
        </p:txBody>
      </p:sp>
      <p:sp>
        <p:nvSpPr>
          <p:cNvPr id="46" name="Rounded Rectangle 45"/>
          <p:cNvSpPr/>
          <p:nvPr/>
        </p:nvSpPr>
        <p:spPr>
          <a:xfrm>
            <a:off x="685800" y="6055535"/>
            <a:ext cx="5486400" cy="282833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8680" y="6178506"/>
            <a:ext cx="5120640" cy="2582391"/>
          </a:xfrm>
          <a:prstGeom prst="rect">
            <a:avLst/>
          </a:prstGeom>
          <a:noFill/>
        </p:spPr>
        <p:txBody>
          <a:bodyPr wrap="square" anchor="t" lIns="45720" rIns="45720">
            <a:spAutoFit/>
          </a:bodyPr>
          <a:lstStyle/>
          <a:p>
            <a:pPr algn="l">
              <a:spcAft>
                <a:spcPts val="500"/>
              </a:spcAft>
            </a:pPr>
            <a:r>
              <a:rPr sz="2800" b="1" i="0">
                <a:solidFill>
                  <a:srgbClr val="1A56B0"/>
                </a:solidFill>
                <a:latin typeface="Times New Roman Bold"/>
              </a:rPr>
              <a:t>Blob Storage y antivirus</a:t>
            </a:r>
          </a:p>
          <a:p>
            <a:pPr algn="l">
              <a:spcAft>
                <a:spcPts val="500"/>
              </a:spcAft>
            </a:pPr>
            <a:r>
              <a:rPr sz="2400" b="0" i="0">
                <a:solidFill>
                  <a:srgbClr val="1E1E1E"/>
                </a:solidFill>
                <a:latin typeface="Times New Roman"/>
              </a:rPr>
              <a:t>Almacenamiento definitivo de los adjuntos.</a:t>
            </a:r>
          </a:p>
        </p:txBody>
      </p:sp>
      <p:sp>
        <p:nvSpPr>
          <p:cNvPr id="48" name="Rounded Rectangle 47"/>
          <p:cNvSpPr/>
          <p:nvPr/>
        </p:nvSpPr>
        <p:spPr>
          <a:xfrm>
            <a:off x="6400800" y="6055535"/>
            <a:ext cx="5486400" cy="282833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83680" y="6178506"/>
            <a:ext cx="5120640" cy="2582391"/>
          </a:xfrm>
          <a:prstGeom prst="rect">
            <a:avLst/>
          </a:prstGeom>
          <a:noFill/>
        </p:spPr>
        <p:txBody>
          <a:bodyPr wrap="square" anchor="t" lIns="45720" rIns="45720">
            <a:spAutoFit/>
          </a:bodyPr>
          <a:lstStyle/>
          <a:p>
            <a:pPr algn="l">
              <a:spcAft>
                <a:spcPts val="500"/>
              </a:spcAft>
            </a:pPr>
            <a:r>
              <a:rPr sz="2800" b="1" i="0">
                <a:solidFill>
                  <a:srgbClr val="1A56B0"/>
                </a:solidFill>
                <a:latin typeface="Times New Roman Bold"/>
              </a:rPr>
              <a:t>Funciones futuras</a:t>
            </a:r>
          </a:p>
          <a:p>
            <a:pPr algn="l">
              <a:spcAft>
                <a:spcPts val="500"/>
              </a:spcAft>
            </a:pPr>
            <a:r>
              <a:rPr sz="2400" b="0" i="0">
                <a:solidFill>
                  <a:srgbClr val="1E1E1E"/>
                </a:solidFill>
                <a:latin typeface="Times New Roman"/>
              </a:rPr>
              <a:t>Kardex exportable, valorización, tablero de alertas y gestión web de usuarios.</a:t>
            </a:r>
          </a:p>
        </p:txBody>
      </p:sp>
      <p:sp>
        <p:nvSpPr>
          <p:cNvPr id="50" name="Rounded Rectangle 49"/>
          <p:cNvSpPr/>
          <p:nvPr/>
        </p:nvSpPr>
        <p:spPr>
          <a:xfrm>
            <a:off x="12115800" y="6055535"/>
            <a:ext cx="5486400" cy="282833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298680" y="6178506"/>
            <a:ext cx="5120640" cy="2582391"/>
          </a:xfrm>
          <a:prstGeom prst="rect">
            <a:avLst/>
          </a:prstGeom>
          <a:noFill/>
        </p:spPr>
        <p:txBody>
          <a:bodyPr wrap="square" anchor="t" lIns="45720" rIns="45720">
            <a:spAutoFit/>
          </a:bodyPr>
          <a:lstStyle/>
          <a:p>
            <a:pPr algn="l">
              <a:spcAft>
                <a:spcPts val="500"/>
              </a:spcAft>
            </a:pPr>
            <a:r>
              <a:rPr sz="2800" b="1" i="0">
                <a:solidFill>
                  <a:srgbClr val="1A56B0"/>
                </a:solidFill>
                <a:latin typeface="Times New Roman Bold"/>
              </a:rPr>
              <a:t>Medición de rendimiento</a:t>
            </a:r>
          </a:p>
          <a:p>
            <a:pPr algn="l">
              <a:spcAft>
                <a:spcPts val="500"/>
              </a:spcAft>
            </a:pPr>
            <a:r>
              <a:rPr sz="2400" b="0" i="0">
                <a:solidFill>
                  <a:srgbClr val="1E1E1E"/>
                </a:solidFill>
                <a:latin typeface="Times New Roman"/>
              </a:rPr>
              <a:t>Verificar la meta de 2 s con datos y concurrencia definidos.</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11. Conclusiones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40</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685800" y="3063240"/>
            <a:ext cx="3200400" cy="590260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920240" y="3309182"/>
            <a:ext cx="731520" cy="655845"/>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920240" y="3309182"/>
            <a:ext cx="731520" cy="655845"/>
          </a:xfrm>
          <a:prstGeom prst="rect">
            <a:avLst/>
          </a:prstGeom>
          <a:noFill/>
        </p:spPr>
        <p:txBody>
          <a:bodyPr wrap="square" anchor="ctr" lIns="45720" rIns="45720">
            <a:spAutoFit/>
          </a:bodyPr>
          <a:lstStyle/>
          <a:p>
            <a:pPr algn="ctr">
              <a:spcAft>
                <a:spcPts val="0"/>
              </a:spcAft>
            </a:pPr>
            <a:r>
              <a:rPr sz="3200" b="0" i="0">
                <a:solidFill>
                  <a:srgbClr val="FFFFFF"/>
                </a:solidFill>
                <a:latin typeface="Times New Roman"/>
              </a:rPr>
              <a:t>1</a:t>
            </a:r>
          </a:p>
        </p:txBody>
      </p:sp>
      <p:sp>
        <p:nvSpPr>
          <p:cNvPr id="43" name="TextBox 42"/>
          <p:cNvSpPr txBox="1"/>
          <p:nvPr/>
        </p:nvSpPr>
        <p:spPr>
          <a:xfrm>
            <a:off x="868680" y="4169979"/>
            <a:ext cx="2834640" cy="4590918"/>
          </a:xfrm>
          <a:prstGeom prst="rect">
            <a:avLst/>
          </a:prstGeom>
          <a:noFill/>
        </p:spPr>
        <p:txBody>
          <a:bodyPr wrap="square" anchor="t" lIns="45720" rIns="45720">
            <a:spAutoFit/>
          </a:bodyPr>
          <a:lstStyle/>
          <a:p>
            <a:pPr algn="ctr">
              <a:spcAft>
                <a:spcPts val="1000"/>
              </a:spcAft>
            </a:pPr>
            <a:r>
              <a:rPr sz="2600" b="1" i="0">
                <a:solidFill>
                  <a:srgbClr val="1A56B0"/>
                </a:solidFill>
                <a:latin typeface="Times New Roman Bold"/>
              </a:rPr>
              <a:t>Del problema al sistema</a:t>
            </a:r>
          </a:p>
          <a:p>
            <a:pPr algn="ctr">
              <a:spcAft>
                <a:spcPts val="1000"/>
              </a:spcAft>
            </a:pPr>
            <a:r>
              <a:rPr sz="2400" b="0" i="0">
                <a:solidFill>
                  <a:srgbClr val="1E1E1E"/>
                </a:solidFill>
                <a:latin typeface="Times New Roman"/>
              </a:rPr>
              <a:t>16 RF y 16 RNF; 15 funcionales implementados y verificados.</a:t>
            </a:r>
          </a:p>
        </p:txBody>
      </p:sp>
      <p:sp>
        <p:nvSpPr>
          <p:cNvPr id="44" name="Rounded Rectangle 43"/>
          <p:cNvSpPr/>
          <p:nvPr/>
        </p:nvSpPr>
        <p:spPr>
          <a:xfrm>
            <a:off x="4114800" y="3063240"/>
            <a:ext cx="3200400" cy="590260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349240" y="3309182"/>
            <a:ext cx="731520" cy="655845"/>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49240" y="3309182"/>
            <a:ext cx="731520" cy="655845"/>
          </a:xfrm>
          <a:prstGeom prst="rect">
            <a:avLst/>
          </a:prstGeom>
          <a:noFill/>
        </p:spPr>
        <p:txBody>
          <a:bodyPr wrap="square" anchor="ctr" lIns="45720" rIns="45720">
            <a:spAutoFit/>
          </a:bodyPr>
          <a:lstStyle/>
          <a:p>
            <a:pPr algn="ctr">
              <a:spcAft>
                <a:spcPts val="0"/>
              </a:spcAft>
            </a:pPr>
            <a:r>
              <a:rPr sz="3200" b="0" i="0">
                <a:solidFill>
                  <a:srgbClr val="FFFFFF"/>
                </a:solidFill>
                <a:latin typeface="Times New Roman"/>
              </a:rPr>
              <a:t>2</a:t>
            </a:r>
          </a:p>
        </p:txBody>
      </p:sp>
      <p:sp>
        <p:nvSpPr>
          <p:cNvPr id="47" name="TextBox 46"/>
          <p:cNvSpPr txBox="1"/>
          <p:nvPr/>
        </p:nvSpPr>
        <p:spPr>
          <a:xfrm>
            <a:off x="4297680" y="4169979"/>
            <a:ext cx="2834640" cy="4590918"/>
          </a:xfrm>
          <a:prstGeom prst="rect">
            <a:avLst/>
          </a:prstGeom>
          <a:noFill/>
        </p:spPr>
        <p:txBody>
          <a:bodyPr wrap="square" anchor="t" lIns="45720" rIns="45720">
            <a:spAutoFit/>
          </a:bodyPr>
          <a:lstStyle/>
          <a:p>
            <a:pPr algn="ctr">
              <a:spcAft>
                <a:spcPts val="1000"/>
              </a:spcAft>
            </a:pPr>
            <a:r>
              <a:rPr sz="2600" b="1" i="0">
                <a:solidFill>
                  <a:srgbClr val="1A56B0"/>
                </a:solidFill>
                <a:latin typeface="Times New Roman Bold"/>
              </a:rPr>
              <a:t>Arquitectura que escala</a:t>
            </a:r>
          </a:p>
          <a:p>
            <a:pPr algn="ctr">
              <a:spcAft>
                <a:spcPts val="1000"/>
              </a:spcAft>
            </a:pPr>
            <a:r>
              <a:rPr sz="2400" b="0" i="0">
                <a:solidFill>
                  <a:srgbClr val="1E1E1E"/>
                </a:solidFill>
                <a:latin typeface="Times New Roman"/>
              </a:rPr>
              <a:t>Capas + monolito modular: compras y reportes sin tocar los movimientos.</a:t>
            </a:r>
          </a:p>
        </p:txBody>
      </p:sp>
      <p:sp>
        <p:nvSpPr>
          <p:cNvPr id="48" name="Rounded Rectangle 47"/>
          <p:cNvSpPr/>
          <p:nvPr/>
        </p:nvSpPr>
        <p:spPr>
          <a:xfrm>
            <a:off x="7543800" y="3063240"/>
            <a:ext cx="3200400" cy="590260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8778240" y="3309182"/>
            <a:ext cx="731520" cy="655845"/>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778240" y="3309182"/>
            <a:ext cx="731520" cy="655845"/>
          </a:xfrm>
          <a:prstGeom prst="rect">
            <a:avLst/>
          </a:prstGeom>
          <a:noFill/>
        </p:spPr>
        <p:txBody>
          <a:bodyPr wrap="square" anchor="ctr" lIns="45720" rIns="45720">
            <a:spAutoFit/>
          </a:bodyPr>
          <a:lstStyle/>
          <a:p>
            <a:pPr algn="ctr">
              <a:spcAft>
                <a:spcPts val="0"/>
              </a:spcAft>
            </a:pPr>
            <a:r>
              <a:rPr sz="3200" b="0" i="0">
                <a:solidFill>
                  <a:srgbClr val="FFFFFF"/>
                </a:solidFill>
                <a:latin typeface="Times New Roman"/>
              </a:rPr>
              <a:t>3</a:t>
            </a:r>
          </a:p>
        </p:txBody>
      </p:sp>
      <p:sp>
        <p:nvSpPr>
          <p:cNvPr id="51" name="TextBox 50"/>
          <p:cNvSpPr txBox="1"/>
          <p:nvPr/>
        </p:nvSpPr>
        <p:spPr>
          <a:xfrm>
            <a:off x="7726679" y="4169979"/>
            <a:ext cx="2834640" cy="4590918"/>
          </a:xfrm>
          <a:prstGeom prst="rect">
            <a:avLst/>
          </a:prstGeom>
          <a:noFill/>
        </p:spPr>
        <p:txBody>
          <a:bodyPr wrap="square" anchor="t" lIns="45720" rIns="45720">
            <a:spAutoFit/>
          </a:bodyPr>
          <a:lstStyle/>
          <a:p>
            <a:pPr algn="ctr">
              <a:spcAft>
                <a:spcPts val="1000"/>
              </a:spcAft>
            </a:pPr>
            <a:r>
              <a:rPr sz="2600" b="1" i="0">
                <a:solidFill>
                  <a:srgbClr val="1A56B0"/>
                </a:solidFill>
                <a:latin typeface="Times New Roman Bold"/>
              </a:rPr>
              <a:t>Patrones en el código</a:t>
            </a:r>
          </a:p>
          <a:p>
            <a:pPr algn="ctr">
              <a:spcAft>
                <a:spcPts val="1000"/>
              </a:spcAft>
            </a:pPr>
            <a:r>
              <a:rPr sz="2400" b="0" i="0">
                <a:solidFill>
                  <a:srgbClr val="1E1E1E"/>
                </a:solidFill>
                <a:latin typeface="Times New Roman"/>
              </a:rPr>
              <a:t>Los seis GoF implementados y probados, no solo documentados.</a:t>
            </a:r>
          </a:p>
        </p:txBody>
      </p:sp>
      <p:sp>
        <p:nvSpPr>
          <p:cNvPr id="52" name="Rounded Rectangle 51"/>
          <p:cNvSpPr/>
          <p:nvPr/>
        </p:nvSpPr>
        <p:spPr>
          <a:xfrm>
            <a:off x="10972800" y="3063240"/>
            <a:ext cx="3200400" cy="590260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2207240" y="3309182"/>
            <a:ext cx="731520" cy="655845"/>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2207240" y="3309182"/>
            <a:ext cx="731520" cy="655845"/>
          </a:xfrm>
          <a:prstGeom prst="rect">
            <a:avLst/>
          </a:prstGeom>
          <a:noFill/>
        </p:spPr>
        <p:txBody>
          <a:bodyPr wrap="square" anchor="ctr" lIns="45720" rIns="45720">
            <a:spAutoFit/>
          </a:bodyPr>
          <a:lstStyle/>
          <a:p>
            <a:pPr algn="ctr">
              <a:spcAft>
                <a:spcPts val="0"/>
              </a:spcAft>
            </a:pPr>
            <a:r>
              <a:rPr sz="3200" b="0" i="0">
                <a:solidFill>
                  <a:srgbClr val="FFFFFF"/>
                </a:solidFill>
                <a:latin typeface="Times New Roman"/>
              </a:rPr>
              <a:t>4</a:t>
            </a:r>
          </a:p>
        </p:txBody>
      </p:sp>
      <p:sp>
        <p:nvSpPr>
          <p:cNvPr id="55" name="TextBox 54"/>
          <p:cNvSpPr txBox="1"/>
          <p:nvPr/>
        </p:nvSpPr>
        <p:spPr>
          <a:xfrm>
            <a:off x="11155680" y="4169979"/>
            <a:ext cx="2834640" cy="4590918"/>
          </a:xfrm>
          <a:prstGeom prst="rect">
            <a:avLst/>
          </a:prstGeom>
          <a:noFill/>
        </p:spPr>
        <p:txBody>
          <a:bodyPr wrap="square" anchor="t" lIns="45720" rIns="45720">
            <a:spAutoFit/>
          </a:bodyPr>
          <a:lstStyle/>
          <a:p>
            <a:pPr algn="ctr">
              <a:spcAft>
                <a:spcPts val="1000"/>
              </a:spcAft>
            </a:pPr>
            <a:r>
              <a:rPr sz="2600" b="1" i="0">
                <a:solidFill>
                  <a:srgbClr val="1A56B0"/>
                </a:solidFill>
                <a:latin typeface="Times New Roman Bold"/>
              </a:rPr>
              <a:t>Stock consistente</a:t>
            </a:r>
          </a:p>
          <a:p>
            <a:pPr algn="ctr">
              <a:spcAft>
                <a:spcPts val="1000"/>
              </a:spcAft>
            </a:pPr>
            <a:r>
              <a:rPr sz="2400" b="0" i="0">
                <a:solidFill>
                  <a:srgbClr val="1E1E1E"/>
                </a:solidFill>
                <a:latin typeface="Times New Roman"/>
              </a:rPr>
              <a:t>Transacción, bloqueo e idempotencia: sin negativos ni duplicados.</a:t>
            </a:r>
          </a:p>
        </p:txBody>
      </p:sp>
      <p:sp>
        <p:nvSpPr>
          <p:cNvPr id="56" name="Rounded Rectangle 55"/>
          <p:cNvSpPr/>
          <p:nvPr/>
        </p:nvSpPr>
        <p:spPr>
          <a:xfrm>
            <a:off x="14401800" y="3063240"/>
            <a:ext cx="3200400" cy="5902609"/>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15636240" y="3309182"/>
            <a:ext cx="731520" cy="655845"/>
          </a:xfrm>
          <a:prstGeom prst="roundRect">
            <a:avLst>
              <a:gd name="adj" fmla="val 50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5636240" y="3309182"/>
            <a:ext cx="731520" cy="655845"/>
          </a:xfrm>
          <a:prstGeom prst="rect">
            <a:avLst/>
          </a:prstGeom>
          <a:noFill/>
        </p:spPr>
        <p:txBody>
          <a:bodyPr wrap="square" anchor="ctr" lIns="45720" rIns="45720">
            <a:spAutoFit/>
          </a:bodyPr>
          <a:lstStyle/>
          <a:p>
            <a:pPr algn="ctr">
              <a:spcAft>
                <a:spcPts val="0"/>
              </a:spcAft>
            </a:pPr>
            <a:r>
              <a:rPr sz="3200" b="0" i="0">
                <a:solidFill>
                  <a:srgbClr val="FFFFFF"/>
                </a:solidFill>
                <a:latin typeface="Times New Roman"/>
              </a:rPr>
              <a:t>5</a:t>
            </a:r>
          </a:p>
        </p:txBody>
      </p:sp>
      <p:sp>
        <p:nvSpPr>
          <p:cNvPr id="59" name="TextBox 58"/>
          <p:cNvSpPr txBox="1"/>
          <p:nvPr/>
        </p:nvSpPr>
        <p:spPr>
          <a:xfrm>
            <a:off x="14584680" y="4169979"/>
            <a:ext cx="2834640" cy="4590918"/>
          </a:xfrm>
          <a:prstGeom prst="rect">
            <a:avLst/>
          </a:prstGeom>
          <a:noFill/>
        </p:spPr>
        <p:txBody>
          <a:bodyPr wrap="square" anchor="t" lIns="45720" rIns="45720">
            <a:spAutoFit/>
          </a:bodyPr>
          <a:lstStyle/>
          <a:p>
            <a:pPr algn="ctr">
              <a:spcAft>
                <a:spcPts val="1000"/>
              </a:spcAft>
            </a:pPr>
            <a:r>
              <a:rPr sz="2600" b="1" i="0">
                <a:solidFill>
                  <a:srgbClr val="1A56B0"/>
                </a:solidFill>
                <a:latin typeface="Times New Roman Bold"/>
              </a:rPr>
              <a:t>Seguro y fiable</a:t>
            </a:r>
          </a:p>
          <a:p>
            <a:pPr algn="ctr">
              <a:spcAft>
                <a:spcPts val="1000"/>
              </a:spcAft>
            </a:pPr>
            <a:r>
              <a:rPr sz="2400" b="0" i="0">
                <a:solidFill>
                  <a:srgbClr val="1E1E1E"/>
                </a:solidFill>
                <a:latin typeface="Times New Roman"/>
              </a:rPr>
              <a:t>Entra ID sin contraseñas y Outbox sin avisos perdidos.</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350" y="9922202"/>
            <a:ext cx="18554700" cy="383858"/>
            <a:chOff x="0" y="0"/>
            <a:chExt cx="24739600" cy="511810"/>
          </a:xfrm>
        </p:grpSpPr>
        <p:sp>
          <p:nvSpPr>
            <p:cNvPr name="Freeform 3" id="3"/>
            <p:cNvSpPr/>
            <p:nvPr/>
          </p:nvSpPr>
          <p:spPr>
            <a:xfrm flipH="false" flipV="false" rot="0">
              <a:off x="0" y="0"/>
              <a:ext cx="24739600" cy="511810"/>
            </a:xfrm>
            <a:custGeom>
              <a:avLst/>
              <a:gdLst/>
              <a:ahLst/>
              <a:cxnLst/>
              <a:rect r="r" b="b" t="t" l="l"/>
              <a:pathLst>
                <a:path h="511810" w="24739600">
                  <a:moveTo>
                    <a:pt x="0" y="0"/>
                  </a:moveTo>
                  <a:lnTo>
                    <a:pt x="24739600" y="0"/>
                  </a:lnTo>
                  <a:lnTo>
                    <a:pt x="24739600" y="511810"/>
                  </a:lnTo>
                  <a:lnTo>
                    <a:pt x="0" y="511810"/>
                  </a:lnTo>
                  <a:close/>
                </a:path>
              </a:pathLst>
            </a:custGeom>
            <a:solidFill>
              <a:srgbClr val="4285F4"/>
            </a:solidFill>
          </p:spPr>
        </p:sp>
      </p:grpSp>
      <p:grpSp>
        <p:nvGrpSpPr>
          <p:cNvPr name="Group 4" id="4"/>
          <p:cNvGrpSpPr/>
          <p:nvPr/>
        </p:nvGrpSpPr>
        <p:grpSpPr>
          <a:xfrm rot="0">
            <a:off x="-133350" y="9907915"/>
            <a:ext cx="18554700" cy="398135"/>
            <a:chOff x="0" y="0"/>
            <a:chExt cx="24739600" cy="530847"/>
          </a:xfrm>
        </p:grpSpPr>
        <p:sp>
          <p:nvSpPr>
            <p:cNvPr name="Freeform 5" id="5"/>
            <p:cNvSpPr/>
            <p:nvPr/>
          </p:nvSpPr>
          <p:spPr>
            <a:xfrm flipH="false" flipV="false" rot="0">
              <a:off x="0" y="0"/>
              <a:ext cx="24739600" cy="530847"/>
            </a:xfrm>
            <a:custGeom>
              <a:avLst/>
              <a:gdLst/>
              <a:ahLst/>
              <a:cxnLst/>
              <a:rect r="r" b="b" t="t" l="l"/>
              <a:pathLst>
                <a:path h="530847" w="24739600">
                  <a:moveTo>
                    <a:pt x="0" y="0"/>
                  </a:moveTo>
                  <a:lnTo>
                    <a:pt x="24739600" y="0"/>
                  </a:lnTo>
                  <a:lnTo>
                    <a:pt x="24739600" y="530847"/>
                  </a:lnTo>
                  <a:lnTo>
                    <a:pt x="0" y="530847"/>
                  </a:lnTo>
                  <a:close/>
                </a:path>
              </a:pathLst>
            </a:custGeom>
            <a:blipFill>
              <a:blip r:embed="rId3">
                <a:alphaModFix amt="0"/>
              </a:blip>
              <a:stretch>
                <a:fillRect l="0" t="-858080" r="0" b="-858080"/>
              </a:stretch>
            </a:blipFill>
          </p:spPr>
        </p:sp>
        <p:sp>
          <p:nvSpPr>
            <p:cNvPr name="TextBox 6" id="6"/>
            <p:cNvSpPr txBox="true"/>
            <p:nvPr/>
          </p:nvSpPr>
          <p:spPr>
            <a:xfrm>
              <a:off x="0" y="-19050"/>
              <a:ext cx="24739600" cy="549897"/>
            </a:xfrm>
            <a:prstGeom prst="rect">
              <a:avLst/>
            </a:prstGeom>
          </p:spPr>
          <p:txBody>
            <a:bodyPr anchor="b" rtlCol="false" tIns="0" lIns="0" bIns="0" rIns="0"/>
            <a:lstStyle/>
            <a:p>
              <a:pPr algn="ctr">
                <a:lnSpc>
                  <a:spcPts val="2160"/>
                </a:lnSpc>
              </a:pPr>
              <a:r>
                <a:rPr lang="en-US" sz="1800" b="true">
                  <a:solidFill>
                    <a:srgbClr val="FFFFFF"/>
                  </a:solidFill>
                  <a:latin typeface="Trebuchet MS Bold"/>
                  <a:ea typeface="Trebuchet MS Bold"/>
                  <a:cs typeface="Trebuchet MS Bold"/>
                  <a:sym typeface="Trebuchet MS Bold"/>
                </a:rPr>
                <a:t>Universidad Nacional de Cañete – UNDC 2026. Todos los derechos reservados</a:t>
              </a:r>
            </a:p>
          </p:txBody>
        </p:sp>
      </p:grpSp>
      <p:grpSp>
        <p:nvGrpSpPr>
          <p:cNvPr name="Group 7" id="7"/>
          <p:cNvGrpSpPr/>
          <p:nvPr/>
        </p:nvGrpSpPr>
        <p:grpSpPr>
          <a:xfrm rot="0">
            <a:off x="13233492" y="430473"/>
            <a:ext cx="1331404" cy="1431322"/>
            <a:chOff x="0" y="0"/>
            <a:chExt cx="1775206" cy="1908429"/>
          </a:xfrm>
        </p:grpSpPr>
        <p:sp>
          <p:nvSpPr>
            <p:cNvPr name="Freeform 8" id="8"/>
            <p:cNvSpPr/>
            <p:nvPr/>
          </p:nvSpPr>
          <p:spPr>
            <a:xfrm flipH="false" flipV="false" rot="0">
              <a:off x="0" y="0"/>
              <a:ext cx="1775206" cy="1908429"/>
            </a:xfrm>
            <a:custGeom>
              <a:avLst/>
              <a:gdLst/>
              <a:ahLst/>
              <a:cxnLst/>
              <a:rect r="r" b="b" t="t" l="l"/>
              <a:pathLst>
                <a:path h="1908429" w="1775206">
                  <a:moveTo>
                    <a:pt x="0" y="0"/>
                  </a:moveTo>
                  <a:lnTo>
                    <a:pt x="1775206" y="0"/>
                  </a:lnTo>
                  <a:lnTo>
                    <a:pt x="1775206" y="1908429"/>
                  </a:lnTo>
                  <a:lnTo>
                    <a:pt x="0" y="1908429"/>
                  </a:lnTo>
                  <a:lnTo>
                    <a:pt x="0" y="0"/>
                  </a:lnTo>
                  <a:close/>
                </a:path>
              </a:pathLst>
            </a:custGeom>
            <a:blipFill>
              <a:blip r:embed="rId4"/>
              <a:stretch>
                <a:fillRect l="0" t="-2729" r="0" b="-2728"/>
              </a:stretch>
            </a:blipFill>
          </p:spPr>
        </p:sp>
      </p:grpSp>
      <p:sp>
        <p:nvSpPr>
          <p:cNvPr name="AutoShape 9" id="9"/>
          <p:cNvSpPr/>
          <p:nvPr/>
        </p:nvSpPr>
        <p:spPr>
          <a:xfrm rot="40740">
            <a:off x="13925531" y="1012965"/>
            <a:ext cx="1607839" cy="0"/>
          </a:xfrm>
          <a:prstGeom prst="line">
            <a:avLst/>
          </a:prstGeom>
          <a:ln cap="rnd" w="19050">
            <a:solidFill>
              <a:srgbClr val="4285F4"/>
            </a:solidFill>
            <a:prstDash val="solid"/>
            <a:headEnd type="none" len="sm" w="sm"/>
            <a:tailEnd type="none" len="sm" w="sm"/>
          </a:ln>
        </p:spPr>
      </p:sp>
      <p:sp>
        <p:nvSpPr>
          <p:cNvPr name="TextBox 10" id="10"/>
          <p:cNvSpPr txBox="true"/>
          <p:nvPr/>
        </p:nvSpPr>
        <p:spPr>
          <a:xfrm rot="0">
            <a:off x="14782743" y="457124"/>
            <a:ext cx="3739801" cy="1844202"/>
          </a:xfrm>
          <a:prstGeom prst="rect">
            <a:avLst/>
          </a:prstGeom>
        </p:spPr>
        <p:txBody>
          <a:bodyPr anchor="t" rtlCol="false" tIns="0" lIns="0" bIns="0" rIns="0">
            <a:spAutoFit/>
          </a:bodyPr>
          <a:lstStyle/>
          <a:p>
            <a:pPr algn="just">
              <a:lnSpc>
                <a:spcPts val="1980"/>
              </a:lnSpc>
            </a:pPr>
            <a:r>
              <a:rPr lang="en-US" sz="1650" b="true">
                <a:solidFill>
                  <a:srgbClr val="000000"/>
                </a:solidFill>
                <a:latin typeface="Trebuchet MS Bold"/>
                <a:ea typeface="Trebuchet MS Bold"/>
                <a:cs typeface="Trebuchet MS Bold"/>
                <a:sym typeface="Trebuchet MS Bold"/>
              </a:rPr>
              <a:t>UNIVERSIDAD NACIONAL</a:t>
            </a:r>
          </a:p>
          <a:p>
            <a:pPr algn="just">
              <a:lnSpc>
                <a:spcPts val="1980"/>
              </a:lnSpc>
            </a:pPr>
            <a:r>
              <a:rPr lang="en-US" sz="1650" b="true">
                <a:solidFill>
                  <a:srgbClr val="000000"/>
                </a:solidFill>
                <a:latin typeface="Trebuchet MS Bold"/>
                <a:ea typeface="Trebuchet MS Bold"/>
                <a:cs typeface="Trebuchet MS Bold"/>
                <a:sym typeface="Trebuchet MS Bold"/>
              </a:rPr>
              <a:t> DE CAÑETE</a:t>
            </a:r>
          </a:p>
          <a:p>
            <a:pPr algn="just">
              <a:lnSpc>
                <a:spcPts val="1889"/>
              </a:lnSpc>
            </a:pPr>
            <a:r>
              <a:rPr lang="en-US" sz="1575" b="true">
                <a:solidFill>
                  <a:srgbClr val="000000"/>
                </a:solidFill>
                <a:latin typeface="Trebuchet MS Bold"/>
                <a:ea typeface="Trebuchet MS Bold"/>
                <a:cs typeface="Trebuchet MS Bold"/>
                <a:sym typeface="Trebuchet MS Bold"/>
              </a:rPr>
              <a:t>Código: </a:t>
            </a:r>
            <a:r>
              <a:rPr lang="en-US" sz="1575">
                <a:solidFill>
                  <a:srgbClr val="000000"/>
                </a:solidFill>
                <a:latin typeface="Trebuchet MS"/>
                <a:ea typeface="Trebuchet MS"/>
                <a:cs typeface="Trebuchet MS"/>
                <a:sym typeface="Trebuchet MS"/>
              </a:rPr>
              <a:t>F-M01.01-VRA-008</a:t>
            </a:r>
          </a:p>
          <a:p>
            <a:pPr algn="just">
              <a:lnSpc>
                <a:spcPts val="1889"/>
              </a:lnSpc>
            </a:pPr>
            <a:r>
              <a:rPr lang="en-US" sz="1575" b="true">
                <a:solidFill>
                  <a:srgbClr val="000000"/>
                </a:solidFill>
                <a:latin typeface="Trebuchet MS Bold"/>
                <a:ea typeface="Trebuchet MS Bold"/>
                <a:cs typeface="Trebuchet MS Bold"/>
                <a:sym typeface="Trebuchet MS Bold"/>
              </a:rPr>
              <a:t>Revisión: </a:t>
            </a:r>
            <a:r>
              <a:rPr lang="en-US" sz="1575">
                <a:solidFill>
                  <a:srgbClr val="000000"/>
                </a:solidFill>
                <a:latin typeface="Trebuchet MS"/>
                <a:ea typeface="Trebuchet MS"/>
                <a:cs typeface="Trebuchet MS"/>
                <a:sym typeface="Trebuchet MS"/>
              </a:rPr>
              <a:t>02</a:t>
            </a:r>
          </a:p>
          <a:p>
            <a:pPr algn="just">
              <a:lnSpc>
                <a:spcPts val="1889"/>
              </a:lnSpc>
            </a:pPr>
            <a:r>
              <a:rPr lang="en-US" sz="1575" b="true">
                <a:solidFill>
                  <a:srgbClr val="000000"/>
                </a:solidFill>
                <a:latin typeface="Trebuchet MS Bold"/>
                <a:ea typeface="Trebuchet MS Bold"/>
                <a:cs typeface="Trebuchet MS Bold"/>
                <a:sym typeface="Trebuchet MS Bold"/>
              </a:rPr>
              <a:t>Fecha de aprobación: </a:t>
            </a:r>
            <a:r>
              <a:rPr lang="en-US" sz="1575">
                <a:solidFill>
                  <a:srgbClr val="000000"/>
                </a:solidFill>
                <a:latin typeface="Trebuchet MS"/>
                <a:ea typeface="Trebuchet MS"/>
                <a:cs typeface="Trebuchet MS"/>
                <a:sym typeface="Trebuchet MS"/>
              </a:rPr>
              <a:t>22/03/2022</a:t>
            </a:r>
          </a:p>
        </p:txBody>
      </p:sp>
      <p:sp>
        <p:nvSpPr>
          <p:cNvPr name="TextBox 11" id="11"/>
          <p:cNvSpPr txBox="true"/>
          <p:nvPr/>
        </p:nvSpPr>
        <p:spPr>
          <a:xfrm rot="0">
            <a:off x="685800" y="2340102"/>
            <a:ext cx="16824960" cy="514350"/>
          </a:xfrm>
          <a:prstGeom prst="rect">
            <a:avLst/>
          </a:prstGeom>
        </p:spPr>
        <p:txBody>
          <a:bodyPr anchor="t" rtlCol="false" tIns="0" lIns="0" bIns="0" rIns="0">
            <a:spAutoFit/>
          </a:bodyPr>
          <a:lstStyle/>
          <a:p>
            <a:pPr algn="l">
              <a:lnSpc>
                <a:spcPts val="3960"/>
              </a:lnSpc>
            </a:pPr>
            <a:r>
              <a:rPr lang="en-US" sz="3300" b="true">
                <a:solidFill>
                  <a:srgbClr val="000000"/>
                </a:solidFill>
                <a:latin typeface="Times New Roman Bold"/>
                <a:ea typeface="Times New Roman Bold"/>
                <a:cs typeface="Times New Roman Bold"/>
                <a:sym typeface="Times New Roman Bold"/>
              </a:rPr>
              <a:t>12. Bibliografía y herramientas</a:t>
            </a:r>
            <a:r>
              <a:rPr lang="en-US" sz="3300" b="true">
                <a:solidFill>
                  <a:srgbClr val="000000"/>
                </a:solidFill>
                <a:latin typeface="Times New Roman Bold"/>
                <a:ea typeface="Times New Roman Bold"/>
                <a:cs typeface="Times New Roman Bold"/>
                <a:sym typeface="Times New Roman Bold"/>
              </a:rPr>
              <a:t/>
            </a:r>
          </a:p>
        </p:txBody>
      </p:sp>
      <p:sp>
        <p:nvSpPr>
          <p:cNvPr name="TextBox 12" id="12"/>
          <p:cNvSpPr txBox="true"/>
          <p:nvPr/>
        </p:nvSpPr>
        <p:spPr>
          <a:xfrm rot="0">
            <a:off x="16687800" y="9161907"/>
            <a:ext cx="731520" cy="366141"/>
          </a:xfrm>
          <a:prstGeom prst="rect">
            <a:avLst/>
          </a:prstGeom>
        </p:spPr>
        <p:txBody>
          <a:bodyPr anchor="t" rtlCol="false" tIns="0" lIns="0" bIns="0" rIns="0">
            <a:spAutoFit/>
          </a:bodyPr>
          <a:lstStyle/>
          <a:p>
            <a:pPr algn="r">
              <a:lnSpc>
                <a:spcPts val="2400"/>
              </a:lnSpc>
            </a:pPr>
            <a:r>
              <a:rPr lang="en-US" sz="2000">
                <a:solidFill>
                  <a:srgbClr val="000000"/>
                </a:solidFill>
                <a:latin typeface="Open Sans"/>
                <a:ea typeface="Open Sans"/>
                <a:cs typeface="Open Sans"/>
                <a:sym typeface="Open Sans"/>
              </a:rPr>
              <a:t>41</a:t>
            </a:r>
          </a:p>
        </p:txBody>
      </p:sp>
      <p:grpSp>
        <p:nvGrpSpPr>
          <p:cNvPr name="Group 38" id="38"/>
          <p:cNvGrpSpPr/>
          <p:nvPr/>
        </p:nvGrpSpPr>
        <p:grpSpPr>
          <a:xfrm rot="0">
            <a:off x="552793" y="430473"/>
            <a:ext cx="8591207" cy="1706445"/>
            <a:chOff x="0" y="0"/>
            <a:chExt cx="9608110" cy="1908429"/>
          </a:xfrm>
        </p:grpSpPr>
        <p:sp>
          <p:nvSpPr>
            <p:cNvPr name="Freeform 39" id="39"/>
            <p:cNvSpPr/>
            <p:nvPr/>
          </p:nvSpPr>
          <p:spPr>
            <a:xfrm flipH="false" flipV="false" rot="0">
              <a:off x="0" y="0"/>
              <a:ext cx="9608110" cy="1908429"/>
            </a:xfrm>
            <a:custGeom>
              <a:avLst/>
              <a:gdLst/>
              <a:ahLst/>
              <a:cxnLst/>
              <a:rect r="r" b="b" t="t" l="l"/>
              <a:pathLst>
                <a:path h="1908429" w="9608110">
                  <a:moveTo>
                    <a:pt x="0" y="0"/>
                  </a:moveTo>
                  <a:lnTo>
                    <a:pt x="9608110" y="0"/>
                  </a:lnTo>
                  <a:lnTo>
                    <a:pt x="9608110" y="1908429"/>
                  </a:lnTo>
                  <a:lnTo>
                    <a:pt x="0" y="1908429"/>
                  </a:lnTo>
                  <a:lnTo>
                    <a:pt x="0" y="0"/>
                  </a:lnTo>
                  <a:close/>
                </a:path>
              </a:pathLst>
            </a:custGeom>
            <a:blipFill>
              <a:blip r:embed="rId5"/>
              <a:stretch>
                <a:fillRect l="-2540" t="-11394" r="-807" b="-105569"/>
              </a:stretch>
            </a:blipFill>
          </p:spPr>
        </p:sp>
      </p:grpSp>
      <p:sp>
        <p:nvSpPr>
          <p:cNvPr id="40" name="Rounded Rectangle 39"/>
          <p:cNvSpPr/>
          <p:nvPr/>
        </p:nvSpPr>
        <p:spPr>
          <a:xfrm>
            <a:off x="685800" y="3063240"/>
            <a:ext cx="10424160" cy="614855"/>
          </a:xfrm>
          <a:prstGeom prst="roundRect">
            <a:avLst>
              <a:gd name="adj" fmla="val 12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3063240"/>
            <a:ext cx="10424160" cy="614855"/>
          </a:xfrm>
          <a:prstGeom prst="rect">
            <a:avLst/>
          </a:prstGeom>
          <a:noFill/>
        </p:spPr>
        <p:txBody>
          <a:bodyPr wrap="square" anchor="ctr" lIns="45720" rIns="45720">
            <a:spAutoFit/>
          </a:bodyPr>
          <a:lstStyle/>
          <a:p>
            <a:pPr algn="ctr">
              <a:spcAft>
                <a:spcPts val="0"/>
              </a:spcAft>
            </a:pPr>
            <a:r>
              <a:rPr sz="2600" b="0" i="0">
                <a:solidFill>
                  <a:srgbClr val="FFFFFF"/>
                </a:solidFill>
                <a:latin typeface="Times New Roman"/>
              </a:rPr>
              <a:t>Referencias</a:t>
            </a:r>
          </a:p>
        </p:txBody>
      </p:sp>
      <p:sp>
        <p:nvSpPr>
          <p:cNvPr id="42" name="Rounded Rectangle 41"/>
          <p:cNvSpPr/>
          <p:nvPr/>
        </p:nvSpPr>
        <p:spPr>
          <a:xfrm>
            <a:off x="685800" y="3801066"/>
            <a:ext cx="10424160" cy="5205773"/>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3924037"/>
            <a:ext cx="10058400" cy="4959831"/>
          </a:xfrm>
          <a:prstGeom prst="rect">
            <a:avLst/>
          </a:prstGeom>
          <a:noFill/>
        </p:spPr>
        <p:txBody>
          <a:bodyPr wrap="square" anchor="t" lIns="45720" rIns="45720">
            <a:spAutoFit/>
          </a:bodyPr>
          <a:lstStyle/>
          <a:p>
            <a:pPr algn="l" marL="256032" indent="-219456">
              <a:spcAft>
                <a:spcPts val="500"/>
              </a:spcAft>
              <a:buChar char="•"/>
            </a:pPr>
            <a:r>
              <a:rPr sz="2000" b="0" i="0">
                <a:solidFill>
                  <a:srgbClr val="1E1E1E"/>
                </a:solidFill>
                <a:latin typeface="Times New Roman"/>
              </a:rPr>
              <a:t>Bass, L., Clements, P., y Kazman, R. (2021). Software architecture in practice (4.ª ed.). Addison-Wesley.</a:t>
            </a:r>
          </a:p>
          <a:p>
            <a:pPr algn="l" marL="256032" indent="-219456">
              <a:spcAft>
                <a:spcPts val="500"/>
              </a:spcAft>
              <a:buChar char="•"/>
            </a:pPr>
            <a:r>
              <a:rPr sz="2000" b="0" i="0">
                <a:solidFill>
                  <a:srgbClr val="1E1E1E"/>
                </a:solidFill>
                <a:latin typeface="Times New Roman"/>
              </a:rPr>
              <a:t>Brown, S. (2018). The C4 model for software architecture. https://c4model.com</a:t>
            </a:r>
          </a:p>
          <a:p>
            <a:pPr algn="l" marL="256032" indent="-219456">
              <a:spcAft>
                <a:spcPts val="500"/>
              </a:spcAft>
              <a:buChar char="•"/>
            </a:pPr>
            <a:r>
              <a:rPr sz="2000" b="0" i="0">
                <a:solidFill>
                  <a:srgbClr val="1E1E1E"/>
                </a:solidFill>
                <a:latin typeface="Times New Roman"/>
              </a:rPr>
              <a:t>Fowler, M. (2002). Patterns of enterprise application architecture. Addison-Wesley.</a:t>
            </a:r>
          </a:p>
          <a:p>
            <a:pPr algn="l" marL="256032" indent="-219456">
              <a:spcAft>
                <a:spcPts val="500"/>
              </a:spcAft>
              <a:buChar char="•"/>
            </a:pPr>
            <a:r>
              <a:rPr sz="2000" b="0" i="0">
                <a:solidFill>
                  <a:srgbClr val="1E1E1E"/>
                </a:solidFill>
                <a:latin typeface="Times New Roman"/>
              </a:rPr>
              <a:t>Gamma, E., Helm, R., Johnson, R., y Vlissides, J. (1995). Design patterns. Addison-Wesley.</a:t>
            </a:r>
          </a:p>
          <a:p>
            <a:pPr algn="l" marL="256032" indent="-219456">
              <a:spcAft>
                <a:spcPts val="500"/>
              </a:spcAft>
              <a:buChar char="•"/>
            </a:pPr>
            <a:r>
              <a:rPr sz="2000" b="0" i="0">
                <a:solidFill>
                  <a:srgbClr val="1E1E1E"/>
                </a:solidFill>
                <a:latin typeface="Times New Roman"/>
              </a:rPr>
              <a:t>Microsoft. (s. f.). Transactional outbox pattern; Microsoft Entra authentication with Azure SQL. Microsoft Learn.</a:t>
            </a:r>
          </a:p>
          <a:p>
            <a:pPr algn="l" marL="256032" indent="-219456">
              <a:spcAft>
                <a:spcPts val="500"/>
              </a:spcAft>
              <a:buChar char="•"/>
            </a:pPr>
            <a:r>
              <a:rPr sz="2000" b="0" i="0">
                <a:solidFill>
                  <a:srgbClr val="1E1E1E"/>
                </a:solidFill>
                <a:latin typeface="Times New Roman"/>
              </a:rPr>
              <a:t>Sakimura, N., Bradley, J., y Agarwal, N. (2015). Proof Key for Code Exchange (RFC 7636). IETF.</a:t>
            </a:r>
          </a:p>
          <a:p>
            <a:pPr algn="l" marL="256032" indent="-219456">
              <a:spcAft>
                <a:spcPts val="500"/>
              </a:spcAft>
              <a:buChar char="•"/>
            </a:pPr>
            <a:r>
              <a:rPr sz="2000" b="0" i="0">
                <a:solidFill>
                  <a:srgbClr val="1E1E1E"/>
                </a:solidFill>
                <a:latin typeface="Times New Roman"/>
              </a:rPr>
              <a:t>Antecedentes: Malquichagua Chu (2022); Adriazola y Kjuro (2024); Galarza Arias (2021); Cevallos Suárez (2026).</a:t>
            </a:r>
          </a:p>
        </p:txBody>
      </p:sp>
      <p:sp>
        <p:nvSpPr>
          <p:cNvPr id="44" name="Rounded Rectangle 43"/>
          <p:cNvSpPr/>
          <p:nvPr/>
        </p:nvSpPr>
        <p:spPr>
          <a:xfrm>
            <a:off x="11475720" y="3063240"/>
            <a:ext cx="6126480" cy="614855"/>
          </a:xfrm>
          <a:prstGeom prst="roundRect">
            <a:avLst>
              <a:gd name="adj" fmla="val 12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475720" y="3063240"/>
            <a:ext cx="6126480" cy="614855"/>
          </a:xfrm>
          <a:prstGeom prst="rect">
            <a:avLst/>
          </a:prstGeom>
          <a:noFill/>
        </p:spPr>
        <p:txBody>
          <a:bodyPr wrap="square" anchor="ctr" lIns="45720" rIns="45720">
            <a:spAutoFit/>
          </a:bodyPr>
          <a:lstStyle/>
          <a:p>
            <a:pPr algn="ctr">
              <a:spcAft>
                <a:spcPts val="0"/>
              </a:spcAft>
            </a:pPr>
            <a:r>
              <a:rPr sz="2600" b="0" i="0">
                <a:solidFill>
                  <a:srgbClr val="FFFFFF"/>
                </a:solidFill>
                <a:latin typeface="Times New Roman"/>
              </a:rPr>
              <a:t>Herramientas</a:t>
            </a:r>
          </a:p>
        </p:txBody>
      </p:sp>
      <p:sp>
        <p:nvSpPr>
          <p:cNvPr id="46" name="Rounded Rectangle 45"/>
          <p:cNvSpPr/>
          <p:nvPr/>
        </p:nvSpPr>
        <p:spPr>
          <a:xfrm>
            <a:off x="11475720" y="3801066"/>
            <a:ext cx="2999232" cy="75422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475720" y="3801066"/>
            <a:ext cx="2999232" cy="754222"/>
          </a:xfrm>
          <a:prstGeom prst="rect">
            <a:avLst/>
          </a:prstGeom>
          <a:noFill/>
        </p:spPr>
        <p:txBody>
          <a:bodyPr wrap="square" anchor="ctr" lIns="45720" rIns="45720">
            <a:spAutoFit/>
          </a:bodyPr>
          <a:lstStyle/>
          <a:p>
            <a:pPr algn="ctr">
              <a:spcAft>
                <a:spcPts val="0"/>
              </a:spcAft>
            </a:pPr>
            <a:r>
              <a:rPr sz="2100" b="0" i="0">
                <a:solidFill>
                  <a:srgbClr val="1A56B0"/>
                </a:solidFill>
                <a:latin typeface="Times New Roman"/>
              </a:rPr>
              <a:t>React + Vite</a:t>
            </a:r>
          </a:p>
        </p:txBody>
      </p:sp>
      <p:sp>
        <p:nvSpPr>
          <p:cNvPr id="48" name="Rounded Rectangle 47"/>
          <p:cNvSpPr/>
          <p:nvPr/>
        </p:nvSpPr>
        <p:spPr>
          <a:xfrm>
            <a:off x="14602968" y="3801066"/>
            <a:ext cx="2999232" cy="75422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602968" y="3801066"/>
            <a:ext cx="2999232" cy="754222"/>
          </a:xfrm>
          <a:prstGeom prst="rect">
            <a:avLst/>
          </a:prstGeom>
          <a:noFill/>
        </p:spPr>
        <p:txBody>
          <a:bodyPr wrap="square" anchor="ctr" lIns="45720" rIns="45720">
            <a:spAutoFit/>
          </a:bodyPr>
          <a:lstStyle/>
          <a:p>
            <a:pPr algn="ctr">
              <a:spcAft>
                <a:spcPts val="0"/>
              </a:spcAft>
            </a:pPr>
            <a:r>
              <a:rPr sz="2100" b="0" i="0">
                <a:solidFill>
                  <a:srgbClr val="1A56B0"/>
                </a:solidFill>
                <a:latin typeface="Times New Roman"/>
              </a:rPr>
              <a:t>TypeScript</a:t>
            </a:r>
          </a:p>
        </p:txBody>
      </p:sp>
      <p:sp>
        <p:nvSpPr>
          <p:cNvPr id="50" name="Rounded Rectangle 49"/>
          <p:cNvSpPr/>
          <p:nvPr/>
        </p:nvSpPr>
        <p:spPr>
          <a:xfrm>
            <a:off x="11475720" y="4678259"/>
            <a:ext cx="2999232" cy="75422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475720" y="4678259"/>
            <a:ext cx="2999232" cy="754222"/>
          </a:xfrm>
          <a:prstGeom prst="rect">
            <a:avLst/>
          </a:prstGeom>
          <a:noFill/>
        </p:spPr>
        <p:txBody>
          <a:bodyPr wrap="square" anchor="ctr" lIns="45720" rIns="45720">
            <a:spAutoFit/>
          </a:bodyPr>
          <a:lstStyle/>
          <a:p>
            <a:pPr algn="ctr">
              <a:spcAft>
                <a:spcPts val="0"/>
              </a:spcAft>
            </a:pPr>
            <a:r>
              <a:rPr sz="2100" b="0" i="0">
                <a:solidFill>
                  <a:srgbClr val="1A56B0"/>
                </a:solidFill>
                <a:latin typeface="Times New Roman"/>
              </a:rPr>
              <a:t>Node.js + Express</a:t>
            </a:r>
          </a:p>
        </p:txBody>
      </p:sp>
      <p:sp>
        <p:nvSpPr>
          <p:cNvPr id="52" name="Rounded Rectangle 51"/>
          <p:cNvSpPr/>
          <p:nvPr/>
        </p:nvSpPr>
        <p:spPr>
          <a:xfrm>
            <a:off x="14602968" y="4678259"/>
            <a:ext cx="2999232" cy="75422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4602968" y="4678259"/>
            <a:ext cx="2999232" cy="754222"/>
          </a:xfrm>
          <a:prstGeom prst="rect">
            <a:avLst/>
          </a:prstGeom>
          <a:noFill/>
        </p:spPr>
        <p:txBody>
          <a:bodyPr wrap="square" anchor="ctr" lIns="45720" rIns="45720">
            <a:spAutoFit/>
          </a:bodyPr>
          <a:lstStyle/>
          <a:p>
            <a:pPr algn="ctr">
              <a:spcAft>
                <a:spcPts val="0"/>
              </a:spcAft>
            </a:pPr>
            <a:r>
              <a:rPr sz="2100" b="0" i="0">
                <a:solidFill>
                  <a:srgbClr val="1A56B0"/>
                </a:solidFill>
                <a:latin typeface="Times New Roman"/>
              </a:rPr>
              <a:t>node-mssql</a:t>
            </a:r>
          </a:p>
        </p:txBody>
      </p:sp>
      <p:sp>
        <p:nvSpPr>
          <p:cNvPr id="54" name="Rounded Rectangle 53"/>
          <p:cNvSpPr/>
          <p:nvPr/>
        </p:nvSpPr>
        <p:spPr>
          <a:xfrm>
            <a:off x="11475720" y="5555452"/>
            <a:ext cx="2999232" cy="75422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475720" y="5555452"/>
            <a:ext cx="2999232" cy="754222"/>
          </a:xfrm>
          <a:prstGeom prst="rect">
            <a:avLst/>
          </a:prstGeom>
          <a:noFill/>
        </p:spPr>
        <p:txBody>
          <a:bodyPr wrap="square" anchor="ctr" lIns="45720" rIns="45720">
            <a:spAutoFit/>
          </a:bodyPr>
          <a:lstStyle/>
          <a:p>
            <a:pPr algn="ctr">
              <a:spcAft>
                <a:spcPts val="0"/>
              </a:spcAft>
            </a:pPr>
            <a:r>
              <a:rPr sz="2100" b="0" i="0">
                <a:solidFill>
                  <a:srgbClr val="1A56B0"/>
                </a:solidFill>
                <a:latin typeface="Times New Roman"/>
              </a:rPr>
              <a:t>SQL Server / SSMS</a:t>
            </a:r>
          </a:p>
        </p:txBody>
      </p:sp>
      <p:sp>
        <p:nvSpPr>
          <p:cNvPr id="56" name="Rounded Rectangle 55"/>
          <p:cNvSpPr/>
          <p:nvPr/>
        </p:nvSpPr>
        <p:spPr>
          <a:xfrm>
            <a:off x="14602968" y="5555452"/>
            <a:ext cx="2999232" cy="75422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4602968" y="5555452"/>
            <a:ext cx="2999232" cy="754222"/>
          </a:xfrm>
          <a:prstGeom prst="rect">
            <a:avLst/>
          </a:prstGeom>
          <a:noFill/>
        </p:spPr>
        <p:txBody>
          <a:bodyPr wrap="square" anchor="ctr" lIns="45720" rIns="45720">
            <a:spAutoFit/>
          </a:bodyPr>
          <a:lstStyle/>
          <a:p>
            <a:pPr algn="ctr">
              <a:spcAft>
                <a:spcPts val="0"/>
              </a:spcAft>
            </a:pPr>
            <a:r>
              <a:rPr sz="2100" b="0" i="0">
                <a:solidFill>
                  <a:srgbClr val="1A56B0"/>
                </a:solidFill>
                <a:latin typeface="Times New Roman"/>
              </a:rPr>
              <a:t>Microsoft Entra ID</a:t>
            </a:r>
          </a:p>
        </p:txBody>
      </p:sp>
      <p:sp>
        <p:nvSpPr>
          <p:cNvPr id="58" name="Rounded Rectangle 57"/>
          <p:cNvSpPr/>
          <p:nvPr/>
        </p:nvSpPr>
        <p:spPr>
          <a:xfrm>
            <a:off x="11475720" y="6432646"/>
            <a:ext cx="2999232" cy="75422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475720" y="6432646"/>
            <a:ext cx="2999232" cy="754222"/>
          </a:xfrm>
          <a:prstGeom prst="rect">
            <a:avLst/>
          </a:prstGeom>
          <a:noFill/>
        </p:spPr>
        <p:txBody>
          <a:bodyPr wrap="square" anchor="ctr" lIns="45720" rIns="45720">
            <a:spAutoFit/>
          </a:bodyPr>
          <a:lstStyle/>
          <a:p>
            <a:pPr algn="ctr">
              <a:spcAft>
                <a:spcPts val="0"/>
              </a:spcAft>
            </a:pPr>
            <a:r>
              <a:rPr sz="2100" b="0" i="0">
                <a:solidFill>
                  <a:srgbClr val="1A56B0"/>
                </a:solidFill>
                <a:latin typeface="Times New Roman"/>
              </a:rPr>
              <a:t>Zod</a:t>
            </a:r>
          </a:p>
        </p:txBody>
      </p:sp>
      <p:sp>
        <p:nvSpPr>
          <p:cNvPr id="60" name="Rounded Rectangle 59"/>
          <p:cNvSpPr/>
          <p:nvPr/>
        </p:nvSpPr>
        <p:spPr>
          <a:xfrm>
            <a:off x="14602968" y="6432646"/>
            <a:ext cx="2999232" cy="75422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4602968" y="6432646"/>
            <a:ext cx="2999232" cy="754222"/>
          </a:xfrm>
          <a:prstGeom prst="rect">
            <a:avLst/>
          </a:prstGeom>
          <a:noFill/>
        </p:spPr>
        <p:txBody>
          <a:bodyPr wrap="square" anchor="ctr" lIns="45720" rIns="45720">
            <a:spAutoFit/>
          </a:bodyPr>
          <a:lstStyle/>
          <a:p>
            <a:pPr algn="ctr">
              <a:spcAft>
                <a:spcPts val="0"/>
              </a:spcAft>
            </a:pPr>
            <a:r>
              <a:rPr sz="2100" b="0" i="0">
                <a:solidFill>
                  <a:srgbClr val="1A56B0"/>
                </a:solidFill>
                <a:latin typeface="Times New Roman"/>
              </a:rPr>
              <a:t>PDFKit + ExcelJS</a:t>
            </a:r>
          </a:p>
        </p:txBody>
      </p:sp>
      <p:sp>
        <p:nvSpPr>
          <p:cNvPr id="62" name="Rounded Rectangle 61"/>
          <p:cNvSpPr/>
          <p:nvPr/>
        </p:nvSpPr>
        <p:spPr>
          <a:xfrm>
            <a:off x="11475720" y="7309839"/>
            <a:ext cx="2999232" cy="75422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475720" y="7309839"/>
            <a:ext cx="2999232" cy="754222"/>
          </a:xfrm>
          <a:prstGeom prst="rect">
            <a:avLst/>
          </a:prstGeom>
          <a:noFill/>
        </p:spPr>
        <p:txBody>
          <a:bodyPr wrap="square" anchor="ctr" lIns="45720" rIns="45720">
            <a:spAutoFit/>
          </a:bodyPr>
          <a:lstStyle/>
          <a:p>
            <a:pPr algn="ctr">
              <a:spcAft>
                <a:spcPts val="0"/>
              </a:spcAft>
            </a:pPr>
            <a:r>
              <a:rPr sz="2100" b="0" i="0">
                <a:solidFill>
                  <a:srgbClr val="1A56B0"/>
                </a:solidFill>
                <a:latin typeface="Times New Roman"/>
              </a:rPr>
              <a:t>Playwright + axe</a:t>
            </a:r>
          </a:p>
        </p:txBody>
      </p:sp>
      <p:sp>
        <p:nvSpPr>
          <p:cNvPr id="64" name="Rounded Rectangle 63"/>
          <p:cNvSpPr/>
          <p:nvPr/>
        </p:nvSpPr>
        <p:spPr>
          <a:xfrm>
            <a:off x="14602968" y="7309839"/>
            <a:ext cx="2999232" cy="75422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4602968" y="7309839"/>
            <a:ext cx="2999232" cy="754222"/>
          </a:xfrm>
          <a:prstGeom prst="rect">
            <a:avLst/>
          </a:prstGeom>
          <a:noFill/>
        </p:spPr>
        <p:txBody>
          <a:bodyPr wrap="square" anchor="ctr" lIns="45720" rIns="45720">
            <a:spAutoFit/>
          </a:bodyPr>
          <a:lstStyle/>
          <a:p>
            <a:pPr algn="ctr">
              <a:spcAft>
                <a:spcPts val="0"/>
              </a:spcAft>
            </a:pPr>
            <a:r>
              <a:rPr sz="2100" b="0" i="0">
                <a:solidFill>
                  <a:srgbClr val="1A56B0"/>
                </a:solidFill>
                <a:latin typeface="Times New Roman"/>
              </a:rPr>
              <a:t>Docker + GitHub Actions</a:t>
            </a:r>
          </a:p>
        </p:txBody>
      </p:sp>
      <p:sp>
        <p:nvSpPr>
          <p:cNvPr id="66" name="Rounded Rectangle 65"/>
          <p:cNvSpPr/>
          <p:nvPr/>
        </p:nvSpPr>
        <p:spPr>
          <a:xfrm>
            <a:off x="11475720" y="8187033"/>
            <a:ext cx="2999232" cy="75422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475720" y="8187033"/>
            <a:ext cx="2999232" cy="754222"/>
          </a:xfrm>
          <a:prstGeom prst="rect">
            <a:avLst/>
          </a:prstGeom>
          <a:noFill/>
        </p:spPr>
        <p:txBody>
          <a:bodyPr wrap="square" anchor="ctr" lIns="45720" rIns="45720">
            <a:spAutoFit/>
          </a:bodyPr>
          <a:lstStyle/>
          <a:p>
            <a:pPr algn="ctr">
              <a:spcAft>
                <a:spcPts val="0"/>
              </a:spcAft>
            </a:pPr>
            <a:r>
              <a:rPr sz="2100" b="0" i="0">
                <a:solidFill>
                  <a:srgbClr val="1A56B0"/>
                </a:solidFill>
                <a:latin typeface="Times New Roman"/>
              </a:rPr>
              <a:t>draw.io</a:t>
            </a:r>
          </a:p>
        </p:txBody>
      </p:sp>
      <p:sp>
        <p:nvSpPr>
          <p:cNvPr id="68" name="Rounded Rectangle 67"/>
          <p:cNvSpPr/>
          <p:nvPr/>
        </p:nvSpPr>
        <p:spPr>
          <a:xfrm>
            <a:off x="14602968" y="8187033"/>
            <a:ext cx="2999232" cy="754222"/>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4602968" y="8187033"/>
            <a:ext cx="2999232" cy="754222"/>
          </a:xfrm>
          <a:prstGeom prst="rect">
            <a:avLst/>
          </a:prstGeom>
          <a:noFill/>
        </p:spPr>
        <p:txBody>
          <a:bodyPr wrap="square" anchor="ctr" lIns="45720" rIns="45720">
            <a:spAutoFit/>
          </a:bodyPr>
          <a:lstStyle/>
          <a:p>
            <a:pPr algn="ctr">
              <a:spcAft>
                <a:spcPts val="0"/>
              </a:spcAft>
            </a:pPr>
            <a:r>
              <a:rPr sz="2100" b="0" i="0">
                <a:solidFill>
                  <a:srgbClr val="1A56B0"/>
                </a:solidFill>
                <a:latin typeface="Times New Roman"/>
              </a:rPr>
              <a:t>Figma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DAHYD5fpA0Y</dc:identifier>
  <dcterms:modified xsi:type="dcterms:W3CDTF">2011-08-01T06:04:30Z</dcterms:modified>
  <cp:revision>1</cp:revision>
  <dc:title>Exposición_Avance2_Jorge_Motors</dc:title>
</cp:coreProperties>
</file>